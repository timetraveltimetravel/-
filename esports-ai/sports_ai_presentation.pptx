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eb555ab-8f4c-b4ee-e18d-101e864f2917}">
          <p14:sldIdLst>
            <p14:sldId id="256"/>
            <p14:sldId id="257"/>
            <p14:sldId id="258"/>
          </p14:sldIdLst>
        </p14:section>
        <p14:section name="핵심" id="{40486ce5-b864-c305-bf26-37633a39d913}">
          <p14:sldIdLst>
            <p14:sldId id="259"/>
            <p14:sldId id="260"/>
          </p14:sldIdLst>
        </p14:section>
        <p14:section name="결론" id="{ec1fd861-5fe0-6944-21ab-564e204fa577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2학년 ○반 ○○○입니다.
제 주제는 e스포츠와 AI를 연결한 "왜 스포츠는 AI가 대체하지 못할까?"입니다.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요즘 AI가 개발자, 변호사, 의사 같은 선망받는 직업까지 대체할 수 있다는 이야기가 많습니다.
스포츠 중에서 AI에게 가장 먼저 진 종목은 바둑입니다. 2016년 알파고가 이세돌 9단을 4대 1로 이겼고, 많은 사람이 "바둑은 끝났다"고 했습니다.
그런데 10년이 지난 지금, 의외로 큰 변화는 없었습니다. 프로 기사와 대회는 그대로 있고, 바뀐 것은 AI로 훈련하는 방법뿐입니다.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사실 기계가 사람을 이긴 것은 오래된 일입니다. 자동차는 볼트보다 빠르고, 지게차는 역도 선수보다 무거운 것을 듭니다.
e스포츠에서도 2019년에 AI가 프로 팀을 이겼습니다. 하지만 2024년 롤드컵 결승은 약 690만 명이 동시에 봤습니다.
기계가 더 잘해도, 우리는 여전히 사람의 경기를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그러면 왜 직업은 대체될 수 있는데, 스포츠는 그렇지 않을까요?
직업에서 우리는 '결과'를 삽니다. 환자는 정확한 진단을, 회사는 좋은 코드를 원합니다. 누가 했는지보다 결과가 중요하니까, 더 잘하는 AI가 있으면 AI를 씁니다.
하지만 스포츠에서 우리는 '과정'을 봅니다. 관중은 사람이 무언가를 해내는 순간을 보고 싶어 합니다. AI가 하면 그 의미가 사라집니다.
즉, 스포츠는 '가장 잘하는 것'을 원하지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스포츠가 AI로 대체되지 않는 이유는 세 가지입니다.
첫째, 한계에 도전하는 모습입니다. 나와 같은 몸을 가진 사람이 해내기 때문에 우리는 감동합니다.
둘째, 실수와 드라마입니다. 절대 실수하지 않는 AI의 경기에는 긴장감이 없습니다. 역전승은 실수할 수 있는 사람에게만 있습니다.
셋째, 응원과 참여입니다. 우리는 좋아하는 선수를 함께 응원하고, AI가 축구를 더 잘해도 점심시간에 직접 축구를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정리하겠습니다. AI는 사람보다 더 잘할 수 있습니다. 하지만 스포츠는 '더 잘하는 것'이 아니라 '사람이 해내는 것'을 봅니다.
그래서 스포츠에서 AI의 자리는 선수가 아니라, 알파고 이후의 바둑처럼 사람을 더 강하게 만드는 코치입니다.
들어 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120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5120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e스포츠 × AI  |  체육2 프로젝트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왜 스포츠는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AI가 대체하지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못할까?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e스포츠 × AI</a:t>
            </a:r>
            <a:endParaRPr lang="en-US" sz="1800" dirty="0"/>
          </a:p>
        </p:txBody>
      </p:sp>
      <p:sp>
        <p:nvSpPr>
          <p:cNvPr id="4" name="presenter"/>
          <p:cNvSpPr txBox="1"/>
          <p:nvPr/>
        </p:nvSpPr>
        <p:spPr>
          <a:xfrm>
            <a:off x="54864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2학년 체육2 프로젝트 발표   |   2학년 ○반 ○번 ○○○</a:t>
            </a:r>
            <a:endParaRPr lang="en-US" sz="1300" dirty="0"/>
          </a:p>
        </p:txBody>
      </p:sp>
      <p:sp>
        <p:nvSpPr>
          <p:cNvPr id="5" name="hero circle 1"/>
          <p:cNvSpPr/>
          <p:nvPr/>
        </p:nvSpPr>
        <p:spPr>
          <a:xfrm>
            <a:off x="5806440" y="822960"/>
            <a:ext cx="2377440" cy="23774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runner icon" descr="달리는 사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371600"/>
            <a:ext cx="1280160" cy="1280160"/>
          </a:xfrm>
          <a:prstGeom prst="rect">
            <a:avLst/>
          </a:prstGeom>
        </p:spPr>
      </p:pic>
      <p:sp>
        <p:nvSpPr>
          <p:cNvPr id="7" name="hero circle 2"/>
          <p:cNvSpPr/>
          <p:nvPr/>
        </p:nvSpPr>
        <p:spPr>
          <a:xfrm>
            <a:off x="7086600" y="2423160"/>
            <a:ext cx="1600200" cy="1600200"/>
          </a:xfrm>
          <a:prstGeom prst="ellipse">
            <a:avLst/>
          </a:prstGeom>
          <a:solidFill>
            <a:schemeClr val="accent2"/>
          </a:solidFill>
          <a:ln w="50800">
            <a:solidFill>
              <a:srgbClr val="0C0A1D"/>
            </a:solidFill>
            <a:prstDash val="solid"/>
          </a:ln>
        </p:spPr>
      </p:sp>
      <p:pic>
        <p:nvPicPr>
          <p:cNvPr id="8" name="robot icon" descr="인공지능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48" y="2807208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AI가 직업을 대체한다는데, 바둑은?</a:t>
            </a:r>
            <a:endParaRPr lang="en-US" sz="3000" dirty="0"/>
          </a:p>
        </p:txBody>
      </p:sp>
      <p:sp>
        <p:nvSpPr>
          <p:cNvPr id="3" name="jobs card"/>
          <p:cNvSpPr/>
          <p:nvPr/>
        </p:nvSpPr>
        <p:spPr>
          <a:xfrm>
            <a:off x="457200" y="1143000"/>
            <a:ext cx="397764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jobs head"/>
          <p:cNvSpPr txBox="1"/>
          <p:nvPr/>
        </p:nvSpPr>
        <p:spPr>
          <a:xfrm>
            <a:off x="68580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AI가 대체한다는 직업</a:t>
            </a:r>
            <a:endParaRPr lang="en-US" sz="1500" dirty="0"/>
          </a:p>
        </p:txBody>
      </p:sp>
      <p:sp>
        <p:nvSpPr>
          <p:cNvPr id="5" name="job 1 circle"/>
          <p:cNvSpPr/>
          <p:nvPr/>
        </p:nvSpPr>
        <p:spPr>
          <a:xfrm>
            <a:off x="868680" y="1874520"/>
            <a:ext cx="685800" cy="6858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6" name="job 1 icon" descr="job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045970"/>
            <a:ext cx="342900" cy="342900"/>
          </a:xfrm>
          <a:prstGeom prst="rect">
            <a:avLst/>
          </a:prstGeom>
        </p:spPr>
      </p:pic>
      <p:sp>
        <p:nvSpPr>
          <p:cNvPr id="7" name="job label 1"/>
          <p:cNvSpPr txBox="1"/>
          <p:nvPr/>
        </p:nvSpPr>
        <p:spPr>
          <a:xfrm>
            <a:off x="685800" y="265176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개발자</a:t>
            </a:r>
            <a:endParaRPr lang="en-US" sz="1400" dirty="0"/>
          </a:p>
        </p:txBody>
      </p:sp>
      <p:sp>
        <p:nvSpPr>
          <p:cNvPr id="8" name="job 2 circle"/>
          <p:cNvSpPr/>
          <p:nvPr/>
        </p:nvSpPr>
        <p:spPr>
          <a:xfrm>
            <a:off x="2057400" y="1874520"/>
            <a:ext cx="685800" cy="6858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9" name="job 2 icon" descr="job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50" y="2045970"/>
            <a:ext cx="342900" cy="342900"/>
          </a:xfrm>
          <a:prstGeom prst="rect">
            <a:avLst/>
          </a:prstGeom>
        </p:spPr>
      </p:pic>
      <p:sp>
        <p:nvSpPr>
          <p:cNvPr id="10" name="job label 2"/>
          <p:cNvSpPr txBox="1"/>
          <p:nvPr/>
        </p:nvSpPr>
        <p:spPr>
          <a:xfrm>
            <a:off x="1874520" y="265176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변호사</a:t>
            </a:r>
            <a:endParaRPr lang="en-US" sz="1400" dirty="0"/>
          </a:p>
        </p:txBody>
      </p:sp>
      <p:sp>
        <p:nvSpPr>
          <p:cNvPr id="11" name="job 3 circle"/>
          <p:cNvSpPr/>
          <p:nvPr/>
        </p:nvSpPr>
        <p:spPr>
          <a:xfrm>
            <a:off x="3246120" y="1874520"/>
            <a:ext cx="685800" cy="6858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job 3 icon" descr="job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7570" y="2045970"/>
            <a:ext cx="342900" cy="342900"/>
          </a:xfrm>
          <a:prstGeom prst="rect">
            <a:avLst/>
          </a:prstGeom>
        </p:spPr>
      </p:pic>
      <p:sp>
        <p:nvSpPr>
          <p:cNvPr id="13" name="job label 3"/>
          <p:cNvSpPr txBox="1"/>
          <p:nvPr/>
        </p:nvSpPr>
        <p:spPr>
          <a:xfrm>
            <a:off x="3063240" y="265176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의사</a:t>
            </a:r>
            <a:endParaRPr lang="en-US" sz="1400" dirty="0"/>
          </a:p>
        </p:txBody>
      </p:sp>
      <p:sp>
        <p:nvSpPr>
          <p:cNvPr id="14" name="jobs desc"/>
          <p:cNvSpPr txBox="1"/>
          <p:nvPr/>
        </p:nvSpPr>
        <p:spPr>
          <a:xfrm>
            <a:off x="685800" y="32918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모두가 부러워하는 직업도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'안전하지 않다'고 한다</a:t>
            </a:r>
            <a:endParaRPr lang="en-US" sz="1500" dirty="0"/>
          </a:p>
        </p:txBody>
      </p:sp>
      <p:sp>
        <p:nvSpPr>
          <p:cNvPr id="15" name="go card"/>
          <p:cNvSpPr/>
          <p:nvPr/>
        </p:nvSpPr>
        <p:spPr>
          <a:xfrm>
            <a:off x="4709160" y="1143000"/>
            <a:ext cx="397764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go head"/>
          <p:cNvSpPr txBox="1"/>
          <p:nvPr/>
        </p:nvSpPr>
        <p:spPr>
          <a:xfrm>
            <a:off x="493776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바둑: AI에게 가장 먼저 진 종목</a:t>
            </a:r>
            <a:endParaRPr lang="en-US" sz="1500" dirty="0"/>
          </a:p>
        </p:txBody>
      </p:sp>
      <p:sp>
        <p:nvSpPr>
          <p:cNvPr id="17" name="go 2016"/>
          <p:cNvSpPr txBox="1"/>
          <p:nvPr/>
        </p:nvSpPr>
        <p:spPr>
          <a:xfrm>
            <a:off x="4937760" y="1828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2016  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알파고 4 : 1 이세돌</a:t>
            </a:r>
            <a:endParaRPr lang="en-US" sz="1600" dirty="0"/>
          </a:p>
        </p:txBody>
      </p:sp>
      <p:sp>
        <p:nvSpPr>
          <p:cNvPr id="18" name="go arrow circle"/>
          <p:cNvSpPr/>
          <p:nvPr/>
        </p:nvSpPr>
        <p:spPr>
          <a:xfrm>
            <a:off x="4937760" y="2377440"/>
            <a:ext cx="411480" cy="4114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9" name="go arrow icon" descr="go arr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0630" y="2480310"/>
            <a:ext cx="205740" cy="205740"/>
          </a:xfrm>
          <a:prstGeom prst="rect">
            <a:avLst/>
          </a:prstGeom>
        </p:spPr>
      </p:pic>
      <p:sp>
        <p:nvSpPr>
          <p:cNvPr id="20" name="go now"/>
          <p:cNvSpPr txBox="1"/>
          <p:nvPr/>
        </p:nvSpPr>
        <p:spPr>
          <a:xfrm>
            <a:off x="4937760" y="2880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10년 뒤  </a:t>
            </a:r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의외로 큰 변화 없음</a:t>
            </a:r>
            <a:endParaRPr lang="en-US" sz="1600" dirty="0"/>
          </a:p>
        </p:txBody>
      </p:sp>
      <p:sp>
        <p:nvSpPr>
          <p:cNvPr id="21" name="go desc"/>
          <p:cNvSpPr txBox="1"/>
          <p:nvPr/>
        </p:nvSpPr>
        <p:spPr>
          <a:xfrm>
            <a:off x="4937760" y="34290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프로 기사 · 대회는 그대로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바뀐 것은 'AI로 훈련하는 방법'뿐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기계가 이겨도, 우리는 사람을 본다</a:t>
            </a:r>
            <a:endParaRPr lang="en-US" sz="3000" dirty="0"/>
          </a:p>
        </p:txBody>
      </p:sp>
      <p:sp>
        <p:nvSpPr>
          <p:cNvPr id="3" name="machine card 1"/>
          <p:cNvSpPr/>
          <p:nvPr/>
        </p:nvSpPr>
        <p:spPr>
          <a:xfrm>
            <a:off x="457200" y="1188720"/>
            <a:ext cx="30175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machine 1 circle"/>
          <p:cNvSpPr/>
          <p:nvPr/>
        </p:nvSpPr>
        <p:spPr>
          <a:xfrm>
            <a:off x="621792" y="1344168"/>
            <a:ext cx="512064" cy="512064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5" name="machine 1 icon" descr="machin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72184"/>
            <a:ext cx="256032" cy="256032"/>
          </a:xfrm>
          <a:prstGeom prst="rect">
            <a:avLst/>
          </a:prstGeom>
        </p:spPr>
      </p:pic>
      <p:sp>
        <p:nvSpPr>
          <p:cNvPr id="6" name="machine text 1"/>
          <p:cNvSpPr txBox="1"/>
          <p:nvPr/>
        </p:nvSpPr>
        <p:spPr>
          <a:xfrm>
            <a:off x="1280160" y="1188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자동차가 더 빠르다</a:t>
            </a:r>
            <a:endParaRPr lang="en-US" sz="1300" dirty="0"/>
          </a:p>
        </p:txBody>
      </p:sp>
      <p:sp>
        <p:nvSpPr>
          <p:cNvPr id="7" name="arrow 1 circle"/>
          <p:cNvSpPr/>
          <p:nvPr/>
        </p:nvSpPr>
        <p:spPr>
          <a:xfrm>
            <a:off x="3584448" y="1417320"/>
            <a:ext cx="365760" cy="3657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8" name="arrow 1 icon" descr="arrow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508760"/>
            <a:ext cx="182880" cy="182880"/>
          </a:xfrm>
          <a:prstGeom prst="rect">
            <a:avLst/>
          </a:prstGeom>
        </p:spPr>
      </p:pic>
      <p:sp>
        <p:nvSpPr>
          <p:cNvPr id="9" name="human card 1"/>
          <p:cNvSpPr/>
          <p:nvPr/>
        </p:nvSpPr>
        <p:spPr>
          <a:xfrm>
            <a:off x="4069080" y="1188720"/>
            <a:ext cx="46177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human 1 circle"/>
          <p:cNvSpPr/>
          <p:nvPr/>
        </p:nvSpPr>
        <p:spPr>
          <a:xfrm>
            <a:off x="4233672" y="134416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human 1 icon" descr="human 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1472184"/>
            <a:ext cx="256032" cy="256032"/>
          </a:xfrm>
          <a:prstGeom prst="rect">
            <a:avLst/>
          </a:prstGeom>
        </p:spPr>
      </p:pic>
      <p:sp>
        <p:nvSpPr>
          <p:cNvPr id="12" name="human text 1"/>
          <p:cNvSpPr txBox="1"/>
          <p:nvPr/>
        </p:nvSpPr>
        <p:spPr>
          <a:xfrm>
            <a:off x="4892040" y="1188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그래도 우사인 볼트의 100m 9초 58에 열광한다</a:t>
            </a:r>
            <a:endParaRPr lang="en-US" sz="1400" dirty="0"/>
          </a:p>
        </p:txBody>
      </p:sp>
      <p:sp>
        <p:nvSpPr>
          <p:cNvPr id="13" name="machine card 2"/>
          <p:cNvSpPr/>
          <p:nvPr/>
        </p:nvSpPr>
        <p:spPr>
          <a:xfrm>
            <a:off x="457200" y="2194560"/>
            <a:ext cx="30175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machine 2 circle"/>
          <p:cNvSpPr/>
          <p:nvPr/>
        </p:nvSpPr>
        <p:spPr>
          <a:xfrm>
            <a:off x="621792" y="2350008"/>
            <a:ext cx="512064" cy="512064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5" name="machine 2 icon" descr="machine 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478024"/>
            <a:ext cx="256032" cy="256032"/>
          </a:xfrm>
          <a:prstGeom prst="rect">
            <a:avLst/>
          </a:prstGeom>
        </p:spPr>
      </p:pic>
      <p:sp>
        <p:nvSpPr>
          <p:cNvPr id="16" name="machine text 2"/>
          <p:cNvSpPr txBox="1"/>
          <p:nvPr/>
        </p:nvSpPr>
        <p:spPr>
          <a:xfrm>
            <a:off x="1280160" y="2194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지게차가 더 무겁게 든다</a:t>
            </a:r>
            <a:endParaRPr lang="en-US" sz="1300" dirty="0"/>
          </a:p>
        </p:txBody>
      </p:sp>
      <p:sp>
        <p:nvSpPr>
          <p:cNvPr id="17" name="arrow 2 circle"/>
          <p:cNvSpPr/>
          <p:nvPr/>
        </p:nvSpPr>
        <p:spPr>
          <a:xfrm>
            <a:off x="3584448" y="2423160"/>
            <a:ext cx="365760" cy="3657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arrow 2 icon" descr="arrow 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888" y="2514600"/>
            <a:ext cx="182880" cy="182880"/>
          </a:xfrm>
          <a:prstGeom prst="rect">
            <a:avLst/>
          </a:prstGeom>
        </p:spPr>
      </p:pic>
      <p:sp>
        <p:nvSpPr>
          <p:cNvPr id="19" name="human card 2"/>
          <p:cNvSpPr/>
          <p:nvPr/>
        </p:nvSpPr>
        <p:spPr>
          <a:xfrm>
            <a:off x="4069080" y="2194560"/>
            <a:ext cx="46177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human 2 circle"/>
          <p:cNvSpPr/>
          <p:nvPr/>
        </p:nvSpPr>
        <p:spPr>
          <a:xfrm>
            <a:off x="4233672" y="235000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human 2 icon" descr="human 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1688" y="2478024"/>
            <a:ext cx="256032" cy="256032"/>
          </a:xfrm>
          <a:prstGeom prst="rect">
            <a:avLst/>
          </a:prstGeom>
        </p:spPr>
      </p:pic>
      <p:sp>
        <p:nvSpPr>
          <p:cNvPr id="22" name="human text 2"/>
          <p:cNvSpPr txBox="1"/>
          <p:nvPr/>
        </p:nvSpPr>
        <p:spPr>
          <a:xfrm>
            <a:off x="4892040" y="2194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그래도 역도 선수의 한 번의 들어 올림에 박수 친다</a:t>
            </a:r>
            <a:endParaRPr lang="en-US" sz="1400" dirty="0"/>
          </a:p>
        </p:txBody>
      </p:sp>
      <p:sp>
        <p:nvSpPr>
          <p:cNvPr id="23" name="machine card 3"/>
          <p:cNvSpPr/>
          <p:nvPr/>
        </p:nvSpPr>
        <p:spPr>
          <a:xfrm>
            <a:off x="457200" y="3200400"/>
            <a:ext cx="30175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machine 3 circle"/>
          <p:cNvSpPr/>
          <p:nvPr/>
        </p:nvSpPr>
        <p:spPr>
          <a:xfrm>
            <a:off x="621792" y="3355848"/>
            <a:ext cx="512064" cy="512064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5" name="machine 3 icon" descr="machine 3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3483864"/>
            <a:ext cx="256032" cy="256032"/>
          </a:xfrm>
          <a:prstGeom prst="rect">
            <a:avLst/>
          </a:prstGeom>
        </p:spPr>
      </p:pic>
      <p:sp>
        <p:nvSpPr>
          <p:cNvPr id="26" name="machine text 3"/>
          <p:cNvSpPr txBox="1"/>
          <p:nvPr/>
        </p:nvSpPr>
        <p:spPr>
          <a:xfrm>
            <a:off x="128016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AI가 프로 팀을 이겼다 (2019)</a:t>
            </a:r>
            <a:endParaRPr lang="en-US" sz="1300" dirty="0"/>
          </a:p>
        </p:txBody>
      </p:sp>
      <p:sp>
        <p:nvSpPr>
          <p:cNvPr id="27" name="arrow 3 circle"/>
          <p:cNvSpPr/>
          <p:nvPr/>
        </p:nvSpPr>
        <p:spPr>
          <a:xfrm>
            <a:off x="3584448" y="3429000"/>
            <a:ext cx="365760" cy="3657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8" name="arrow 3 icon" descr="arrow 3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75888" y="3520440"/>
            <a:ext cx="182880" cy="182880"/>
          </a:xfrm>
          <a:prstGeom prst="rect">
            <a:avLst/>
          </a:prstGeom>
        </p:spPr>
      </p:pic>
      <p:sp>
        <p:nvSpPr>
          <p:cNvPr id="29" name="human card 3"/>
          <p:cNvSpPr/>
          <p:nvPr/>
        </p:nvSpPr>
        <p:spPr>
          <a:xfrm>
            <a:off x="4069080" y="3200400"/>
            <a:ext cx="46177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human 3 circle"/>
          <p:cNvSpPr/>
          <p:nvPr/>
        </p:nvSpPr>
        <p:spPr>
          <a:xfrm>
            <a:off x="4233672" y="335584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human 3 icon" descr="human 3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61688" y="3483864"/>
            <a:ext cx="256032" cy="256032"/>
          </a:xfrm>
          <a:prstGeom prst="rect">
            <a:avLst/>
          </a:prstGeom>
        </p:spPr>
      </p:pic>
      <p:sp>
        <p:nvSpPr>
          <p:cNvPr id="32" name="human text 3"/>
          <p:cNvSpPr txBox="1"/>
          <p:nvPr/>
        </p:nvSpPr>
        <p:spPr>
          <a:xfrm>
            <a:off x="4892040" y="32004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그래도 2024 롤드컵 결승은 690만 명이 봤다</a:t>
            </a:r>
            <a:endParaRPr lang="en-US" sz="1400" dirty="0"/>
          </a:p>
        </p:txBody>
      </p:sp>
      <p:sp>
        <p:nvSpPr>
          <p:cNvPr id="33" name="footnote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※ 690만 명: 2024 롤드컵 결승 최고 동시 시청자 (중국 플랫폼 제외)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직업과 스포츠는 무엇이 다를까?</a:t>
            </a:r>
            <a:endParaRPr lang="en-US" sz="3000" dirty="0"/>
          </a:p>
        </p:txBody>
      </p:sp>
      <p:sp>
        <p:nvSpPr>
          <p:cNvPr id="3" name="job panel"/>
          <p:cNvSpPr/>
          <p:nvPr/>
        </p:nvSpPr>
        <p:spPr>
          <a:xfrm>
            <a:off x="457200" y="1143000"/>
            <a:ext cx="397764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job panel head"/>
          <p:cNvSpPr txBox="1"/>
          <p:nvPr/>
        </p:nvSpPr>
        <p:spPr>
          <a:xfrm>
            <a:off x="685800" y="1280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직업</a:t>
            </a:r>
            <a:endParaRPr lang="en-US" sz="1500" dirty="0"/>
          </a:p>
        </p:txBody>
      </p:sp>
      <p:sp>
        <p:nvSpPr>
          <p:cNvPr id="5" name="job panel claim"/>
          <p:cNvSpPr txBox="1"/>
          <p:nvPr/>
        </p:nvSpPr>
        <p:spPr>
          <a:xfrm>
            <a:off x="685800" y="1600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결과를 산다</a:t>
            </a:r>
            <a:endParaRPr lang="en-US" sz="2800" dirty="0"/>
          </a:p>
        </p:txBody>
      </p:sp>
      <p:sp>
        <p:nvSpPr>
          <p:cNvPr id="6" name="job panel desc"/>
          <p:cNvSpPr txBox="1"/>
          <p:nvPr/>
        </p:nvSpPr>
        <p:spPr>
          <a:xfrm>
            <a:off x="685800" y="23317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환자는 정확한 진단을,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회사는 좋은 코드를 원한다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→ 더 잘하는 AI로 바꿀 수 있다</a:t>
            </a:r>
            <a:endParaRPr lang="en-US" sz="1400" dirty="0"/>
          </a:p>
        </p:txBody>
      </p:sp>
      <p:sp>
        <p:nvSpPr>
          <p:cNvPr id="7" name="sport panel"/>
          <p:cNvSpPr/>
          <p:nvPr/>
        </p:nvSpPr>
        <p:spPr>
          <a:xfrm>
            <a:off x="4709160" y="1143000"/>
            <a:ext cx="397764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sport panel head"/>
          <p:cNvSpPr txBox="1"/>
          <p:nvPr/>
        </p:nvSpPr>
        <p:spPr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스포츠</a:t>
            </a:r>
            <a:endParaRPr lang="en-US" sz="1500" dirty="0"/>
          </a:p>
        </p:txBody>
      </p:sp>
      <p:sp>
        <p:nvSpPr>
          <p:cNvPr id="9" name="sport panel claim"/>
          <p:cNvSpPr txBox="1"/>
          <p:nvPr/>
        </p:nvSpPr>
        <p:spPr>
          <a:xfrm>
            <a:off x="4937760" y="1600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과정을 본다</a:t>
            </a:r>
            <a:endParaRPr lang="en-US" sz="2800" dirty="0"/>
          </a:p>
        </p:txBody>
      </p:sp>
      <p:sp>
        <p:nvSpPr>
          <p:cNvPr id="10" name="sport panel desc"/>
          <p:cNvSpPr txBox="1"/>
          <p:nvPr/>
        </p:nvSpPr>
        <p:spPr>
          <a:xfrm>
            <a:off x="4937760" y="23317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관중은 '사람이 해내는 순간'을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보고 싶어 한다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→ AI가 하면 의미가 사라진다</a:t>
            </a:r>
            <a:endParaRPr lang="en-US" sz="1400" dirty="0"/>
          </a:p>
        </p:txBody>
      </p:sp>
      <p:sp>
        <p:nvSpPr>
          <p:cNvPr id="11" name="core message card"/>
          <p:cNvSpPr/>
          <p:nvPr/>
        </p:nvSpPr>
        <p:spPr>
          <a:xfrm>
            <a:off x="457200" y="3840480"/>
            <a:ext cx="8229600" cy="6858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core message"/>
          <p:cNvSpPr txBox="1"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스포츠는 '가장 잘하는 것'을 원하지 않는다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스포츠가 대체되지 않는 3가지 이유</a:t>
            </a:r>
            <a:endParaRPr lang="en-US" sz="3000" dirty="0"/>
          </a:p>
        </p:txBody>
      </p:sp>
      <p:sp>
        <p:nvSpPr>
          <p:cNvPr id="3" name="reason card 1"/>
          <p:cNvSpPr/>
          <p:nvPr/>
        </p:nvSpPr>
        <p:spPr>
          <a:xfrm>
            <a:off x="457200" y="114300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reason number 1"/>
          <p:cNvSpPr txBox="1"/>
          <p:nvPr/>
        </p:nvSpPr>
        <p:spPr>
          <a:xfrm>
            <a:off x="7315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</a:t>
            </a:r>
            <a:endParaRPr lang="en-US" sz="3200" dirty="0"/>
          </a:p>
        </p:txBody>
      </p:sp>
      <p:sp>
        <p:nvSpPr>
          <p:cNvPr id="5" name="reason 1 circle"/>
          <p:cNvSpPr/>
          <p:nvPr/>
        </p:nvSpPr>
        <p:spPr>
          <a:xfrm>
            <a:off x="1280160" y="17830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reason 1 icon" descr="reas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2011680"/>
            <a:ext cx="457200" cy="457200"/>
          </a:xfrm>
          <a:prstGeom prst="rect">
            <a:avLst/>
          </a:prstGeom>
        </p:spPr>
      </p:pic>
      <p:sp>
        <p:nvSpPr>
          <p:cNvPr id="7" name="reason head 1"/>
          <p:cNvSpPr txBox="1"/>
          <p:nvPr/>
        </p:nvSpPr>
        <p:spPr>
          <a:xfrm>
            <a:off x="64008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한계에 도전</a:t>
            </a:r>
            <a:endParaRPr lang="en-US" sz="1800" dirty="0"/>
          </a:p>
        </p:txBody>
      </p:sp>
      <p:sp>
        <p:nvSpPr>
          <p:cNvPr id="8" name="reason desc 1"/>
          <p:cNvSpPr txBox="1"/>
          <p:nvPr/>
        </p:nvSpPr>
        <p:spPr>
          <a:xfrm>
            <a:off x="73152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나와 같은 몸을 가진 사람이 해내기 때문에 감동한다</a:t>
            </a:r>
            <a:endParaRPr lang="en-US" sz="1400" dirty="0"/>
          </a:p>
        </p:txBody>
      </p:sp>
      <p:sp>
        <p:nvSpPr>
          <p:cNvPr id="9" name="reason card 2"/>
          <p:cNvSpPr/>
          <p:nvPr/>
        </p:nvSpPr>
        <p:spPr>
          <a:xfrm>
            <a:off x="3291840" y="114300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reason number 2"/>
          <p:cNvSpPr txBox="1"/>
          <p:nvPr/>
        </p:nvSpPr>
        <p:spPr>
          <a:xfrm>
            <a:off x="356616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2</a:t>
            </a:r>
            <a:endParaRPr lang="en-US" sz="3200" dirty="0"/>
          </a:p>
        </p:txBody>
      </p:sp>
      <p:sp>
        <p:nvSpPr>
          <p:cNvPr id="11" name="reason 2 circle"/>
          <p:cNvSpPr/>
          <p:nvPr/>
        </p:nvSpPr>
        <p:spPr>
          <a:xfrm>
            <a:off x="4114800" y="17830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reason 2 icon" descr="reas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011680"/>
            <a:ext cx="457200" cy="457200"/>
          </a:xfrm>
          <a:prstGeom prst="rect">
            <a:avLst/>
          </a:prstGeom>
        </p:spPr>
      </p:pic>
      <p:sp>
        <p:nvSpPr>
          <p:cNvPr id="13" name="reason head 2"/>
          <p:cNvSpPr txBox="1"/>
          <p:nvPr/>
        </p:nvSpPr>
        <p:spPr>
          <a:xfrm>
            <a:off x="347472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실수와 드라마</a:t>
            </a:r>
            <a:endParaRPr lang="en-US" sz="1800" dirty="0"/>
          </a:p>
        </p:txBody>
      </p:sp>
      <p:sp>
        <p:nvSpPr>
          <p:cNvPr id="14" name="reason desc 2"/>
          <p:cNvSpPr txBox="1"/>
          <p:nvPr/>
        </p:nvSpPr>
        <p:spPr>
          <a:xfrm>
            <a:off x="356616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실수할 수 있는 사람에게만 역전승과 긴장감이 있다</a:t>
            </a:r>
            <a:endParaRPr lang="en-US" sz="1400" dirty="0"/>
          </a:p>
        </p:txBody>
      </p:sp>
      <p:sp>
        <p:nvSpPr>
          <p:cNvPr id="15" name="reason card 3"/>
          <p:cNvSpPr/>
          <p:nvPr/>
        </p:nvSpPr>
        <p:spPr>
          <a:xfrm>
            <a:off x="6126480" y="114300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reason number 3"/>
          <p:cNvSpPr txBox="1"/>
          <p:nvPr/>
        </p:nvSpPr>
        <p:spPr>
          <a:xfrm>
            <a:off x="64008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3</a:t>
            </a:r>
            <a:endParaRPr lang="en-US" sz="3200" dirty="0"/>
          </a:p>
        </p:txBody>
      </p:sp>
      <p:sp>
        <p:nvSpPr>
          <p:cNvPr id="17" name="reason 3 circle"/>
          <p:cNvSpPr/>
          <p:nvPr/>
        </p:nvSpPr>
        <p:spPr>
          <a:xfrm>
            <a:off x="6949440" y="178308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reason 3 icon" descr="reas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011680"/>
            <a:ext cx="457200" cy="457200"/>
          </a:xfrm>
          <a:prstGeom prst="rect">
            <a:avLst/>
          </a:prstGeom>
        </p:spPr>
      </p:pic>
      <p:sp>
        <p:nvSpPr>
          <p:cNvPr id="19" name="reason head 3"/>
          <p:cNvSpPr txBox="1"/>
          <p:nvPr/>
        </p:nvSpPr>
        <p:spPr>
          <a:xfrm>
            <a:off x="630936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응원과 참여</a:t>
            </a:r>
            <a:endParaRPr lang="en-US" sz="1800" dirty="0"/>
          </a:p>
        </p:txBody>
      </p:sp>
      <p:sp>
        <p:nvSpPr>
          <p:cNvPr id="20" name="reason desc 3"/>
          <p:cNvSpPr txBox="1"/>
          <p:nvPr/>
        </p:nvSpPr>
        <p:spPr>
          <a:xfrm>
            <a:off x="640080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함께 응원하고, 직접 뛰는 즐거움은 AI가 대신할 수 없다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결론</a:t>
            </a:r>
            <a:endParaRPr lang="en-US" sz="3000" dirty="0"/>
          </a:p>
        </p:txBody>
      </p:sp>
      <p:sp>
        <p:nvSpPr>
          <p:cNvPr id="3" name="quote card"/>
          <p:cNvSpPr/>
          <p:nvPr/>
        </p:nvSpPr>
        <p:spPr>
          <a:xfrm>
            <a:off x="457200" y="114300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conclusion quote"/>
          <p:cNvSpPr txBox="1"/>
          <p:nvPr/>
        </p:nvSpPr>
        <p:spPr>
          <a:xfrm>
            <a:off x="731520" y="1188720"/>
            <a:ext cx="7680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AI는 사람보다 더 잘할 수 있다.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하지만 스포츠는 '더 잘하는 것'이 아니라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'사람이 해내는 것'을 본다.</a:t>
            </a:r>
            <a:endParaRPr lang="en-US" sz="2200" dirty="0"/>
          </a:p>
        </p:txBody>
      </p:sp>
      <p:sp>
        <p:nvSpPr>
          <p:cNvPr id="5" name="role card"/>
          <p:cNvSpPr/>
          <p:nvPr/>
        </p:nvSpPr>
        <p:spPr>
          <a:xfrm>
            <a:off x="457200" y="2880360"/>
            <a:ext cx="512064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role circle"/>
          <p:cNvSpPr/>
          <p:nvPr/>
        </p:nvSpPr>
        <p:spPr>
          <a:xfrm>
            <a:off x="685800" y="320040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7" name="role icon" descr="r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3406140"/>
            <a:ext cx="411480" cy="411480"/>
          </a:xfrm>
          <a:prstGeom prst="rect">
            <a:avLst/>
          </a:prstGeom>
        </p:spPr>
      </p:pic>
      <p:sp>
        <p:nvSpPr>
          <p:cNvPr id="8" name="role text"/>
          <p:cNvSpPr txBox="1"/>
          <p:nvPr/>
        </p:nvSpPr>
        <p:spPr>
          <a:xfrm>
            <a:off x="1737360" y="30175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그래서 AI의 자리는</a:t>
            </a:r>
            <a:endParaRPr lang="en-US" sz="15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선수가 아니라 '코치'</a:t>
            </a:r>
            <a:endParaRPr lang="en-US" sz="1500" dirty="0"/>
          </a:p>
        </p:txBody>
      </p:sp>
      <p:sp>
        <p:nvSpPr>
          <p:cNvPr id="9" name="thanks card"/>
          <p:cNvSpPr/>
          <p:nvPr/>
        </p:nvSpPr>
        <p:spPr>
          <a:xfrm>
            <a:off x="5852160" y="2880360"/>
            <a:ext cx="283464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hanks text"/>
          <p:cNvSpPr txBox="1"/>
          <p:nvPr/>
        </p:nvSpPr>
        <p:spPr>
          <a:xfrm>
            <a:off x="5943600" y="3108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감사합니다</a:t>
            </a:r>
            <a:endParaRPr lang="en-US" sz="2600" dirty="0"/>
          </a:p>
        </p:txBody>
      </p:sp>
      <p:sp>
        <p:nvSpPr>
          <p:cNvPr id="11" name="qna text"/>
          <p:cNvSpPr txBox="1"/>
          <p:nvPr/>
        </p:nvSpPr>
        <p:spPr>
          <a:xfrm>
            <a:off x="5943600" y="3703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질문을 받겠습니다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on Arena">
  <a:themeElements>
    <a:clrScheme name="Neon Arena">
      <a:dk1>
        <a:srgbClr val="0C0A1D"/>
      </a:dk1>
      <a:lt1>
        <a:srgbClr val="FFFFFF"/>
      </a:lt1>
      <a:dk2>
        <a:srgbClr val="1C1938"/>
      </a:dk2>
      <a:lt2>
        <a:srgbClr val="A9A6CF"/>
      </a:lt2>
      <a:accent1>
        <a:srgbClr val="00E5FF"/>
      </a:accent1>
      <a:accent2>
        <a:srgbClr val="FF2E88"/>
      </a:accent2>
      <a:accent3>
        <a:srgbClr val="8B5CF6"/>
      </a:accent3>
      <a:accent4>
        <a:srgbClr val="FFC83D"/>
      </a:accent4>
      <a:accent5>
        <a:srgbClr val="2EE59D"/>
      </a:accent5>
      <a:accent6>
        <a:srgbClr val="34305E"/>
      </a:accent6>
      <a:hlink>
        <a:srgbClr val="00E5FF"/>
      </a:hlink>
      <a:folHlink>
        <a:srgbClr val="8B5CF6"/>
      </a:folHlink>
    </a:clrScheme>
    <a:fontScheme name="Neon Arena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왜 스포츠는 AI가 대체하지 못할까?</dc:title>
  <dc:subject>2학년 체육2 프로젝트 발표</dc:subject>
  <dc:creator>PptxGenJS</dc:creator>
  <cp:lastModifiedBy>PptxGenJS</cp:lastModifiedBy>
  <cp:revision>1</cp:revision>
  <dcterms:created xsi:type="dcterms:W3CDTF">2026-10-12T01:44:15Z</dcterms:created>
  <dcterms:modified xsi:type="dcterms:W3CDTF">2026-10-12T01:44:15Z</dcterms:modified>
</cp:coreProperties>
</file>