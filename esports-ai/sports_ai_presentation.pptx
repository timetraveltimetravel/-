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761cea2b-278b-bc1a-de0e-0501688693c9}">
          <p14:sldIdLst>
            <p14:sldId id="256"/>
            <p14:sldId id="257"/>
          </p14:sldIdLst>
        </p14:section>
        <p14:section name="사례" id="{a0fb4b0b-511f-82c1-17cc-b069f235eaf4}">
          <p14:sldIdLst>
            <p14:sldId id="258"/>
            <p14:sldId id="259"/>
            <p14:sldId id="260"/>
            <p14:sldId id="261"/>
          </p14:sldIdLst>
        </p14:section>
        <p14:section name="분석" id="{d29d4693-0f65-1e9e-cf21-63e334b03930}">
          <p14:sldIdLst>
            <p14:sldId id="262"/>
            <p14:sldId id="263"/>
            <p14:sldId id="264"/>
          </p14:sldIdLst>
        </p14:section>
        <p14:section name="정리" id="{61b5a319-2029-cb9a-66e1-14a5ec260998}">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저는 2학년 ○반 ○○○입니다.
제가 고른 종목은 e스포츠이고, 연결한 분야는 AI입니다.
오늘 발표 주제는 "왜 스포츠는 AI가 대체하지 못할까?"입니다.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요즘 뉴스에서 'AI가 일자리를 대체한다'는 말을 자주 듣습니다.
2023년 골드만삭스는 생성형 AI가 전 세계 약 3억 개의 일자리에 영향을 줄 수 있다고 발표했습니다.
같은 해 OpenAI는 GPT-4가 미국 변호사 시험에서 상위 10% 수준의 점수를 받았다고 발표했습니다.
2024년 구글 CEO는 구글의 새 코드 중 4분의 1 이상을 AI가 만든다고 말했습니다.
실리콘밸리 개발자, 변호사, 의사처럼 모두가 부러워하는 직업도 안전하지 않다는 이야기입니다.
그렇다면 운동선수와 프로게이머는 어떨까요? 스포츠도 AI에게 대체될까요?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스포츠 중에서 AI에게 가장 먼저, 가장 크게 진 종목이 있습니다. 바로 바둑입니다.
2016년 3월, 알파고가 이세돌 9단을 4대 1로 이겼습니다.
그때 많은 사람이 "이제 바둑은 끝났다", "AI보다 못하는 사람 바둑을 누가 보겠냐"고 말했습니다.
이세돌 9단도 2019년에 은퇴하면서 "1등이 되어도 이길 수 없는 존재가 있다"고 말했습니다.
정말 바둑은 끝났을까요?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그로부터 10년이 지난 지금, 바둑은 어떻게 되었을까요? 의외로 우리가 생각한 만큼 큰 변화는 없었습니다.
프로 기사는 지금도 활동하고, 바둑 리그와 세계 대회도 계속 열립니다.
바뀐 것은 '훈련 방법'입니다. 최정상급 기사인 신진서 9단은 AI로 공부해서 '신공지능'이라는 별명까지 얻었습니다.
2023년 미국 과학 학술지 PNAS에 실린 연구가 있습니다. 1950년부터 2021년까지 프로 기사가 둔 수 580만 개를 AI로 분석했습니다. 그 결과, AI가 등장한 뒤 사람의 수가 오히려 더 좋아지고 더 새로워졌습니다.
즉 AI는 바둑을 없앤 것이 아니라, 사람을 더 강하게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이것은 바둑만의 이야기가 아닙니다.
체스는 1997년에 이미 AI 딥블루가 세계 챔피언을 이겼습니다. 그런데 2022년 12월, 체스 사이트 Chess.com의 회원은 1억 명을 넘었습니다.
e스포츠도 같습니다. 2019년, AI가 도타 2 세계 챔피언 팀을 이겼습니다. 하지만 2024년 리그 오브 레전드 월드 챔피언십 결승, T1 대 BLG 경기는 최고 동시 시청자가 약 690만 명이었습니다. 중국 플랫폼을 빼고도 e스포츠 역사상 가장 많이 본 경기였습니다.
AI가 사람을 이겨도, 사람들은 여전히 사람의 경기를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사실 기계가 사람을 이긴 것은 아주 오래된 일입니다.
자동차는 우사인 볼트보다 훨씬 빠릅니다. 지게차는 역도 선수보다 훨씬 무거운 것을 듭니다. 피칭 머신은 시속 160km 공을 지치지 않고 던집니다.
그런데 자동차 100m 달리기를 올림픽 종목으로 만들자는 사람은 없습니다.
우리는 여전히 볼트의 9초 58에 열광하고, 투수의 공 하나에 숨을 죽입니다.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제 질문의 답이 나옵니다. 왜 의사와 개발자는 대체될 수 있는데, 운동선수는 그렇지 않을까요?
직업에서 우리가 사는 것은 '결과'입니다. 환자는 가장 정확한 진단을, 회사는 가장 빠르고 좋은 코드를 원합니다. 누가 했는지보다 결과가 중요하기 때문에, 더 잘하는 AI가 있으면 AI를 씁니다.
하지만 스포츠에서 우리가 보는 것은 '과정'입니다. 관중은 사람이 무언가를 해내는 순간을 보고 싶어 합니다. 그래서 스포츠에서는 누가 했는지가 가장 중요하고, AI가 하면 의미가 사라집니다.
즉, 스포츠는 '가장 잘하는 것'을 원하지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그러면 스포츠에서 사람만 줄 수 있는 것은 무엇일까요? 네 가지로 정리했습니다.
첫째, 한계에 도전하는 모습입니다. 나와 같은 몸을 가진 사람이 해내기 때문에 우리는 감동합니다.
둘째, 이야기와 감정입니다. 부상, 슬럼프, 역전승 같은 드라마는 실수할 수 있는 사람에게만 있습니다. 절대 실수하지 않는 AI의 경기에는 긴장감이 없습니다.
셋째, 공감과 응원입니다. 우리는 '우리 팀', '내가 좋아하는 선수'를 함께 응원하며 하나가 됩니다.
넷째, 직접 하는 즐거움입니다. AI가 축구를 더 잘해도 우리는 점심시간에 축구를 합니다. 스포츠는 보는 것이기도 하지만, 직접 몸을 움직이는 즐거움이기도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그렇다고 AI가 스포츠와 상관없다는 뜻은 아닙니다. AI는 선수를 대신하지 않고, 선수 옆에서 돕습니다.
AI는 상대 전략과 내 약점을 빠르게 분석합니다. 바둑 기사와 프로게이머는 AI를 훈련 상대로 씁니다. 축구의 VAR이나 게임의 핵 탐지처럼 공정한 판정을 돕습니다. 그리고 중계에서 실시간 승률을 보여 주어 경기를 더 쉽게 즐기게 합니다.
즉, 스포츠에서 AI의 자리는 선수가 아니라 코치와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AI가 스포츠를 망칠 수 있는 경우는 없을까요? 있습니다. 바로 '사람의 경기'라는 약속이 깨질 때입니다.
2020년 1월, 한국기원 프로 입단대회에서 한 선수가 몰래 전자 장비를 가지고 있었고, 외부인이 AI로 다음 수를 알려 준 사실이 적발되어 실격되었습니다.
e스포츠에서도 AI를 이용한 핵 프로그램이 큰 문제입니다.
관중이 '이건 사람이 한 게 아닐 수도 있다'고 의심하는 순간, 스포츠의 가치는 사라집니다.
그래서 AI 시대의 스포츠에서 가장 중요한 것은 공정한 규칙입니다.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AI는 사람보다 더 잘할 수 있습니다. 하지만 스포츠는 '더 잘하는 것'을 보는 것이 아니라 '사람이 해내는 것'을 보는 것입니다.
그래서 스포츠는 AI로 대체되지 않습니다.
오히려 알파고 이후의 바둑처럼, AI는 사람을 더 강하게 만드는 코치가 될 것입니다.
다만 '사람의 경기'라는 약속을 지키기 위해, AI를 어디까지 써도 되는지 정하는 공정한 규칙이 꼭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참고한 자료는 화면과 같습니다.
이상으로 "왜 스포츠는 AI가 대체하지 못할까?" 발표를 마치겠습니다. 들어 주셔서 감사합니다.
질문이 있으면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0A1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18872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697480"/>
            <a:ext cx="5120640" cy="82296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C0A1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chemeClr val="bg2"/>
                </a:solidFill>
              </a:rPr>
              <a:t>e스포츠 × AI  |  체육2 프로젝트</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120640" cy="1188720"/>
          </a:xfrm>
          <a:prstGeom prst="rect">
            <a:avLst/>
          </a:prstGeom>
          <a:noFill/>
          <a:ln/>
        </p:spPr>
        <p:txBody>
          <a:bodyPr wrap="square" lIns="0" tIns="0" rIns="0" bIns="0" rtlCol="0" anchor="b"/>
          <a:lstStyle/>
          <a:p>
            <a:pPr algn="l" indent="0" marL="0">
              <a:buNone/>
            </a:pPr>
            <a:r>
              <a:rPr lang="en-US" sz="4800" b="1" dirty="0">
                <a:solidFill>
                  <a:schemeClr val="bg1"/>
                </a:solidFill>
              </a:rPr>
              <a:t>왜 스포츠는</a:t>
            </a:r>
            <a:endParaRPr lang="en-US" sz="4800" dirty="0"/>
          </a:p>
          <a:p>
            <a:pPr algn="l" indent="0" marL="0">
              <a:buNone/>
            </a:pPr>
            <a:r>
              <a:rPr lang="en-US" sz="4800" b="1" dirty="0">
                <a:solidFill>
                  <a:schemeClr val="bg1"/>
                </a:solidFill>
              </a:rPr>
              <a:t>AI가 대체하지</a:t>
            </a:r>
            <a:endParaRPr lang="en-US" sz="4800" dirty="0"/>
          </a:p>
          <a:p>
            <a:pPr algn="l" indent="0" marL="0">
              <a:buNone/>
            </a:pPr>
            <a:r>
              <a:rPr lang="en-US" sz="4800" b="1" dirty="0">
                <a:solidFill>
                  <a:schemeClr val="bg1"/>
                </a:solidFill>
              </a:rPr>
              <a:t>못할까?</a:t>
            </a:r>
            <a:endParaRPr lang="en-US" sz="4800" dirty="0"/>
          </a:p>
        </p:txBody>
      </p:sp>
      <p:sp>
        <p:nvSpPr>
          <p:cNvPr id="3" name="Text 0"/>
          <p:cNvSpPr/>
          <p:nvPr>
            <p:ph idx="101" type="body" hasCustomPrompt="1"/>
          </p:nvPr>
        </p:nvSpPr>
        <p:spPr>
          <a:xfrm>
            <a:off x="548640" y="2697480"/>
            <a:ext cx="5120640" cy="822960"/>
          </a:xfrm>
          <a:prstGeom prst="rect">
            <a:avLst/>
          </a:prstGeom>
          <a:noFill/>
          <a:ln/>
        </p:spPr>
        <p:txBody>
          <a:bodyPr wrap="square" lIns="0" tIns="0" rIns="0" bIns="0" rtlCol="0" anchor="t"/>
          <a:lstStyle/>
          <a:p>
            <a:pPr algn="l" indent="0" marL="0">
              <a:buNone/>
            </a:pPr>
            <a:r>
              <a:rPr lang="en-US" sz="1800" dirty="0">
                <a:solidFill>
                  <a:schemeClr val="accent1"/>
                </a:solidFill>
              </a:rPr>
              <a:t>알파고 이후의 바둑과 e스포츠로 본</a:t>
            </a:r>
            <a:endParaRPr lang="en-US" sz="1800" dirty="0"/>
          </a:p>
          <a:p>
            <a:pPr algn="l" indent="0" marL="0">
              <a:buNone/>
            </a:pPr>
            <a:r>
              <a:rPr lang="en-US" sz="1800" dirty="0">
                <a:solidFill>
                  <a:schemeClr val="accent1"/>
                </a:solidFill>
              </a:rPr>
              <a:t>스포츠의 본질</a:t>
            </a:r>
            <a:endParaRPr lang="en-US" sz="1800" dirty="0"/>
          </a:p>
        </p:txBody>
      </p:sp>
      <p:sp>
        <p:nvSpPr>
          <p:cNvPr id="4" name="presenter"/>
          <p:cNvSpPr txBox="1"/>
          <p:nvPr/>
        </p:nvSpPr>
        <p:spPr>
          <a:xfrm>
            <a:off x="548640" y="4160520"/>
            <a:ext cx="7315200" cy="320040"/>
          </a:xfrm>
          <a:prstGeom prst="rect">
            <a:avLst/>
          </a:prstGeom>
          <a:noFill/>
          <a:ln/>
        </p:spPr>
        <p:txBody>
          <a:bodyPr wrap="square" lIns="0" tIns="0" rIns="0" bIns="0" rtlCol="0" anchor="ctr"/>
          <a:lstStyle/>
          <a:p>
            <a:pPr indent="0" marL="0">
              <a:buNone/>
            </a:pPr>
            <a:r>
              <a:rPr lang="en-US" sz="1300" dirty="0">
                <a:solidFill>
                  <a:schemeClr val="bg2"/>
                </a:solidFill>
              </a:rPr>
              <a:t>2학년 체육2 프로젝트 발표   |   e스포츠 × AI   |   2학년 ○반 ○번 ○○○</a:t>
            </a:r>
            <a:endParaRPr lang="en-US" sz="1300" dirty="0"/>
          </a:p>
        </p:txBody>
      </p:sp>
      <p:sp>
        <p:nvSpPr>
          <p:cNvPr id="5" name="hero circle 1"/>
          <p:cNvSpPr/>
          <p:nvPr/>
        </p:nvSpPr>
        <p:spPr>
          <a:xfrm>
            <a:off x="5806440" y="822960"/>
            <a:ext cx="2377440" cy="2377440"/>
          </a:xfrm>
          <a:prstGeom prst="ellipse">
            <a:avLst/>
          </a:prstGeom>
          <a:solidFill>
            <a:schemeClr val="accent1"/>
          </a:solidFill>
          <a:ln/>
        </p:spPr>
      </p:sp>
      <p:pic>
        <p:nvPicPr>
          <p:cNvPr id="6" name="runner icon" descr="달리는 사람">    </p:cNvPr>
          <p:cNvPicPr>
            <a:picLocks noChangeAspect="1"/>
          </p:cNvPicPr>
          <p:nvPr/>
        </p:nvPicPr>
        <p:blipFill>
          <a:blip r:embed="rId1"/>
          <a:stretch>
            <a:fillRect/>
          </a:stretch>
        </p:blipFill>
        <p:spPr>
          <a:xfrm>
            <a:off x="6355080" y="1371600"/>
            <a:ext cx="1280160" cy="1280160"/>
          </a:xfrm>
          <a:prstGeom prst="rect">
            <a:avLst/>
          </a:prstGeom>
        </p:spPr>
      </p:pic>
      <p:sp>
        <p:nvSpPr>
          <p:cNvPr id="7" name="hero circle 2"/>
          <p:cNvSpPr/>
          <p:nvPr/>
        </p:nvSpPr>
        <p:spPr>
          <a:xfrm>
            <a:off x="7086600" y="2423160"/>
            <a:ext cx="1600200" cy="1600200"/>
          </a:xfrm>
          <a:prstGeom prst="ellipse">
            <a:avLst/>
          </a:prstGeom>
          <a:solidFill>
            <a:schemeClr val="accent2"/>
          </a:solidFill>
          <a:ln w="50800">
            <a:solidFill>
              <a:srgbClr val="0C0A1D"/>
            </a:solidFill>
            <a:prstDash val="solid"/>
          </a:ln>
        </p:spPr>
      </p:sp>
      <p:pic>
        <p:nvPicPr>
          <p:cNvPr id="8" name="robot icon" descr="인공지능">    </p:cNvPr>
          <p:cNvPicPr>
            <a:picLocks noChangeAspect="1"/>
          </p:cNvPicPr>
          <p:nvPr/>
        </p:nvPicPr>
        <p:blipFill>
          <a:blip r:embed="rId2"/>
          <a:stretch>
            <a:fillRect/>
          </a:stretch>
        </p:blipFill>
        <p:spPr>
          <a:xfrm>
            <a:off x="7470648" y="2807208"/>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AI가 대체한다는 '선망받는 직업들'</a:t>
            </a:r>
            <a:endParaRPr lang="en-US" sz="3000" dirty="0"/>
          </a:p>
        </p:txBody>
      </p:sp>
      <p:sp>
        <p:nvSpPr>
          <p:cNvPr id="3" name="job card 1"/>
          <p:cNvSpPr/>
          <p:nvPr/>
        </p:nvSpPr>
        <p:spPr>
          <a:xfrm>
            <a:off x="457200" y="1143000"/>
            <a:ext cx="2560320" cy="2377440"/>
          </a:xfrm>
          <a:prstGeom prst="roundRect">
            <a:avLst>
              <a:gd name="adj" fmla="val 4615"/>
            </a:avLst>
          </a:prstGeom>
          <a:solidFill>
            <a:schemeClr val="tx2"/>
          </a:solidFill>
          <a:ln w="12700">
            <a:solidFill>
              <a:schemeClr val="accent6"/>
            </a:solidFill>
            <a:prstDash val="solid"/>
          </a:ln>
        </p:spPr>
      </p:sp>
      <p:sp>
        <p:nvSpPr>
          <p:cNvPr id="4" name="job 1 circle"/>
          <p:cNvSpPr/>
          <p:nvPr/>
        </p:nvSpPr>
        <p:spPr>
          <a:xfrm>
            <a:off x="731520" y="1371600"/>
            <a:ext cx="548640" cy="548640"/>
          </a:xfrm>
          <a:prstGeom prst="ellipse">
            <a:avLst/>
          </a:prstGeom>
          <a:solidFill>
            <a:schemeClr val="accent4"/>
          </a:solidFill>
          <a:ln/>
        </p:spPr>
      </p:sp>
      <p:pic>
        <p:nvPicPr>
          <p:cNvPr id="5" name="job 1 icon" descr="job 1">    </p:cNvPr>
          <p:cNvPicPr>
            <a:picLocks noChangeAspect="1"/>
          </p:cNvPicPr>
          <p:nvPr/>
        </p:nvPicPr>
        <p:blipFill>
          <a:blip r:embed="rId1"/>
          <a:stretch>
            <a:fillRect/>
          </a:stretch>
        </p:blipFill>
        <p:spPr>
          <a:xfrm>
            <a:off x="868680" y="1508760"/>
            <a:ext cx="274320" cy="274320"/>
          </a:xfrm>
          <a:prstGeom prst="rect">
            <a:avLst/>
          </a:prstGeom>
        </p:spPr>
      </p:pic>
      <p:sp>
        <p:nvSpPr>
          <p:cNvPr id="6" name="job number 1"/>
          <p:cNvSpPr txBox="1"/>
          <p:nvPr/>
        </p:nvSpPr>
        <p:spPr>
          <a:xfrm>
            <a:off x="731520" y="2011680"/>
            <a:ext cx="2103120" cy="640080"/>
          </a:xfrm>
          <a:prstGeom prst="rect">
            <a:avLst/>
          </a:prstGeom>
          <a:noFill/>
          <a:ln/>
        </p:spPr>
        <p:txBody>
          <a:bodyPr wrap="square" lIns="0" tIns="0" rIns="0" bIns="0" rtlCol="0" anchor="ctr"/>
          <a:lstStyle/>
          <a:p>
            <a:pPr indent="0" marL="0">
              <a:buNone/>
            </a:pPr>
            <a:r>
              <a:rPr lang="en-US" sz="3200" b="1" dirty="0">
                <a:solidFill>
                  <a:schemeClr val="accent4"/>
                </a:solidFill>
              </a:rPr>
              <a:t>3억 개</a:t>
            </a:r>
            <a:endParaRPr lang="en-US" sz="3200" dirty="0"/>
          </a:p>
        </p:txBody>
      </p:sp>
      <p:sp>
        <p:nvSpPr>
          <p:cNvPr id="7" name="job label 1"/>
          <p:cNvSpPr txBox="1"/>
          <p:nvPr/>
        </p:nvSpPr>
        <p:spPr>
          <a:xfrm>
            <a:off x="731520" y="2697480"/>
            <a:ext cx="2103120" cy="731520"/>
          </a:xfrm>
          <a:prstGeom prst="rect">
            <a:avLst/>
          </a:prstGeom>
          <a:noFill/>
          <a:ln/>
        </p:spPr>
        <p:txBody>
          <a:bodyPr wrap="square" lIns="0" tIns="0" rIns="0" bIns="0" rtlCol="0" anchor="t"/>
          <a:lstStyle/>
          <a:p>
            <a:pPr indent="0" marL="0">
              <a:buNone/>
            </a:pPr>
            <a:r>
              <a:rPr lang="en-US" sz="1200" dirty="0">
                <a:solidFill>
                  <a:schemeClr val="bg1"/>
                </a:solidFill>
              </a:rPr>
              <a:t>AI가 영향을 줄 수 있는</a:t>
            </a:r>
            <a:endParaRPr lang="en-US" sz="1200" dirty="0"/>
          </a:p>
          <a:p>
            <a:pPr indent="0" marL="0">
              <a:buNone/>
            </a:pPr>
            <a:r>
              <a:rPr lang="en-US" sz="1200" dirty="0">
                <a:solidFill>
                  <a:schemeClr val="bg1"/>
                </a:solidFill>
              </a:rPr>
              <a:t>일자리 (골드만삭스, 2023)</a:t>
            </a:r>
            <a:endParaRPr lang="en-US" sz="1200" dirty="0"/>
          </a:p>
        </p:txBody>
      </p:sp>
      <p:sp>
        <p:nvSpPr>
          <p:cNvPr id="8" name="job card 2"/>
          <p:cNvSpPr/>
          <p:nvPr/>
        </p:nvSpPr>
        <p:spPr>
          <a:xfrm>
            <a:off x="3291840" y="1143000"/>
            <a:ext cx="2560320" cy="2377440"/>
          </a:xfrm>
          <a:prstGeom prst="roundRect">
            <a:avLst>
              <a:gd name="adj" fmla="val 4615"/>
            </a:avLst>
          </a:prstGeom>
          <a:solidFill>
            <a:schemeClr val="tx2"/>
          </a:solidFill>
          <a:ln w="12700">
            <a:solidFill>
              <a:schemeClr val="accent6"/>
            </a:solidFill>
            <a:prstDash val="solid"/>
          </a:ln>
        </p:spPr>
      </p:sp>
      <p:sp>
        <p:nvSpPr>
          <p:cNvPr id="9" name="job 2 circle"/>
          <p:cNvSpPr/>
          <p:nvPr/>
        </p:nvSpPr>
        <p:spPr>
          <a:xfrm>
            <a:off x="3566160" y="1371600"/>
            <a:ext cx="548640" cy="548640"/>
          </a:xfrm>
          <a:prstGeom prst="ellipse">
            <a:avLst/>
          </a:prstGeom>
          <a:solidFill>
            <a:schemeClr val="accent3"/>
          </a:solidFill>
          <a:ln/>
        </p:spPr>
      </p:sp>
      <p:pic>
        <p:nvPicPr>
          <p:cNvPr id="10" name="job 2 icon" descr="job 2">    </p:cNvPr>
          <p:cNvPicPr>
            <a:picLocks noChangeAspect="1"/>
          </p:cNvPicPr>
          <p:nvPr/>
        </p:nvPicPr>
        <p:blipFill>
          <a:blip r:embed="rId2"/>
          <a:stretch>
            <a:fillRect/>
          </a:stretch>
        </p:blipFill>
        <p:spPr>
          <a:xfrm>
            <a:off x="3703320" y="1508760"/>
            <a:ext cx="274320" cy="274320"/>
          </a:xfrm>
          <a:prstGeom prst="rect">
            <a:avLst/>
          </a:prstGeom>
        </p:spPr>
      </p:pic>
      <p:sp>
        <p:nvSpPr>
          <p:cNvPr id="11" name="job number 2"/>
          <p:cNvSpPr txBox="1"/>
          <p:nvPr/>
        </p:nvSpPr>
        <p:spPr>
          <a:xfrm>
            <a:off x="3566160" y="2011680"/>
            <a:ext cx="2103120" cy="640080"/>
          </a:xfrm>
          <a:prstGeom prst="rect">
            <a:avLst/>
          </a:prstGeom>
          <a:noFill/>
          <a:ln/>
        </p:spPr>
        <p:txBody>
          <a:bodyPr wrap="square" lIns="0" tIns="0" rIns="0" bIns="0" rtlCol="0" anchor="ctr"/>
          <a:lstStyle/>
          <a:p>
            <a:pPr indent="0" marL="0">
              <a:buNone/>
            </a:pPr>
            <a:r>
              <a:rPr lang="en-US" sz="3200" b="1" dirty="0">
                <a:solidFill>
                  <a:schemeClr val="accent3"/>
                </a:solidFill>
              </a:rPr>
              <a:t>상위 10%</a:t>
            </a:r>
            <a:endParaRPr lang="en-US" sz="3200" dirty="0"/>
          </a:p>
        </p:txBody>
      </p:sp>
      <p:sp>
        <p:nvSpPr>
          <p:cNvPr id="12" name="job label 2"/>
          <p:cNvSpPr txBox="1"/>
          <p:nvPr/>
        </p:nvSpPr>
        <p:spPr>
          <a:xfrm>
            <a:off x="3566160" y="2697480"/>
            <a:ext cx="2103120" cy="731520"/>
          </a:xfrm>
          <a:prstGeom prst="rect">
            <a:avLst/>
          </a:prstGeom>
          <a:noFill/>
          <a:ln/>
        </p:spPr>
        <p:txBody>
          <a:bodyPr wrap="square" lIns="0" tIns="0" rIns="0" bIns="0" rtlCol="0" anchor="t"/>
          <a:lstStyle/>
          <a:p>
            <a:pPr indent="0" marL="0">
              <a:buNone/>
            </a:pPr>
            <a:r>
              <a:rPr lang="en-US" sz="1200" dirty="0">
                <a:solidFill>
                  <a:schemeClr val="bg1"/>
                </a:solidFill>
              </a:rPr>
              <a:t>GPT-4의 미국 변호사 시험</a:t>
            </a:r>
            <a:endParaRPr lang="en-US" sz="1200" dirty="0"/>
          </a:p>
          <a:p>
            <a:pPr indent="0" marL="0">
              <a:buNone/>
            </a:pPr>
            <a:r>
              <a:rPr lang="en-US" sz="1200" dirty="0">
                <a:solidFill>
                  <a:schemeClr val="bg1"/>
                </a:solidFill>
              </a:rPr>
              <a:t>점수 수준 (OpenAI 발표, 2023)</a:t>
            </a:r>
            <a:endParaRPr lang="en-US" sz="1200" dirty="0"/>
          </a:p>
        </p:txBody>
      </p:sp>
      <p:sp>
        <p:nvSpPr>
          <p:cNvPr id="13" name="job card 3"/>
          <p:cNvSpPr/>
          <p:nvPr/>
        </p:nvSpPr>
        <p:spPr>
          <a:xfrm>
            <a:off x="6126480" y="1143000"/>
            <a:ext cx="2560320" cy="2377440"/>
          </a:xfrm>
          <a:prstGeom prst="roundRect">
            <a:avLst>
              <a:gd name="adj" fmla="val 4615"/>
            </a:avLst>
          </a:prstGeom>
          <a:solidFill>
            <a:schemeClr val="tx2"/>
          </a:solidFill>
          <a:ln w="12700">
            <a:solidFill>
              <a:schemeClr val="accent6"/>
            </a:solidFill>
            <a:prstDash val="solid"/>
          </a:ln>
        </p:spPr>
      </p:sp>
      <p:sp>
        <p:nvSpPr>
          <p:cNvPr id="14" name="job 3 circle"/>
          <p:cNvSpPr/>
          <p:nvPr/>
        </p:nvSpPr>
        <p:spPr>
          <a:xfrm>
            <a:off x="6400800" y="1371600"/>
            <a:ext cx="548640" cy="548640"/>
          </a:xfrm>
          <a:prstGeom prst="ellipse">
            <a:avLst/>
          </a:prstGeom>
          <a:solidFill>
            <a:schemeClr val="accent1"/>
          </a:solidFill>
          <a:ln/>
        </p:spPr>
      </p:sp>
      <p:pic>
        <p:nvPicPr>
          <p:cNvPr id="15" name="job 3 icon" descr="job 3">    </p:cNvPr>
          <p:cNvPicPr>
            <a:picLocks noChangeAspect="1"/>
          </p:cNvPicPr>
          <p:nvPr/>
        </p:nvPicPr>
        <p:blipFill>
          <a:blip r:embed="rId3"/>
          <a:stretch>
            <a:fillRect/>
          </a:stretch>
        </p:blipFill>
        <p:spPr>
          <a:xfrm>
            <a:off x="6537960" y="1508760"/>
            <a:ext cx="274320" cy="274320"/>
          </a:xfrm>
          <a:prstGeom prst="rect">
            <a:avLst/>
          </a:prstGeom>
        </p:spPr>
      </p:pic>
      <p:sp>
        <p:nvSpPr>
          <p:cNvPr id="16" name="job number 3"/>
          <p:cNvSpPr txBox="1"/>
          <p:nvPr/>
        </p:nvSpPr>
        <p:spPr>
          <a:xfrm>
            <a:off x="6400800" y="2011680"/>
            <a:ext cx="2103120" cy="640080"/>
          </a:xfrm>
          <a:prstGeom prst="rect">
            <a:avLst/>
          </a:prstGeom>
          <a:noFill/>
          <a:ln/>
        </p:spPr>
        <p:txBody>
          <a:bodyPr wrap="square" lIns="0" tIns="0" rIns="0" bIns="0" rtlCol="0" anchor="ctr"/>
          <a:lstStyle/>
          <a:p>
            <a:pPr indent="0" marL="0">
              <a:buNone/>
            </a:pPr>
            <a:r>
              <a:rPr lang="en-US" sz="3200" b="1" dirty="0">
                <a:solidFill>
                  <a:schemeClr val="accent1"/>
                </a:solidFill>
              </a:rPr>
              <a:t>25% 이상</a:t>
            </a:r>
            <a:endParaRPr lang="en-US" sz="3200" dirty="0"/>
          </a:p>
        </p:txBody>
      </p:sp>
      <p:sp>
        <p:nvSpPr>
          <p:cNvPr id="17" name="job label 3"/>
          <p:cNvSpPr txBox="1"/>
          <p:nvPr/>
        </p:nvSpPr>
        <p:spPr>
          <a:xfrm>
            <a:off x="6400800" y="2697480"/>
            <a:ext cx="2103120" cy="731520"/>
          </a:xfrm>
          <a:prstGeom prst="rect">
            <a:avLst/>
          </a:prstGeom>
          <a:noFill/>
          <a:ln/>
        </p:spPr>
        <p:txBody>
          <a:bodyPr wrap="square" lIns="0" tIns="0" rIns="0" bIns="0" rtlCol="0" anchor="t"/>
          <a:lstStyle/>
          <a:p>
            <a:pPr indent="0" marL="0">
              <a:buNone/>
            </a:pPr>
            <a:r>
              <a:rPr lang="en-US" sz="1200" dirty="0">
                <a:solidFill>
                  <a:schemeClr val="bg1"/>
                </a:solidFill>
              </a:rPr>
              <a:t>구글의 새 코드 중 AI가</a:t>
            </a:r>
            <a:endParaRPr lang="en-US" sz="1200" dirty="0"/>
          </a:p>
          <a:p>
            <a:pPr indent="0" marL="0">
              <a:buNone/>
            </a:pPr>
            <a:r>
              <a:rPr lang="en-US" sz="1200" dirty="0">
                <a:solidFill>
                  <a:schemeClr val="bg1"/>
                </a:solidFill>
              </a:rPr>
              <a:t>만드는 비율 (구글 CEO, 2024)</a:t>
            </a:r>
            <a:endParaRPr lang="en-US" sz="1200" dirty="0"/>
          </a:p>
        </p:txBody>
      </p:sp>
      <p:sp>
        <p:nvSpPr>
          <p:cNvPr id="18" name="question card"/>
          <p:cNvSpPr/>
          <p:nvPr/>
        </p:nvSpPr>
        <p:spPr>
          <a:xfrm>
            <a:off x="457200" y="3749040"/>
            <a:ext cx="8229600" cy="731520"/>
          </a:xfrm>
          <a:prstGeom prst="roundRect">
            <a:avLst>
              <a:gd name="adj" fmla="val 15000"/>
            </a:avLst>
          </a:prstGeom>
          <a:solidFill>
            <a:schemeClr val="tx2"/>
          </a:solidFill>
          <a:ln w="12700">
            <a:solidFill>
              <a:schemeClr val="accent6"/>
            </a:solidFill>
            <a:prstDash val="solid"/>
          </a:ln>
        </p:spPr>
      </p:sp>
      <p:sp>
        <p:nvSpPr>
          <p:cNvPr id="19" name="hook question"/>
          <p:cNvSpPr txBox="1"/>
          <p:nvPr/>
        </p:nvSpPr>
        <p:spPr>
          <a:xfrm>
            <a:off x="685800" y="3749040"/>
            <a:ext cx="7772400" cy="731520"/>
          </a:xfrm>
          <a:prstGeom prst="rect">
            <a:avLst/>
          </a:prstGeom>
          <a:noFill/>
          <a:ln/>
        </p:spPr>
        <p:txBody>
          <a:bodyPr wrap="square" lIns="0" tIns="0" rIns="0" bIns="0" rtlCol="0" anchor="ctr"/>
          <a:lstStyle/>
          <a:p>
            <a:pPr indent="0" marL="0">
              <a:buNone/>
            </a:pPr>
            <a:r>
              <a:rPr lang="en-US" sz="1800" dirty="0">
                <a:solidFill>
                  <a:schemeClr val="bg2"/>
                </a:solidFill>
              </a:rPr>
              <a:t>개발자 · 변호사 · 의사도 안전하지 않다면 → </a:t>
            </a:r>
            <a:pPr indent="0" marL="0">
              <a:buNone/>
            </a:pPr>
            <a:r>
              <a:rPr lang="en-US" sz="1800" b="1" dirty="0">
                <a:solidFill>
                  <a:schemeClr val="accent2"/>
                </a:solidFill>
              </a:rPr>
              <a:t>운동선수와 프로게이머는?</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2016년, 바둑이 먼저 AI에게 졌다</a:t>
            </a:r>
            <a:endParaRPr lang="en-US" sz="3000" dirty="0"/>
          </a:p>
        </p:txBody>
      </p:sp>
      <p:sp>
        <p:nvSpPr>
          <p:cNvPr id="3" name="alphago card"/>
          <p:cNvSpPr/>
          <p:nvPr/>
        </p:nvSpPr>
        <p:spPr>
          <a:xfrm>
            <a:off x="457200" y="1143000"/>
            <a:ext cx="3840480" cy="3291840"/>
          </a:xfrm>
          <a:prstGeom prst="roundRect">
            <a:avLst>
              <a:gd name="adj" fmla="val 3333"/>
            </a:avLst>
          </a:prstGeom>
          <a:solidFill>
            <a:schemeClr val="tx2"/>
          </a:solidFill>
          <a:ln w="12700">
            <a:solidFill>
              <a:schemeClr val="accent6"/>
            </a:solidFill>
            <a:prstDash val="solid"/>
          </a:ln>
        </p:spPr>
      </p:sp>
      <p:sp>
        <p:nvSpPr>
          <p:cNvPr id="4" name="alphago circle"/>
          <p:cNvSpPr/>
          <p:nvPr/>
        </p:nvSpPr>
        <p:spPr>
          <a:xfrm>
            <a:off x="731520" y="1371600"/>
            <a:ext cx="731520" cy="731520"/>
          </a:xfrm>
          <a:prstGeom prst="ellipse">
            <a:avLst/>
          </a:prstGeom>
          <a:solidFill>
            <a:schemeClr val="accent3"/>
          </a:solidFill>
          <a:ln/>
        </p:spPr>
      </p:sp>
      <p:pic>
        <p:nvPicPr>
          <p:cNvPr id="5" name="alphago icon" descr="alphago">    </p:cNvPr>
          <p:cNvPicPr>
            <a:picLocks noChangeAspect="1"/>
          </p:cNvPicPr>
          <p:nvPr/>
        </p:nvPicPr>
        <p:blipFill>
          <a:blip r:embed="rId1"/>
          <a:stretch>
            <a:fillRect/>
          </a:stretch>
        </p:blipFill>
        <p:spPr>
          <a:xfrm>
            <a:off x="914400" y="1554480"/>
            <a:ext cx="365760" cy="365760"/>
          </a:xfrm>
          <a:prstGeom prst="rect">
            <a:avLst/>
          </a:prstGeom>
        </p:spPr>
      </p:pic>
      <p:sp>
        <p:nvSpPr>
          <p:cNvPr id="6" name="alphago score"/>
          <p:cNvSpPr txBox="1"/>
          <p:nvPr/>
        </p:nvSpPr>
        <p:spPr>
          <a:xfrm>
            <a:off x="731520" y="2240280"/>
            <a:ext cx="3291840" cy="914400"/>
          </a:xfrm>
          <a:prstGeom prst="rect">
            <a:avLst/>
          </a:prstGeom>
          <a:noFill/>
          <a:ln/>
        </p:spPr>
        <p:txBody>
          <a:bodyPr wrap="square" lIns="0" tIns="0" rIns="0" bIns="0" rtlCol="0" anchor="ctr"/>
          <a:lstStyle/>
          <a:p>
            <a:pPr indent="0" marL="0">
              <a:buNone/>
            </a:pPr>
            <a:r>
              <a:rPr lang="en-US" sz="6000" b="1" dirty="0">
                <a:solidFill>
                  <a:schemeClr val="accent3"/>
                </a:solidFill>
              </a:rPr>
              <a:t>4 : 1</a:t>
            </a:r>
            <a:endParaRPr lang="en-US" sz="6000" dirty="0"/>
          </a:p>
        </p:txBody>
      </p:sp>
      <p:sp>
        <p:nvSpPr>
          <p:cNvPr id="7" name="alphago caption"/>
          <p:cNvSpPr txBox="1"/>
          <p:nvPr/>
        </p:nvSpPr>
        <p:spPr>
          <a:xfrm>
            <a:off x="731520" y="3246120"/>
            <a:ext cx="3291840" cy="731520"/>
          </a:xfrm>
          <a:prstGeom prst="rect">
            <a:avLst/>
          </a:prstGeom>
          <a:noFill/>
          <a:ln/>
        </p:spPr>
        <p:txBody>
          <a:bodyPr wrap="square" lIns="0" tIns="0" rIns="0" bIns="0" rtlCol="0" anchor="t"/>
          <a:lstStyle/>
          <a:p>
            <a:pPr indent="0" marL="0">
              <a:buNone/>
            </a:pPr>
            <a:r>
              <a:rPr lang="en-US" sz="1500" dirty="0">
                <a:solidFill>
                  <a:schemeClr val="bg1"/>
                </a:solidFill>
              </a:rPr>
              <a:t>알파고 vs 이세돌 9단</a:t>
            </a:r>
            <a:endParaRPr lang="en-US" sz="1500" dirty="0"/>
          </a:p>
          <a:p>
            <a:pPr indent="0" marL="0">
              <a:buNone/>
            </a:pPr>
            <a:r>
              <a:rPr lang="en-US" sz="1500" dirty="0">
                <a:solidFill>
                  <a:schemeClr val="bg1"/>
                </a:solidFill>
              </a:rPr>
              <a:t>(2016년 3월, 서울)</a:t>
            </a:r>
            <a:endParaRPr lang="en-US" sz="1500" dirty="0"/>
          </a:p>
        </p:txBody>
      </p:sp>
      <p:sp>
        <p:nvSpPr>
          <p:cNvPr id="8" name="prediction head"/>
          <p:cNvSpPr txBox="1"/>
          <p:nvPr/>
        </p:nvSpPr>
        <p:spPr>
          <a:xfrm>
            <a:off x="4572000" y="1143000"/>
            <a:ext cx="4114800" cy="365760"/>
          </a:xfrm>
          <a:prstGeom prst="rect">
            <a:avLst/>
          </a:prstGeom>
          <a:noFill/>
          <a:ln/>
        </p:spPr>
        <p:txBody>
          <a:bodyPr wrap="square" lIns="0" tIns="0" rIns="0" bIns="0" rtlCol="0" anchor="ctr"/>
          <a:lstStyle/>
          <a:p>
            <a:pPr indent="0" marL="0">
              <a:buNone/>
            </a:pPr>
            <a:r>
              <a:rPr lang="en-US" sz="1600" b="1" dirty="0">
                <a:solidFill>
                  <a:schemeClr val="accent2"/>
                </a:solidFill>
              </a:rPr>
              <a:t>그때 사람들의 예측</a:t>
            </a:r>
            <a:endParaRPr lang="en-US" sz="1600" dirty="0"/>
          </a:p>
        </p:txBody>
      </p:sp>
      <p:sp>
        <p:nvSpPr>
          <p:cNvPr id="9" name="prediction 1"/>
          <p:cNvSpPr/>
          <p:nvPr/>
        </p:nvSpPr>
        <p:spPr>
          <a:xfrm>
            <a:off x="4572000" y="1600200"/>
            <a:ext cx="4114800" cy="502920"/>
          </a:xfrm>
          <a:prstGeom prst="roundRect">
            <a:avLst>
              <a:gd name="adj" fmla="val 21818"/>
            </a:avLst>
          </a:prstGeom>
          <a:solidFill>
            <a:schemeClr val="tx2"/>
          </a:solidFill>
          <a:ln w="12700">
            <a:solidFill>
              <a:schemeClr val="accent6"/>
            </a:solidFill>
            <a:prstDash val="solid"/>
          </a:ln>
        </p:spPr>
      </p:sp>
      <p:sp>
        <p:nvSpPr>
          <p:cNvPr id="10" name="prediction text 1"/>
          <p:cNvSpPr txBox="1"/>
          <p:nvPr/>
        </p:nvSpPr>
        <p:spPr>
          <a:xfrm>
            <a:off x="4754880" y="1600200"/>
            <a:ext cx="3840480" cy="502920"/>
          </a:xfrm>
          <a:prstGeom prst="rect">
            <a:avLst/>
          </a:prstGeom>
          <a:noFill/>
          <a:ln/>
        </p:spPr>
        <p:txBody>
          <a:bodyPr wrap="square" lIns="0" tIns="0" rIns="0" bIns="0" rtlCol="0" anchor="ctr"/>
          <a:lstStyle/>
          <a:p>
            <a:pPr indent="0" marL="0">
              <a:buNone/>
            </a:pPr>
            <a:r>
              <a:rPr lang="en-US" sz="1400" dirty="0">
                <a:solidFill>
                  <a:schemeClr val="bg1"/>
                </a:solidFill>
              </a:rPr>
              <a:t>"이제 바둑은 끝났다"</a:t>
            </a:r>
            <a:endParaRPr lang="en-US" sz="1400" dirty="0"/>
          </a:p>
        </p:txBody>
      </p:sp>
      <p:sp>
        <p:nvSpPr>
          <p:cNvPr id="11" name="prediction 2"/>
          <p:cNvSpPr/>
          <p:nvPr/>
        </p:nvSpPr>
        <p:spPr>
          <a:xfrm>
            <a:off x="4572000" y="2240280"/>
            <a:ext cx="4114800" cy="502920"/>
          </a:xfrm>
          <a:prstGeom prst="roundRect">
            <a:avLst>
              <a:gd name="adj" fmla="val 21818"/>
            </a:avLst>
          </a:prstGeom>
          <a:solidFill>
            <a:schemeClr val="tx2"/>
          </a:solidFill>
          <a:ln w="12700">
            <a:solidFill>
              <a:schemeClr val="accent6"/>
            </a:solidFill>
            <a:prstDash val="solid"/>
          </a:ln>
        </p:spPr>
      </p:sp>
      <p:sp>
        <p:nvSpPr>
          <p:cNvPr id="12" name="prediction text 2"/>
          <p:cNvSpPr txBox="1"/>
          <p:nvPr/>
        </p:nvSpPr>
        <p:spPr>
          <a:xfrm>
            <a:off x="4754880" y="2240280"/>
            <a:ext cx="3840480" cy="502920"/>
          </a:xfrm>
          <a:prstGeom prst="rect">
            <a:avLst/>
          </a:prstGeom>
          <a:noFill/>
          <a:ln/>
        </p:spPr>
        <p:txBody>
          <a:bodyPr wrap="square" lIns="0" tIns="0" rIns="0" bIns="0" rtlCol="0" anchor="ctr"/>
          <a:lstStyle/>
          <a:p>
            <a:pPr indent="0" marL="0">
              <a:buNone/>
            </a:pPr>
            <a:r>
              <a:rPr lang="en-US" sz="1400" dirty="0">
                <a:solidFill>
                  <a:schemeClr val="bg1"/>
                </a:solidFill>
              </a:rPr>
              <a:t>"AI보다 못하는 사람 바둑을 누가 보나?"</a:t>
            </a:r>
            <a:endParaRPr lang="en-US" sz="1400" dirty="0"/>
          </a:p>
        </p:txBody>
      </p:sp>
      <p:sp>
        <p:nvSpPr>
          <p:cNvPr id="13" name="prediction 3"/>
          <p:cNvSpPr/>
          <p:nvPr/>
        </p:nvSpPr>
        <p:spPr>
          <a:xfrm>
            <a:off x="4572000" y="2880360"/>
            <a:ext cx="4114800" cy="502920"/>
          </a:xfrm>
          <a:prstGeom prst="roundRect">
            <a:avLst>
              <a:gd name="adj" fmla="val 21818"/>
            </a:avLst>
          </a:prstGeom>
          <a:solidFill>
            <a:schemeClr val="tx2"/>
          </a:solidFill>
          <a:ln w="12700">
            <a:solidFill>
              <a:schemeClr val="accent6"/>
            </a:solidFill>
            <a:prstDash val="solid"/>
          </a:ln>
        </p:spPr>
      </p:sp>
      <p:sp>
        <p:nvSpPr>
          <p:cNvPr id="14" name="prediction text 3"/>
          <p:cNvSpPr txBox="1"/>
          <p:nvPr/>
        </p:nvSpPr>
        <p:spPr>
          <a:xfrm>
            <a:off x="4754880" y="2880360"/>
            <a:ext cx="3840480" cy="502920"/>
          </a:xfrm>
          <a:prstGeom prst="rect">
            <a:avLst/>
          </a:prstGeom>
          <a:noFill/>
          <a:ln/>
        </p:spPr>
        <p:txBody>
          <a:bodyPr wrap="square" lIns="0" tIns="0" rIns="0" bIns="0" rtlCol="0" anchor="ctr"/>
          <a:lstStyle/>
          <a:p>
            <a:pPr indent="0" marL="0">
              <a:buNone/>
            </a:pPr>
            <a:r>
              <a:rPr lang="en-US" sz="1400" dirty="0">
                <a:solidFill>
                  <a:schemeClr val="bg1"/>
                </a:solidFill>
              </a:rPr>
              <a:t>"프로 기사라는 직업은 사라질 것이다"</a:t>
            </a:r>
            <a:endParaRPr lang="en-US" sz="1400" dirty="0"/>
          </a:p>
        </p:txBody>
      </p:sp>
      <p:sp>
        <p:nvSpPr>
          <p:cNvPr id="15" name="lee sedol quote"/>
          <p:cNvSpPr txBox="1"/>
          <p:nvPr/>
        </p:nvSpPr>
        <p:spPr>
          <a:xfrm>
            <a:off x="4572000" y="3566160"/>
            <a:ext cx="4114800" cy="822960"/>
          </a:xfrm>
          <a:prstGeom prst="rect">
            <a:avLst/>
          </a:prstGeom>
          <a:noFill/>
          <a:ln/>
        </p:spPr>
        <p:txBody>
          <a:bodyPr wrap="square" lIns="0" tIns="0" rIns="0" bIns="0" rtlCol="0" anchor="t"/>
          <a:lstStyle/>
          <a:p>
            <a:pPr indent="0" marL="0">
              <a:buNone/>
            </a:pPr>
            <a:r>
              <a:rPr lang="en-US" sz="1400" b="1" dirty="0">
                <a:solidFill>
                  <a:schemeClr val="accent4"/>
                </a:solidFill>
              </a:rPr>
              <a:t>이세돌 9단 (2019년 은퇴하며)</a:t>
            </a:r>
            <a:endParaRPr lang="en-US" sz="1400" dirty="0"/>
          </a:p>
          <a:p>
            <a:pPr indent="0" marL="0">
              <a:buNone/>
            </a:pPr>
            <a:r>
              <a:rPr lang="en-US" sz="1400" dirty="0">
                <a:solidFill>
                  <a:schemeClr val="bg1"/>
                </a:solidFill>
              </a:rPr>
              <a:t>"1등이 되어도 이길 수 없는 존재가 있다"</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10년 뒤 바둑: 의외로 큰 변화가 없었다</a:t>
            </a:r>
            <a:endParaRPr lang="en-US" sz="3000" dirty="0"/>
          </a:p>
        </p:txBody>
      </p:sp>
      <p:sp>
        <p:nvSpPr>
          <p:cNvPr id="3" name="go row 1"/>
          <p:cNvSpPr/>
          <p:nvPr/>
        </p:nvSpPr>
        <p:spPr>
          <a:xfrm>
            <a:off x="457200" y="1143000"/>
            <a:ext cx="5120640" cy="960120"/>
          </a:xfrm>
          <a:prstGeom prst="roundRect">
            <a:avLst>
              <a:gd name="adj" fmla="val 11429"/>
            </a:avLst>
          </a:prstGeom>
          <a:solidFill>
            <a:schemeClr val="tx2"/>
          </a:solidFill>
          <a:ln w="12700">
            <a:solidFill>
              <a:schemeClr val="accent6"/>
            </a:solidFill>
            <a:prstDash val="solid"/>
          </a:ln>
        </p:spPr>
      </p:sp>
      <p:sp>
        <p:nvSpPr>
          <p:cNvPr id="4" name="go 1 circle"/>
          <p:cNvSpPr/>
          <p:nvPr/>
        </p:nvSpPr>
        <p:spPr>
          <a:xfrm>
            <a:off x="640080" y="1325880"/>
            <a:ext cx="594360" cy="594360"/>
          </a:xfrm>
          <a:prstGeom prst="ellipse">
            <a:avLst/>
          </a:prstGeom>
          <a:solidFill>
            <a:schemeClr val="accent5"/>
          </a:solidFill>
          <a:ln/>
        </p:spPr>
      </p:sp>
      <p:pic>
        <p:nvPicPr>
          <p:cNvPr id="5" name="go 1 icon" descr="go 1">    </p:cNvPr>
          <p:cNvPicPr>
            <a:picLocks noChangeAspect="1"/>
          </p:cNvPicPr>
          <p:nvPr/>
        </p:nvPicPr>
        <p:blipFill>
          <a:blip r:embed="rId1"/>
          <a:stretch>
            <a:fillRect/>
          </a:stretch>
        </p:blipFill>
        <p:spPr>
          <a:xfrm>
            <a:off x="788670" y="1474470"/>
            <a:ext cx="297180" cy="297180"/>
          </a:xfrm>
          <a:prstGeom prst="rect">
            <a:avLst/>
          </a:prstGeom>
        </p:spPr>
      </p:pic>
      <p:sp>
        <p:nvSpPr>
          <p:cNvPr id="6" name="go head 1"/>
          <p:cNvSpPr txBox="1"/>
          <p:nvPr/>
        </p:nvSpPr>
        <p:spPr>
          <a:xfrm>
            <a:off x="1417320" y="1234440"/>
            <a:ext cx="4023360" cy="320040"/>
          </a:xfrm>
          <a:prstGeom prst="rect">
            <a:avLst/>
          </a:prstGeom>
          <a:noFill/>
          <a:ln/>
        </p:spPr>
        <p:txBody>
          <a:bodyPr wrap="square" lIns="0" tIns="0" rIns="0" bIns="0" rtlCol="0" anchor="ctr"/>
          <a:lstStyle/>
          <a:p>
            <a:pPr indent="0" marL="0">
              <a:buNone/>
            </a:pPr>
            <a:r>
              <a:rPr lang="en-US" sz="1500" b="1" dirty="0">
                <a:solidFill>
                  <a:schemeClr val="bg1"/>
                </a:solidFill>
              </a:rPr>
              <a:t>프로 기사와 대회는 그대로</a:t>
            </a:r>
            <a:endParaRPr lang="en-US" sz="1500" dirty="0"/>
          </a:p>
        </p:txBody>
      </p:sp>
      <p:sp>
        <p:nvSpPr>
          <p:cNvPr id="7" name="go desc 1"/>
          <p:cNvSpPr txBox="1"/>
          <p:nvPr/>
        </p:nvSpPr>
        <p:spPr>
          <a:xfrm>
            <a:off x="1417320" y="1572768"/>
            <a:ext cx="4023360" cy="457200"/>
          </a:xfrm>
          <a:prstGeom prst="rect">
            <a:avLst/>
          </a:prstGeom>
          <a:noFill/>
          <a:ln/>
        </p:spPr>
        <p:txBody>
          <a:bodyPr wrap="square" lIns="0" tIns="0" rIns="0" bIns="0" rtlCol="0" anchor="t"/>
          <a:lstStyle/>
          <a:p>
            <a:pPr indent="0" marL="0">
              <a:buNone/>
            </a:pPr>
            <a:r>
              <a:rPr lang="en-US" sz="1200" dirty="0">
                <a:solidFill>
                  <a:schemeClr val="bg2"/>
                </a:solidFill>
              </a:rPr>
              <a:t>프로 기사는 지금도 활동하고, 바둑 리그와 세계 대회도 계속 열린다</a:t>
            </a:r>
            <a:endParaRPr lang="en-US" sz="1200" dirty="0"/>
          </a:p>
        </p:txBody>
      </p:sp>
      <p:sp>
        <p:nvSpPr>
          <p:cNvPr id="8" name="go row 2"/>
          <p:cNvSpPr/>
          <p:nvPr/>
        </p:nvSpPr>
        <p:spPr>
          <a:xfrm>
            <a:off x="457200" y="2240280"/>
            <a:ext cx="5120640" cy="960120"/>
          </a:xfrm>
          <a:prstGeom prst="roundRect">
            <a:avLst>
              <a:gd name="adj" fmla="val 11429"/>
            </a:avLst>
          </a:prstGeom>
          <a:solidFill>
            <a:schemeClr val="tx2"/>
          </a:solidFill>
          <a:ln w="12700">
            <a:solidFill>
              <a:schemeClr val="accent6"/>
            </a:solidFill>
            <a:prstDash val="solid"/>
          </a:ln>
        </p:spPr>
      </p:sp>
      <p:sp>
        <p:nvSpPr>
          <p:cNvPr id="9" name="go 2 circle"/>
          <p:cNvSpPr/>
          <p:nvPr/>
        </p:nvSpPr>
        <p:spPr>
          <a:xfrm>
            <a:off x="640080" y="2423160"/>
            <a:ext cx="594360" cy="594360"/>
          </a:xfrm>
          <a:prstGeom prst="ellipse">
            <a:avLst/>
          </a:prstGeom>
          <a:solidFill>
            <a:schemeClr val="accent1"/>
          </a:solidFill>
          <a:ln/>
        </p:spPr>
      </p:sp>
      <p:pic>
        <p:nvPicPr>
          <p:cNvPr id="10" name="go 2 icon" descr="go 2">    </p:cNvPr>
          <p:cNvPicPr>
            <a:picLocks noChangeAspect="1"/>
          </p:cNvPicPr>
          <p:nvPr/>
        </p:nvPicPr>
        <p:blipFill>
          <a:blip r:embed="rId2"/>
          <a:stretch>
            <a:fillRect/>
          </a:stretch>
        </p:blipFill>
        <p:spPr>
          <a:xfrm>
            <a:off x="788670" y="2571750"/>
            <a:ext cx="297180" cy="297180"/>
          </a:xfrm>
          <a:prstGeom prst="rect">
            <a:avLst/>
          </a:prstGeom>
        </p:spPr>
      </p:pic>
      <p:sp>
        <p:nvSpPr>
          <p:cNvPr id="11" name="go head 2"/>
          <p:cNvSpPr txBox="1"/>
          <p:nvPr/>
        </p:nvSpPr>
        <p:spPr>
          <a:xfrm>
            <a:off x="1417320" y="2331720"/>
            <a:ext cx="4023360" cy="320040"/>
          </a:xfrm>
          <a:prstGeom prst="rect">
            <a:avLst/>
          </a:prstGeom>
          <a:noFill/>
          <a:ln/>
        </p:spPr>
        <p:txBody>
          <a:bodyPr wrap="square" lIns="0" tIns="0" rIns="0" bIns="0" rtlCol="0" anchor="ctr"/>
          <a:lstStyle/>
          <a:p>
            <a:pPr indent="0" marL="0">
              <a:buNone/>
            </a:pPr>
            <a:r>
              <a:rPr lang="en-US" sz="1500" b="1" dirty="0">
                <a:solidFill>
                  <a:schemeClr val="bg1"/>
                </a:solidFill>
              </a:rPr>
              <a:t>바뀐 것은 '훈련 방법'뿐</a:t>
            </a:r>
            <a:endParaRPr lang="en-US" sz="1500" dirty="0"/>
          </a:p>
        </p:txBody>
      </p:sp>
      <p:sp>
        <p:nvSpPr>
          <p:cNvPr id="12" name="go desc 2"/>
          <p:cNvSpPr txBox="1"/>
          <p:nvPr/>
        </p:nvSpPr>
        <p:spPr>
          <a:xfrm>
            <a:off x="1417320" y="2670048"/>
            <a:ext cx="4023360" cy="457200"/>
          </a:xfrm>
          <a:prstGeom prst="rect">
            <a:avLst/>
          </a:prstGeom>
          <a:noFill/>
          <a:ln/>
        </p:spPr>
        <p:txBody>
          <a:bodyPr wrap="square" lIns="0" tIns="0" rIns="0" bIns="0" rtlCol="0" anchor="t"/>
          <a:lstStyle/>
          <a:p>
            <a:pPr indent="0" marL="0">
              <a:buNone/>
            </a:pPr>
            <a:r>
              <a:rPr lang="en-US" sz="1200" dirty="0">
                <a:solidFill>
                  <a:schemeClr val="bg2"/>
                </a:solidFill>
              </a:rPr>
              <a:t>최정상급 기사 신진서 9단은 AI로 공부해 '신공지능'이라는 별명을 얻었다</a:t>
            </a:r>
            <a:endParaRPr lang="en-US" sz="1200" dirty="0"/>
          </a:p>
        </p:txBody>
      </p:sp>
      <p:sp>
        <p:nvSpPr>
          <p:cNvPr id="13" name="go row 3"/>
          <p:cNvSpPr/>
          <p:nvPr/>
        </p:nvSpPr>
        <p:spPr>
          <a:xfrm>
            <a:off x="457200" y="3337560"/>
            <a:ext cx="5120640" cy="960120"/>
          </a:xfrm>
          <a:prstGeom prst="roundRect">
            <a:avLst>
              <a:gd name="adj" fmla="val 11429"/>
            </a:avLst>
          </a:prstGeom>
          <a:solidFill>
            <a:schemeClr val="tx2"/>
          </a:solidFill>
          <a:ln w="12700">
            <a:solidFill>
              <a:schemeClr val="accent6"/>
            </a:solidFill>
            <a:prstDash val="solid"/>
          </a:ln>
        </p:spPr>
      </p:sp>
      <p:sp>
        <p:nvSpPr>
          <p:cNvPr id="14" name="go 3 circle"/>
          <p:cNvSpPr/>
          <p:nvPr/>
        </p:nvSpPr>
        <p:spPr>
          <a:xfrm>
            <a:off x="640080" y="3520440"/>
            <a:ext cx="594360" cy="594360"/>
          </a:xfrm>
          <a:prstGeom prst="ellipse">
            <a:avLst/>
          </a:prstGeom>
          <a:solidFill>
            <a:schemeClr val="accent4"/>
          </a:solidFill>
          <a:ln/>
        </p:spPr>
      </p:sp>
      <p:pic>
        <p:nvPicPr>
          <p:cNvPr id="15" name="go 3 icon" descr="go 3">    </p:cNvPr>
          <p:cNvPicPr>
            <a:picLocks noChangeAspect="1"/>
          </p:cNvPicPr>
          <p:nvPr/>
        </p:nvPicPr>
        <p:blipFill>
          <a:blip r:embed="rId3"/>
          <a:stretch>
            <a:fillRect/>
          </a:stretch>
        </p:blipFill>
        <p:spPr>
          <a:xfrm>
            <a:off x="788670" y="3669030"/>
            <a:ext cx="297180" cy="297180"/>
          </a:xfrm>
          <a:prstGeom prst="rect">
            <a:avLst/>
          </a:prstGeom>
        </p:spPr>
      </p:pic>
      <p:sp>
        <p:nvSpPr>
          <p:cNvPr id="16" name="go head 3"/>
          <p:cNvSpPr txBox="1"/>
          <p:nvPr/>
        </p:nvSpPr>
        <p:spPr>
          <a:xfrm>
            <a:off x="1417320" y="3429000"/>
            <a:ext cx="4023360" cy="320040"/>
          </a:xfrm>
          <a:prstGeom prst="rect">
            <a:avLst/>
          </a:prstGeom>
          <a:noFill/>
          <a:ln/>
        </p:spPr>
        <p:txBody>
          <a:bodyPr wrap="square" lIns="0" tIns="0" rIns="0" bIns="0" rtlCol="0" anchor="ctr"/>
          <a:lstStyle/>
          <a:p>
            <a:pPr indent="0" marL="0">
              <a:buNone/>
            </a:pPr>
            <a:r>
              <a:rPr lang="en-US" sz="1500" b="1" dirty="0">
                <a:solidFill>
                  <a:schemeClr val="bg1"/>
                </a:solidFill>
              </a:rPr>
              <a:t>사람은 오히려 더 강해졌다</a:t>
            </a:r>
            <a:endParaRPr lang="en-US" sz="1500" dirty="0"/>
          </a:p>
        </p:txBody>
      </p:sp>
      <p:sp>
        <p:nvSpPr>
          <p:cNvPr id="17" name="go desc 3"/>
          <p:cNvSpPr txBox="1"/>
          <p:nvPr/>
        </p:nvSpPr>
        <p:spPr>
          <a:xfrm>
            <a:off x="1417320" y="3767328"/>
            <a:ext cx="4023360" cy="457200"/>
          </a:xfrm>
          <a:prstGeom prst="rect">
            <a:avLst/>
          </a:prstGeom>
          <a:noFill/>
          <a:ln/>
        </p:spPr>
        <p:txBody>
          <a:bodyPr wrap="square" lIns="0" tIns="0" rIns="0" bIns="0" rtlCol="0" anchor="t"/>
          <a:lstStyle/>
          <a:p>
            <a:pPr indent="0" marL="0">
              <a:buNone/>
            </a:pPr>
            <a:r>
              <a:rPr lang="en-US" sz="1200" dirty="0">
                <a:solidFill>
                  <a:schemeClr val="bg2"/>
                </a:solidFill>
              </a:rPr>
              <a:t>AI 등장 뒤 프로 기사의 수가 더 좋아지고, 더 새로워졌다 (PNAS, 2023)</a:t>
            </a:r>
            <a:endParaRPr lang="en-US" sz="1200" dirty="0"/>
          </a:p>
        </p:txBody>
      </p:sp>
      <p:sp>
        <p:nvSpPr>
          <p:cNvPr id="18" name="pnas card"/>
          <p:cNvSpPr/>
          <p:nvPr/>
        </p:nvSpPr>
        <p:spPr>
          <a:xfrm>
            <a:off x="5852160" y="1143000"/>
            <a:ext cx="2834640" cy="3154680"/>
          </a:xfrm>
          <a:prstGeom prst="roundRect">
            <a:avLst>
              <a:gd name="adj" fmla="val 3871"/>
            </a:avLst>
          </a:prstGeom>
          <a:solidFill>
            <a:schemeClr val="tx2"/>
          </a:solidFill>
          <a:ln w="12700">
            <a:solidFill>
              <a:schemeClr val="accent6"/>
            </a:solidFill>
            <a:prstDash val="solid"/>
          </a:ln>
        </p:spPr>
      </p:sp>
      <p:sp>
        <p:nvSpPr>
          <p:cNvPr id="19" name="pnas label"/>
          <p:cNvSpPr txBox="1"/>
          <p:nvPr/>
        </p:nvSpPr>
        <p:spPr>
          <a:xfrm>
            <a:off x="6035040" y="1280160"/>
            <a:ext cx="2468880" cy="274320"/>
          </a:xfrm>
          <a:prstGeom prst="rect">
            <a:avLst/>
          </a:prstGeom>
          <a:noFill/>
          <a:ln/>
        </p:spPr>
        <p:txBody>
          <a:bodyPr wrap="square" lIns="0" tIns="0" rIns="0" bIns="0" rtlCol="0" anchor="ctr"/>
          <a:lstStyle/>
          <a:p>
            <a:pPr indent="0" marL="0">
              <a:buNone/>
            </a:pPr>
            <a:r>
              <a:rPr lang="en-US" sz="1200" b="1" dirty="0">
                <a:solidFill>
                  <a:schemeClr val="accent4"/>
                </a:solidFill>
              </a:rPr>
              <a:t>PNAS 연구 (2023)</a:t>
            </a:r>
            <a:endParaRPr lang="en-US" sz="1200" dirty="0"/>
          </a:p>
        </p:txBody>
      </p:sp>
      <p:sp>
        <p:nvSpPr>
          <p:cNvPr id="20" name="pnas number"/>
          <p:cNvSpPr txBox="1"/>
          <p:nvPr/>
        </p:nvSpPr>
        <p:spPr>
          <a:xfrm>
            <a:off x="6035040" y="1645920"/>
            <a:ext cx="2468880" cy="731520"/>
          </a:xfrm>
          <a:prstGeom prst="rect">
            <a:avLst/>
          </a:prstGeom>
          <a:noFill/>
          <a:ln/>
        </p:spPr>
        <p:txBody>
          <a:bodyPr wrap="square" lIns="0" tIns="0" rIns="0" bIns="0" rtlCol="0" anchor="ctr"/>
          <a:lstStyle/>
          <a:p>
            <a:pPr indent="0" marL="0">
              <a:buNone/>
            </a:pPr>
            <a:r>
              <a:rPr lang="en-US" sz="4400" b="1" dirty="0">
                <a:solidFill>
                  <a:schemeClr val="accent4"/>
                </a:solidFill>
              </a:rPr>
              <a:t>580만</a:t>
            </a:r>
            <a:endParaRPr lang="en-US" sz="4400" dirty="0"/>
          </a:p>
        </p:txBody>
      </p:sp>
      <p:sp>
        <p:nvSpPr>
          <p:cNvPr id="21" name="pnas desc"/>
          <p:cNvSpPr txBox="1"/>
          <p:nvPr/>
        </p:nvSpPr>
        <p:spPr>
          <a:xfrm>
            <a:off x="6035040" y="2377440"/>
            <a:ext cx="2468880" cy="548640"/>
          </a:xfrm>
          <a:prstGeom prst="rect">
            <a:avLst/>
          </a:prstGeom>
          <a:noFill/>
          <a:ln/>
        </p:spPr>
        <p:txBody>
          <a:bodyPr wrap="square" lIns="0" tIns="0" rIns="0" bIns="0" rtlCol="0" anchor="t"/>
          <a:lstStyle/>
          <a:p>
            <a:pPr indent="0" marL="0">
              <a:buNone/>
            </a:pPr>
            <a:r>
              <a:rPr lang="en-US" sz="1200" dirty="0">
                <a:solidFill>
                  <a:schemeClr val="bg1"/>
                </a:solidFill>
              </a:rPr>
              <a:t>1950~2021년 프로 기사가 둔 수를 AI로 분석</a:t>
            </a:r>
            <a:endParaRPr lang="en-US" sz="1200" dirty="0"/>
          </a:p>
        </p:txBody>
      </p:sp>
      <p:sp>
        <p:nvSpPr>
          <p:cNvPr id="22" name="pnas conclusion"/>
          <p:cNvSpPr txBox="1"/>
          <p:nvPr/>
        </p:nvSpPr>
        <p:spPr>
          <a:xfrm>
            <a:off x="6035040" y="3063240"/>
            <a:ext cx="2468880" cy="1097280"/>
          </a:xfrm>
          <a:prstGeom prst="rect">
            <a:avLst/>
          </a:prstGeom>
          <a:noFill/>
          <a:ln/>
        </p:spPr>
        <p:txBody>
          <a:bodyPr wrap="square" lIns="0" tIns="0" rIns="0" bIns="0" rtlCol="0" anchor="t"/>
          <a:lstStyle/>
          <a:p>
            <a:pPr indent="0" marL="0">
              <a:buNone/>
            </a:pPr>
            <a:r>
              <a:rPr lang="en-US" sz="1400" b="1" dirty="0">
                <a:solidFill>
                  <a:schemeClr val="accent1"/>
                </a:solidFill>
              </a:rPr>
              <a:t>결론</a:t>
            </a:r>
            <a:endParaRPr lang="en-US" sz="1400" dirty="0"/>
          </a:p>
          <a:p>
            <a:pPr indent="0" marL="0">
              <a:buNone/>
            </a:pPr>
            <a:r>
              <a:rPr lang="en-US" sz="1400" dirty="0">
                <a:solidFill>
                  <a:schemeClr val="bg1"/>
                </a:solidFill>
              </a:rPr>
              <a:t>AI는 바둑을 없애지 않고, 사람을 더 강하게 만들었다</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체스와 e스포츠도 마찬가지</a:t>
            </a:r>
            <a:endParaRPr lang="en-US" sz="3000" dirty="0"/>
          </a:p>
        </p:txBody>
      </p:sp>
      <p:sp>
        <p:nvSpPr>
          <p:cNvPr id="3" name="체스 circle"/>
          <p:cNvSpPr/>
          <p:nvPr/>
        </p:nvSpPr>
        <p:spPr>
          <a:xfrm>
            <a:off x="457200" y="1554480"/>
            <a:ext cx="685800" cy="685800"/>
          </a:xfrm>
          <a:prstGeom prst="ellipse">
            <a:avLst/>
          </a:prstGeom>
          <a:solidFill>
            <a:schemeClr val="accent3"/>
          </a:solidFill>
          <a:ln/>
        </p:spPr>
      </p:sp>
      <p:pic>
        <p:nvPicPr>
          <p:cNvPr id="4" name="체스 icon" descr="체스">    </p:cNvPr>
          <p:cNvPicPr>
            <a:picLocks noChangeAspect="1"/>
          </p:cNvPicPr>
          <p:nvPr/>
        </p:nvPicPr>
        <p:blipFill>
          <a:blip r:embed="rId1"/>
          <a:stretch>
            <a:fillRect/>
          </a:stretch>
        </p:blipFill>
        <p:spPr>
          <a:xfrm>
            <a:off x="628650" y="1725930"/>
            <a:ext cx="342900" cy="342900"/>
          </a:xfrm>
          <a:prstGeom prst="rect">
            <a:avLst/>
          </a:prstGeom>
        </p:spPr>
      </p:pic>
      <p:sp>
        <p:nvSpPr>
          <p:cNvPr id="5" name="체스 label"/>
          <p:cNvSpPr txBox="1"/>
          <p:nvPr/>
        </p:nvSpPr>
        <p:spPr>
          <a:xfrm>
            <a:off x="320040" y="2286000"/>
            <a:ext cx="960120" cy="274320"/>
          </a:xfrm>
          <a:prstGeom prst="rect">
            <a:avLst/>
          </a:prstGeom>
          <a:noFill/>
          <a:ln/>
        </p:spPr>
        <p:txBody>
          <a:bodyPr wrap="square" lIns="0" tIns="0" rIns="0" bIns="0" rtlCol="0" anchor="ctr"/>
          <a:lstStyle/>
          <a:p>
            <a:pPr algn="ctr" indent="0" marL="0">
              <a:buNone/>
            </a:pPr>
            <a:r>
              <a:rPr lang="en-US" sz="1400" b="1" dirty="0">
                <a:solidFill>
                  <a:schemeClr val="bg1"/>
                </a:solidFill>
              </a:rPr>
              <a:t>체스</a:t>
            </a:r>
            <a:endParaRPr lang="en-US" sz="1400" dirty="0"/>
          </a:p>
        </p:txBody>
      </p:sp>
      <p:sp>
        <p:nvSpPr>
          <p:cNvPr id="6" name="체스 before card"/>
          <p:cNvSpPr/>
          <p:nvPr/>
        </p:nvSpPr>
        <p:spPr>
          <a:xfrm>
            <a:off x="1463040" y="1143000"/>
            <a:ext cx="3200400" cy="1463040"/>
          </a:xfrm>
          <a:prstGeom prst="roundRect">
            <a:avLst>
              <a:gd name="adj" fmla="val 7500"/>
            </a:avLst>
          </a:prstGeom>
          <a:solidFill>
            <a:schemeClr val="tx2"/>
          </a:solidFill>
          <a:ln w="12700">
            <a:solidFill>
              <a:schemeClr val="accent6"/>
            </a:solidFill>
            <a:prstDash val="solid"/>
          </a:ln>
        </p:spPr>
      </p:sp>
      <p:sp>
        <p:nvSpPr>
          <p:cNvPr id="7" name="체스 before tag"/>
          <p:cNvSpPr txBox="1"/>
          <p:nvPr/>
        </p:nvSpPr>
        <p:spPr>
          <a:xfrm>
            <a:off x="1645920" y="1252728"/>
            <a:ext cx="2834640" cy="274320"/>
          </a:xfrm>
          <a:prstGeom prst="rect">
            <a:avLst/>
          </a:prstGeom>
          <a:noFill/>
          <a:ln/>
        </p:spPr>
        <p:txBody>
          <a:bodyPr wrap="square" lIns="0" tIns="0" rIns="0" bIns="0" rtlCol="0" anchor="ctr"/>
          <a:lstStyle/>
          <a:p>
            <a:pPr indent="0" marL="0">
              <a:buNone/>
            </a:pPr>
            <a:r>
              <a:rPr lang="en-US" sz="1200" b="1" dirty="0">
                <a:solidFill>
                  <a:schemeClr val="accent2"/>
                </a:solidFill>
              </a:rPr>
              <a:t>AI가 이겼다</a:t>
            </a:r>
            <a:endParaRPr lang="en-US" sz="1200" dirty="0"/>
          </a:p>
        </p:txBody>
      </p:sp>
      <p:sp>
        <p:nvSpPr>
          <p:cNvPr id="8" name="체스 before year"/>
          <p:cNvSpPr txBox="1"/>
          <p:nvPr/>
        </p:nvSpPr>
        <p:spPr>
          <a:xfrm>
            <a:off x="1645920" y="1527048"/>
            <a:ext cx="2834640" cy="502920"/>
          </a:xfrm>
          <a:prstGeom prst="rect">
            <a:avLst/>
          </a:prstGeom>
          <a:noFill/>
          <a:ln/>
        </p:spPr>
        <p:txBody>
          <a:bodyPr wrap="square" lIns="0" tIns="0" rIns="0" bIns="0" rtlCol="0" anchor="ctr"/>
          <a:lstStyle/>
          <a:p>
            <a:pPr indent="0" marL="0">
              <a:buNone/>
            </a:pPr>
            <a:r>
              <a:rPr lang="en-US" sz="2800" b="1" dirty="0">
                <a:solidFill>
                  <a:schemeClr val="bg1"/>
                </a:solidFill>
              </a:rPr>
              <a:t>1997</a:t>
            </a:r>
            <a:endParaRPr lang="en-US" sz="2800" dirty="0"/>
          </a:p>
        </p:txBody>
      </p:sp>
      <p:sp>
        <p:nvSpPr>
          <p:cNvPr id="9" name="체스 before desc"/>
          <p:cNvSpPr txBox="1"/>
          <p:nvPr/>
        </p:nvSpPr>
        <p:spPr>
          <a:xfrm>
            <a:off x="1645920" y="2039112"/>
            <a:ext cx="2834640" cy="502920"/>
          </a:xfrm>
          <a:prstGeom prst="rect">
            <a:avLst/>
          </a:prstGeom>
          <a:noFill/>
          <a:ln/>
        </p:spPr>
        <p:txBody>
          <a:bodyPr wrap="square" lIns="0" tIns="0" rIns="0" bIns="0" rtlCol="0" anchor="t"/>
          <a:lstStyle/>
          <a:p>
            <a:pPr indent="0" marL="0">
              <a:buNone/>
            </a:pPr>
            <a:r>
              <a:rPr lang="en-US" sz="1200" dirty="0">
                <a:solidFill>
                  <a:schemeClr val="bg2"/>
                </a:solidFill>
              </a:rPr>
              <a:t>AI '딥블루'가</a:t>
            </a:r>
            <a:endParaRPr lang="en-US" sz="1200" dirty="0"/>
          </a:p>
          <a:p>
            <a:pPr indent="0" marL="0">
              <a:buNone/>
            </a:pPr>
            <a:r>
              <a:rPr lang="en-US" sz="1200" dirty="0">
                <a:solidFill>
                  <a:schemeClr val="bg2"/>
                </a:solidFill>
              </a:rPr>
              <a:t>세계 챔피언에게 승리</a:t>
            </a:r>
            <a:endParaRPr lang="en-US" sz="1200" dirty="0"/>
          </a:p>
        </p:txBody>
      </p:sp>
      <p:sp>
        <p:nvSpPr>
          <p:cNvPr id="10" name="체스 arrow circle"/>
          <p:cNvSpPr/>
          <p:nvPr/>
        </p:nvSpPr>
        <p:spPr>
          <a:xfrm>
            <a:off x="4773168" y="1691640"/>
            <a:ext cx="365760" cy="365760"/>
          </a:xfrm>
          <a:prstGeom prst="ellipse">
            <a:avLst/>
          </a:prstGeom>
          <a:solidFill>
            <a:schemeClr val="accent6"/>
          </a:solidFill>
          <a:ln/>
        </p:spPr>
      </p:sp>
      <p:pic>
        <p:nvPicPr>
          <p:cNvPr id="11" name="체스 arrow icon" descr="체스 arrow">    </p:cNvPr>
          <p:cNvPicPr>
            <a:picLocks noChangeAspect="1"/>
          </p:cNvPicPr>
          <p:nvPr/>
        </p:nvPicPr>
        <p:blipFill>
          <a:blip r:embed="rId2"/>
          <a:stretch>
            <a:fillRect/>
          </a:stretch>
        </p:blipFill>
        <p:spPr>
          <a:xfrm>
            <a:off x="4864608" y="1783080"/>
            <a:ext cx="182880" cy="182880"/>
          </a:xfrm>
          <a:prstGeom prst="rect">
            <a:avLst/>
          </a:prstGeom>
        </p:spPr>
      </p:pic>
      <p:sp>
        <p:nvSpPr>
          <p:cNvPr id="12" name="체스 after card"/>
          <p:cNvSpPr/>
          <p:nvPr/>
        </p:nvSpPr>
        <p:spPr>
          <a:xfrm>
            <a:off x="5257800" y="1143000"/>
            <a:ext cx="3429000" cy="1463040"/>
          </a:xfrm>
          <a:prstGeom prst="roundRect">
            <a:avLst>
              <a:gd name="adj" fmla="val 7500"/>
            </a:avLst>
          </a:prstGeom>
          <a:solidFill>
            <a:schemeClr val="tx2"/>
          </a:solidFill>
          <a:ln w="12700">
            <a:solidFill>
              <a:schemeClr val="accent6"/>
            </a:solidFill>
            <a:prstDash val="solid"/>
          </a:ln>
        </p:spPr>
      </p:sp>
      <p:sp>
        <p:nvSpPr>
          <p:cNvPr id="13" name="체스 after tag"/>
          <p:cNvSpPr txBox="1"/>
          <p:nvPr/>
        </p:nvSpPr>
        <p:spPr>
          <a:xfrm>
            <a:off x="5440680" y="1252728"/>
            <a:ext cx="3108960" cy="274320"/>
          </a:xfrm>
          <a:prstGeom prst="rect">
            <a:avLst/>
          </a:prstGeom>
          <a:noFill/>
          <a:ln/>
        </p:spPr>
        <p:txBody>
          <a:bodyPr wrap="square" lIns="0" tIns="0" rIns="0" bIns="0" rtlCol="0" anchor="ctr"/>
          <a:lstStyle/>
          <a:p>
            <a:pPr indent="0" marL="0">
              <a:buNone/>
            </a:pPr>
            <a:r>
              <a:rPr lang="en-US" sz="1200" b="1" dirty="0">
                <a:solidFill>
                  <a:schemeClr val="accent5"/>
                </a:solidFill>
              </a:rPr>
              <a:t>그래도 사람들은 본다</a:t>
            </a:r>
            <a:endParaRPr lang="en-US" sz="1200" dirty="0"/>
          </a:p>
        </p:txBody>
      </p:sp>
      <p:sp>
        <p:nvSpPr>
          <p:cNvPr id="14" name="체스 after number"/>
          <p:cNvSpPr txBox="1"/>
          <p:nvPr/>
        </p:nvSpPr>
        <p:spPr>
          <a:xfrm>
            <a:off x="5440680" y="1527048"/>
            <a:ext cx="3108960" cy="502920"/>
          </a:xfrm>
          <a:prstGeom prst="rect">
            <a:avLst/>
          </a:prstGeom>
          <a:noFill/>
          <a:ln/>
        </p:spPr>
        <p:txBody>
          <a:bodyPr wrap="square" lIns="0" tIns="0" rIns="0" bIns="0" rtlCol="0" anchor="ctr"/>
          <a:lstStyle/>
          <a:p>
            <a:pPr indent="0" marL="0">
              <a:buNone/>
            </a:pPr>
            <a:r>
              <a:rPr lang="en-US" sz="2800" b="1" dirty="0">
                <a:solidFill>
                  <a:schemeClr val="accent3"/>
                </a:solidFill>
              </a:rPr>
              <a:t>1억 명</a:t>
            </a:r>
            <a:endParaRPr lang="en-US" sz="2800" dirty="0"/>
          </a:p>
        </p:txBody>
      </p:sp>
      <p:sp>
        <p:nvSpPr>
          <p:cNvPr id="15" name="체스 after desc"/>
          <p:cNvSpPr txBox="1"/>
          <p:nvPr/>
        </p:nvSpPr>
        <p:spPr>
          <a:xfrm>
            <a:off x="5440680" y="2039112"/>
            <a:ext cx="3108960" cy="502920"/>
          </a:xfrm>
          <a:prstGeom prst="rect">
            <a:avLst/>
          </a:prstGeom>
          <a:noFill/>
          <a:ln/>
        </p:spPr>
        <p:txBody>
          <a:bodyPr wrap="square" lIns="0" tIns="0" rIns="0" bIns="0" rtlCol="0" anchor="t"/>
          <a:lstStyle/>
          <a:p>
            <a:pPr indent="0" marL="0">
              <a:buNone/>
            </a:pPr>
            <a:r>
              <a:rPr lang="en-US" sz="1200" dirty="0">
                <a:solidFill>
                  <a:schemeClr val="bg2"/>
                </a:solidFill>
              </a:rPr>
              <a:t>Chess.com 회원 수</a:t>
            </a:r>
            <a:endParaRPr lang="en-US" sz="1200" dirty="0"/>
          </a:p>
          <a:p>
            <a:pPr indent="0" marL="0">
              <a:buNone/>
            </a:pPr>
            <a:r>
              <a:rPr lang="en-US" sz="1200" dirty="0">
                <a:solidFill>
                  <a:schemeClr val="bg2"/>
                </a:solidFill>
              </a:rPr>
              <a:t>(2022년 12월)</a:t>
            </a:r>
            <a:endParaRPr lang="en-US" sz="1200" dirty="0"/>
          </a:p>
        </p:txBody>
      </p:sp>
      <p:sp>
        <p:nvSpPr>
          <p:cNvPr id="16" name="e스포츠 circle"/>
          <p:cNvSpPr/>
          <p:nvPr/>
        </p:nvSpPr>
        <p:spPr>
          <a:xfrm>
            <a:off x="457200" y="3246120"/>
            <a:ext cx="685800" cy="685800"/>
          </a:xfrm>
          <a:prstGeom prst="ellipse">
            <a:avLst/>
          </a:prstGeom>
          <a:solidFill>
            <a:schemeClr val="accent1"/>
          </a:solidFill>
          <a:ln/>
        </p:spPr>
      </p:sp>
      <p:pic>
        <p:nvPicPr>
          <p:cNvPr id="17" name="e스포츠 icon" descr="e스포츠">    </p:cNvPr>
          <p:cNvPicPr>
            <a:picLocks noChangeAspect="1"/>
          </p:cNvPicPr>
          <p:nvPr/>
        </p:nvPicPr>
        <p:blipFill>
          <a:blip r:embed="rId3"/>
          <a:stretch>
            <a:fillRect/>
          </a:stretch>
        </p:blipFill>
        <p:spPr>
          <a:xfrm>
            <a:off x="628650" y="3417570"/>
            <a:ext cx="342900" cy="342900"/>
          </a:xfrm>
          <a:prstGeom prst="rect">
            <a:avLst/>
          </a:prstGeom>
        </p:spPr>
      </p:pic>
      <p:sp>
        <p:nvSpPr>
          <p:cNvPr id="18" name="e스포츠 label"/>
          <p:cNvSpPr txBox="1"/>
          <p:nvPr/>
        </p:nvSpPr>
        <p:spPr>
          <a:xfrm>
            <a:off x="320040" y="3977640"/>
            <a:ext cx="960120" cy="274320"/>
          </a:xfrm>
          <a:prstGeom prst="rect">
            <a:avLst/>
          </a:prstGeom>
          <a:noFill/>
          <a:ln/>
        </p:spPr>
        <p:txBody>
          <a:bodyPr wrap="square" lIns="0" tIns="0" rIns="0" bIns="0" rtlCol="0" anchor="ctr"/>
          <a:lstStyle/>
          <a:p>
            <a:pPr algn="ctr" indent="0" marL="0">
              <a:buNone/>
            </a:pPr>
            <a:r>
              <a:rPr lang="en-US" sz="1400" b="1" dirty="0">
                <a:solidFill>
                  <a:schemeClr val="bg1"/>
                </a:solidFill>
              </a:rPr>
              <a:t>e스포츠</a:t>
            </a:r>
            <a:endParaRPr lang="en-US" sz="1400" dirty="0"/>
          </a:p>
        </p:txBody>
      </p:sp>
      <p:sp>
        <p:nvSpPr>
          <p:cNvPr id="19" name="e스포츠 before card"/>
          <p:cNvSpPr/>
          <p:nvPr/>
        </p:nvSpPr>
        <p:spPr>
          <a:xfrm>
            <a:off x="1463040" y="2834640"/>
            <a:ext cx="3200400" cy="1463040"/>
          </a:xfrm>
          <a:prstGeom prst="roundRect">
            <a:avLst>
              <a:gd name="adj" fmla="val 7500"/>
            </a:avLst>
          </a:prstGeom>
          <a:solidFill>
            <a:schemeClr val="tx2"/>
          </a:solidFill>
          <a:ln w="12700">
            <a:solidFill>
              <a:schemeClr val="accent6"/>
            </a:solidFill>
            <a:prstDash val="solid"/>
          </a:ln>
        </p:spPr>
      </p:sp>
      <p:sp>
        <p:nvSpPr>
          <p:cNvPr id="20" name="e스포츠 before tag"/>
          <p:cNvSpPr txBox="1"/>
          <p:nvPr/>
        </p:nvSpPr>
        <p:spPr>
          <a:xfrm>
            <a:off x="1645920" y="2944368"/>
            <a:ext cx="2834640" cy="274320"/>
          </a:xfrm>
          <a:prstGeom prst="rect">
            <a:avLst/>
          </a:prstGeom>
          <a:noFill/>
          <a:ln/>
        </p:spPr>
        <p:txBody>
          <a:bodyPr wrap="square" lIns="0" tIns="0" rIns="0" bIns="0" rtlCol="0" anchor="ctr"/>
          <a:lstStyle/>
          <a:p>
            <a:pPr indent="0" marL="0">
              <a:buNone/>
            </a:pPr>
            <a:r>
              <a:rPr lang="en-US" sz="1200" b="1" dirty="0">
                <a:solidFill>
                  <a:schemeClr val="accent2"/>
                </a:solidFill>
              </a:rPr>
              <a:t>AI가 이겼다</a:t>
            </a:r>
            <a:endParaRPr lang="en-US" sz="1200" dirty="0"/>
          </a:p>
        </p:txBody>
      </p:sp>
      <p:sp>
        <p:nvSpPr>
          <p:cNvPr id="21" name="e스포츠 before year"/>
          <p:cNvSpPr txBox="1"/>
          <p:nvPr/>
        </p:nvSpPr>
        <p:spPr>
          <a:xfrm>
            <a:off x="1645920" y="3218688"/>
            <a:ext cx="2834640" cy="502920"/>
          </a:xfrm>
          <a:prstGeom prst="rect">
            <a:avLst/>
          </a:prstGeom>
          <a:noFill/>
          <a:ln/>
        </p:spPr>
        <p:txBody>
          <a:bodyPr wrap="square" lIns="0" tIns="0" rIns="0" bIns="0" rtlCol="0" anchor="ctr"/>
          <a:lstStyle/>
          <a:p>
            <a:pPr indent="0" marL="0">
              <a:buNone/>
            </a:pPr>
            <a:r>
              <a:rPr lang="en-US" sz="2800" b="1" dirty="0">
                <a:solidFill>
                  <a:schemeClr val="bg1"/>
                </a:solidFill>
              </a:rPr>
              <a:t>2019</a:t>
            </a:r>
            <a:endParaRPr lang="en-US" sz="2800" dirty="0"/>
          </a:p>
        </p:txBody>
      </p:sp>
      <p:sp>
        <p:nvSpPr>
          <p:cNvPr id="22" name="e스포츠 before desc"/>
          <p:cNvSpPr txBox="1"/>
          <p:nvPr/>
        </p:nvSpPr>
        <p:spPr>
          <a:xfrm>
            <a:off x="1645920" y="3730752"/>
            <a:ext cx="2834640" cy="502920"/>
          </a:xfrm>
          <a:prstGeom prst="rect">
            <a:avLst/>
          </a:prstGeom>
          <a:noFill/>
          <a:ln/>
        </p:spPr>
        <p:txBody>
          <a:bodyPr wrap="square" lIns="0" tIns="0" rIns="0" bIns="0" rtlCol="0" anchor="t"/>
          <a:lstStyle/>
          <a:p>
            <a:pPr indent="0" marL="0">
              <a:buNone/>
            </a:pPr>
            <a:r>
              <a:rPr lang="en-US" sz="1200" dirty="0">
                <a:solidFill>
                  <a:schemeClr val="bg2"/>
                </a:solidFill>
              </a:rPr>
              <a:t>AI 'OpenAI Five'가</a:t>
            </a:r>
            <a:endParaRPr lang="en-US" sz="1200" dirty="0"/>
          </a:p>
          <a:p>
            <a:pPr indent="0" marL="0">
              <a:buNone/>
            </a:pPr>
            <a:r>
              <a:rPr lang="en-US" sz="1200" dirty="0">
                <a:solidFill>
                  <a:schemeClr val="bg2"/>
                </a:solidFill>
              </a:rPr>
              <a:t>도타 2 세계 챔피언 팀에 승리</a:t>
            </a:r>
            <a:endParaRPr lang="en-US" sz="1200" dirty="0"/>
          </a:p>
        </p:txBody>
      </p:sp>
      <p:sp>
        <p:nvSpPr>
          <p:cNvPr id="23" name="e스포츠 arrow circle"/>
          <p:cNvSpPr/>
          <p:nvPr/>
        </p:nvSpPr>
        <p:spPr>
          <a:xfrm>
            <a:off x="4773168" y="3383280"/>
            <a:ext cx="365760" cy="365760"/>
          </a:xfrm>
          <a:prstGeom prst="ellipse">
            <a:avLst/>
          </a:prstGeom>
          <a:solidFill>
            <a:schemeClr val="accent6"/>
          </a:solidFill>
          <a:ln/>
        </p:spPr>
      </p:sp>
      <p:pic>
        <p:nvPicPr>
          <p:cNvPr id="24" name="e스포츠 arrow icon" descr="e스포츠 arrow">    </p:cNvPr>
          <p:cNvPicPr>
            <a:picLocks noChangeAspect="1"/>
          </p:cNvPicPr>
          <p:nvPr/>
        </p:nvPicPr>
        <p:blipFill>
          <a:blip r:embed="rId4"/>
          <a:stretch>
            <a:fillRect/>
          </a:stretch>
        </p:blipFill>
        <p:spPr>
          <a:xfrm>
            <a:off x="4864608" y="3474720"/>
            <a:ext cx="182880" cy="182880"/>
          </a:xfrm>
          <a:prstGeom prst="rect">
            <a:avLst/>
          </a:prstGeom>
        </p:spPr>
      </p:pic>
      <p:sp>
        <p:nvSpPr>
          <p:cNvPr id="25" name="e스포츠 after card"/>
          <p:cNvSpPr/>
          <p:nvPr/>
        </p:nvSpPr>
        <p:spPr>
          <a:xfrm>
            <a:off x="5257800" y="2834640"/>
            <a:ext cx="3429000" cy="1463040"/>
          </a:xfrm>
          <a:prstGeom prst="roundRect">
            <a:avLst>
              <a:gd name="adj" fmla="val 7500"/>
            </a:avLst>
          </a:prstGeom>
          <a:solidFill>
            <a:schemeClr val="tx2"/>
          </a:solidFill>
          <a:ln w="12700">
            <a:solidFill>
              <a:schemeClr val="accent6"/>
            </a:solidFill>
            <a:prstDash val="solid"/>
          </a:ln>
        </p:spPr>
      </p:sp>
      <p:sp>
        <p:nvSpPr>
          <p:cNvPr id="26" name="e스포츠 after tag"/>
          <p:cNvSpPr txBox="1"/>
          <p:nvPr/>
        </p:nvSpPr>
        <p:spPr>
          <a:xfrm>
            <a:off x="5440680" y="2944368"/>
            <a:ext cx="3108960" cy="274320"/>
          </a:xfrm>
          <a:prstGeom prst="rect">
            <a:avLst/>
          </a:prstGeom>
          <a:noFill/>
          <a:ln/>
        </p:spPr>
        <p:txBody>
          <a:bodyPr wrap="square" lIns="0" tIns="0" rIns="0" bIns="0" rtlCol="0" anchor="ctr"/>
          <a:lstStyle/>
          <a:p>
            <a:pPr indent="0" marL="0">
              <a:buNone/>
            </a:pPr>
            <a:r>
              <a:rPr lang="en-US" sz="1200" b="1" dirty="0">
                <a:solidFill>
                  <a:schemeClr val="accent5"/>
                </a:solidFill>
              </a:rPr>
              <a:t>그래도 사람들은 본다</a:t>
            </a:r>
            <a:endParaRPr lang="en-US" sz="1200" dirty="0"/>
          </a:p>
        </p:txBody>
      </p:sp>
      <p:sp>
        <p:nvSpPr>
          <p:cNvPr id="27" name="e스포츠 after number"/>
          <p:cNvSpPr txBox="1"/>
          <p:nvPr/>
        </p:nvSpPr>
        <p:spPr>
          <a:xfrm>
            <a:off x="5440680" y="3218688"/>
            <a:ext cx="3108960" cy="502920"/>
          </a:xfrm>
          <a:prstGeom prst="rect">
            <a:avLst/>
          </a:prstGeom>
          <a:noFill/>
          <a:ln/>
        </p:spPr>
        <p:txBody>
          <a:bodyPr wrap="square" lIns="0" tIns="0" rIns="0" bIns="0" rtlCol="0" anchor="ctr"/>
          <a:lstStyle/>
          <a:p>
            <a:pPr indent="0" marL="0">
              <a:buNone/>
            </a:pPr>
            <a:r>
              <a:rPr lang="en-US" sz="2800" b="1" dirty="0">
                <a:solidFill>
                  <a:schemeClr val="accent1"/>
                </a:solidFill>
              </a:rPr>
              <a:t>690만 명</a:t>
            </a:r>
            <a:endParaRPr lang="en-US" sz="2800" dirty="0"/>
          </a:p>
        </p:txBody>
      </p:sp>
      <p:sp>
        <p:nvSpPr>
          <p:cNvPr id="28" name="e스포츠 after desc"/>
          <p:cNvSpPr txBox="1"/>
          <p:nvPr/>
        </p:nvSpPr>
        <p:spPr>
          <a:xfrm>
            <a:off x="5440680" y="3730752"/>
            <a:ext cx="3108960" cy="502920"/>
          </a:xfrm>
          <a:prstGeom prst="rect">
            <a:avLst/>
          </a:prstGeom>
          <a:noFill/>
          <a:ln/>
        </p:spPr>
        <p:txBody>
          <a:bodyPr wrap="square" lIns="0" tIns="0" rIns="0" bIns="0" rtlCol="0" anchor="t"/>
          <a:lstStyle/>
          <a:p>
            <a:pPr indent="0" marL="0">
              <a:buNone/>
            </a:pPr>
            <a:r>
              <a:rPr lang="en-US" sz="1200" dirty="0">
                <a:solidFill>
                  <a:schemeClr val="bg2"/>
                </a:solidFill>
              </a:rPr>
              <a:t>2024 롤드컵 결승 최고 동시</a:t>
            </a:r>
            <a:endParaRPr lang="en-US" sz="1200" dirty="0"/>
          </a:p>
          <a:p>
            <a:pPr indent="0" marL="0">
              <a:buNone/>
            </a:pPr>
            <a:r>
              <a:rPr lang="en-US" sz="1200" dirty="0">
                <a:solidFill>
                  <a:schemeClr val="bg2"/>
                </a:solidFill>
              </a:rPr>
              <a:t>시청자 (T1 vs BLG, 중국 제외)</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사실 기계는 오래전에 이미 이겼다</a:t>
            </a:r>
            <a:endParaRPr lang="en-US" sz="3000" dirty="0"/>
          </a:p>
        </p:txBody>
      </p:sp>
      <p:sp>
        <p:nvSpPr>
          <p:cNvPr id="3" name="machine header"/>
          <p:cNvSpPr txBox="1"/>
          <p:nvPr/>
        </p:nvSpPr>
        <p:spPr>
          <a:xfrm>
            <a:off x="457200" y="1051560"/>
            <a:ext cx="3749040" cy="320040"/>
          </a:xfrm>
          <a:prstGeom prst="rect">
            <a:avLst/>
          </a:prstGeom>
          <a:noFill/>
          <a:ln/>
        </p:spPr>
        <p:txBody>
          <a:bodyPr wrap="square" lIns="0" tIns="0" rIns="0" bIns="0" rtlCol="0" anchor="ctr"/>
          <a:lstStyle/>
          <a:p>
            <a:pPr indent="0" marL="0">
              <a:buNone/>
            </a:pPr>
            <a:r>
              <a:rPr lang="en-US" sz="1400" b="1" dirty="0">
                <a:solidFill>
                  <a:schemeClr val="bg2"/>
                </a:solidFill>
              </a:rPr>
              <a:t>기계 (더 잘한다)</a:t>
            </a:r>
            <a:endParaRPr lang="en-US" sz="1400" dirty="0"/>
          </a:p>
        </p:txBody>
      </p:sp>
      <p:sp>
        <p:nvSpPr>
          <p:cNvPr id="4" name="human header"/>
          <p:cNvSpPr txBox="1"/>
          <p:nvPr/>
        </p:nvSpPr>
        <p:spPr>
          <a:xfrm>
            <a:off x="4937760" y="1051560"/>
            <a:ext cx="3749040" cy="320040"/>
          </a:xfrm>
          <a:prstGeom prst="rect">
            <a:avLst/>
          </a:prstGeom>
          <a:noFill/>
          <a:ln/>
        </p:spPr>
        <p:txBody>
          <a:bodyPr wrap="square" lIns="0" tIns="0" rIns="0" bIns="0" rtlCol="0" anchor="ctr"/>
          <a:lstStyle/>
          <a:p>
            <a:pPr indent="0" marL="0">
              <a:buNone/>
            </a:pPr>
            <a:r>
              <a:rPr lang="en-US" sz="1400" b="1" dirty="0">
                <a:solidFill>
                  <a:schemeClr val="accent1"/>
                </a:solidFill>
              </a:rPr>
              <a:t>사람 (그래도 우리가 보는 것)</a:t>
            </a:r>
            <a:endParaRPr lang="en-US" sz="1400" dirty="0"/>
          </a:p>
        </p:txBody>
      </p:sp>
      <p:sp>
        <p:nvSpPr>
          <p:cNvPr id="5" name="machine card 1"/>
          <p:cNvSpPr/>
          <p:nvPr/>
        </p:nvSpPr>
        <p:spPr>
          <a:xfrm>
            <a:off x="457200" y="1463040"/>
            <a:ext cx="3749040" cy="731520"/>
          </a:xfrm>
          <a:prstGeom prst="roundRect">
            <a:avLst>
              <a:gd name="adj" fmla="val 15000"/>
            </a:avLst>
          </a:prstGeom>
          <a:solidFill>
            <a:schemeClr val="tx2"/>
          </a:solidFill>
          <a:ln w="12700">
            <a:solidFill>
              <a:schemeClr val="accent6"/>
            </a:solidFill>
            <a:prstDash val="solid"/>
          </a:ln>
        </p:spPr>
      </p:sp>
      <p:sp>
        <p:nvSpPr>
          <p:cNvPr id="6" name="machine 1 circle"/>
          <p:cNvSpPr/>
          <p:nvPr/>
        </p:nvSpPr>
        <p:spPr>
          <a:xfrm>
            <a:off x="594360" y="1581912"/>
            <a:ext cx="493776" cy="493776"/>
          </a:xfrm>
          <a:prstGeom prst="ellipse">
            <a:avLst/>
          </a:prstGeom>
          <a:solidFill>
            <a:schemeClr val="bg2"/>
          </a:solidFill>
          <a:ln/>
        </p:spPr>
      </p:sp>
      <p:pic>
        <p:nvPicPr>
          <p:cNvPr id="7" name="machine 1 icon" descr="machine 1">    </p:cNvPr>
          <p:cNvPicPr>
            <a:picLocks noChangeAspect="1"/>
          </p:cNvPicPr>
          <p:nvPr/>
        </p:nvPicPr>
        <p:blipFill>
          <a:blip r:embed="rId1"/>
          <a:stretch>
            <a:fillRect/>
          </a:stretch>
        </p:blipFill>
        <p:spPr>
          <a:xfrm>
            <a:off x="717804" y="1705356"/>
            <a:ext cx="246888" cy="246888"/>
          </a:xfrm>
          <a:prstGeom prst="rect">
            <a:avLst/>
          </a:prstGeom>
        </p:spPr>
      </p:pic>
      <p:sp>
        <p:nvSpPr>
          <p:cNvPr id="8" name="machine name 1"/>
          <p:cNvSpPr txBox="1"/>
          <p:nvPr/>
        </p:nvSpPr>
        <p:spPr>
          <a:xfrm>
            <a:off x="1234440" y="1527048"/>
            <a:ext cx="2834640" cy="301752"/>
          </a:xfrm>
          <a:prstGeom prst="rect">
            <a:avLst/>
          </a:prstGeom>
          <a:noFill/>
          <a:ln/>
        </p:spPr>
        <p:txBody>
          <a:bodyPr wrap="square" lIns="0" tIns="0" rIns="0" bIns="0" rtlCol="0" anchor="ctr"/>
          <a:lstStyle/>
          <a:p>
            <a:pPr indent="0" marL="0">
              <a:buNone/>
            </a:pPr>
            <a:r>
              <a:rPr lang="en-US" sz="1400" b="1" dirty="0">
                <a:solidFill>
                  <a:schemeClr val="bg1"/>
                </a:solidFill>
              </a:rPr>
              <a:t>자동차</a:t>
            </a:r>
            <a:endParaRPr lang="en-US" sz="1400" dirty="0"/>
          </a:p>
        </p:txBody>
      </p:sp>
      <p:sp>
        <p:nvSpPr>
          <p:cNvPr id="9" name="machine desc 1"/>
          <p:cNvSpPr txBox="1"/>
          <p:nvPr/>
        </p:nvSpPr>
        <p:spPr>
          <a:xfrm>
            <a:off x="1234440" y="1828800"/>
            <a:ext cx="2834640" cy="301752"/>
          </a:xfrm>
          <a:prstGeom prst="rect">
            <a:avLst/>
          </a:prstGeom>
          <a:noFill/>
          <a:ln/>
        </p:spPr>
        <p:txBody>
          <a:bodyPr wrap="square" lIns="0" tIns="0" rIns="0" bIns="0" rtlCol="0" anchor="ctr"/>
          <a:lstStyle/>
          <a:p>
            <a:pPr indent="0" marL="0">
              <a:buNone/>
            </a:pPr>
            <a:r>
              <a:rPr lang="en-US" sz="1200" dirty="0">
                <a:solidFill>
                  <a:schemeClr val="bg2"/>
                </a:solidFill>
              </a:rPr>
              <a:t>사람보다 훨씬 빠르게 달린다</a:t>
            </a:r>
            <a:endParaRPr lang="en-US" sz="1200" dirty="0"/>
          </a:p>
        </p:txBody>
      </p:sp>
      <p:sp>
        <p:nvSpPr>
          <p:cNvPr id="10" name="vs 1"/>
          <p:cNvSpPr txBox="1"/>
          <p:nvPr/>
        </p:nvSpPr>
        <p:spPr>
          <a:xfrm>
            <a:off x="4251960" y="1463040"/>
            <a:ext cx="640080" cy="731520"/>
          </a:xfrm>
          <a:prstGeom prst="rect">
            <a:avLst/>
          </a:prstGeom>
          <a:noFill/>
          <a:ln/>
        </p:spPr>
        <p:txBody>
          <a:bodyPr wrap="square" lIns="0" tIns="0" rIns="0" bIns="0" rtlCol="0" anchor="ctr"/>
          <a:lstStyle/>
          <a:p>
            <a:pPr algn="ctr" indent="0" marL="0">
              <a:buNone/>
            </a:pPr>
            <a:r>
              <a:rPr lang="en-US" sz="1600" b="1" dirty="0">
                <a:solidFill>
                  <a:schemeClr val="accent2"/>
                </a:solidFill>
              </a:rPr>
              <a:t>vs</a:t>
            </a:r>
            <a:endParaRPr lang="en-US" sz="1600" dirty="0"/>
          </a:p>
        </p:txBody>
      </p:sp>
      <p:sp>
        <p:nvSpPr>
          <p:cNvPr id="11" name="human card 1"/>
          <p:cNvSpPr/>
          <p:nvPr/>
        </p:nvSpPr>
        <p:spPr>
          <a:xfrm>
            <a:off x="4937760" y="1463040"/>
            <a:ext cx="3749040" cy="731520"/>
          </a:xfrm>
          <a:prstGeom prst="roundRect">
            <a:avLst>
              <a:gd name="adj" fmla="val 15000"/>
            </a:avLst>
          </a:prstGeom>
          <a:solidFill>
            <a:schemeClr val="tx2"/>
          </a:solidFill>
          <a:ln w="12700">
            <a:solidFill>
              <a:schemeClr val="accent6"/>
            </a:solidFill>
            <a:prstDash val="solid"/>
          </a:ln>
        </p:spPr>
      </p:sp>
      <p:sp>
        <p:nvSpPr>
          <p:cNvPr id="12" name="human 1 circle"/>
          <p:cNvSpPr/>
          <p:nvPr/>
        </p:nvSpPr>
        <p:spPr>
          <a:xfrm>
            <a:off x="5074920" y="1581912"/>
            <a:ext cx="493776" cy="493776"/>
          </a:xfrm>
          <a:prstGeom prst="ellipse">
            <a:avLst/>
          </a:prstGeom>
          <a:solidFill>
            <a:schemeClr val="accent1"/>
          </a:solidFill>
          <a:ln/>
        </p:spPr>
      </p:sp>
      <p:pic>
        <p:nvPicPr>
          <p:cNvPr id="13" name="human 1 icon" descr="human 1">    </p:cNvPr>
          <p:cNvPicPr>
            <a:picLocks noChangeAspect="1"/>
          </p:cNvPicPr>
          <p:nvPr/>
        </p:nvPicPr>
        <p:blipFill>
          <a:blip r:embed="rId2"/>
          <a:stretch>
            <a:fillRect/>
          </a:stretch>
        </p:blipFill>
        <p:spPr>
          <a:xfrm>
            <a:off x="5198364" y="1705356"/>
            <a:ext cx="246888" cy="246888"/>
          </a:xfrm>
          <a:prstGeom prst="rect">
            <a:avLst/>
          </a:prstGeom>
        </p:spPr>
      </p:pic>
      <p:sp>
        <p:nvSpPr>
          <p:cNvPr id="14" name="human name 1"/>
          <p:cNvSpPr txBox="1"/>
          <p:nvPr/>
        </p:nvSpPr>
        <p:spPr>
          <a:xfrm>
            <a:off x="5715000" y="1527048"/>
            <a:ext cx="2834640" cy="301752"/>
          </a:xfrm>
          <a:prstGeom prst="rect">
            <a:avLst/>
          </a:prstGeom>
          <a:noFill/>
          <a:ln/>
        </p:spPr>
        <p:txBody>
          <a:bodyPr wrap="square" lIns="0" tIns="0" rIns="0" bIns="0" rtlCol="0" anchor="ctr"/>
          <a:lstStyle/>
          <a:p>
            <a:pPr indent="0" marL="0">
              <a:buNone/>
            </a:pPr>
            <a:r>
              <a:rPr lang="en-US" sz="1400" b="1" dirty="0">
                <a:solidFill>
                  <a:schemeClr val="bg1"/>
                </a:solidFill>
              </a:rPr>
              <a:t>우사인 볼트</a:t>
            </a:r>
            <a:endParaRPr lang="en-US" sz="1400" dirty="0"/>
          </a:p>
        </p:txBody>
      </p:sp>
      <p:sp>
        <p:nvSpPr>
          <p:cNvPr id="15" name="human desc 1"/>
          <p:cNvSpPr txBox="1"/>
          <p:nvPr/>
        </p:nvSpPr>
        <p:spPr>
          <a:xfrm>
            <a:off x="5715000" y="1828800"/>
            <a:ext cx="2834640" cy="301752"/>
          </a:xfrm>
          <a:prstGeom prst="rect">
            <a:avLst/>
          </a:prstGeom>
          <a:noFill/>
          <a:ln/>
        </p:spPr>
        <p:txBody>
          <a:bodyPr wrap="square" lIns="0" tIns="0" rIns="0" bIns="0" rtlCol="0" anchor="ctr"/>
          <a:lstStyle/>
          <a:p>
            <a:pPr indent="0" marL="0">
              <a:buNone/>
            </a:pPr>
            <a:r>
              <a:rPr lang="en-US" sz="1200" dirty="0">
                <a:solidFill>
                  <a:schemeClr val="bg2"/>
                </a:solidFill>
              </a:rPr>
              <a:t>100m 9초 58 (세계 기록)</a:t>
            </a:r>
            <a:endParaRPr lang="en-US" sz="1200" dirty="0"/>
          </a:p>
        </p:txBody>
      </p:sp>
      <p:sp>
        <p:nvSpPr>
          <p:cNvPr id="16" name="machine card 2"/>
          <p:cNvSpPr/>
          <p:nvPr/>
        </p:nvSpPr>
        <p:spPr>
          <a:xfrm>
            <a:off x="457200" y="2331720"/>
            <a:ext cx="3749040" cy="731520"/>
          </a:xfrm>
          <a:prstGeom prst="roundRect">
            <a:avLst>
              <a:gd name="adj" fmla="val 15000"/>
            </a:avLst>
          </a:prstGeom>
          <a:solidFill>
            <a:schemeClr val="tx2"/>
          </a:solidFill>
          <a:ln w="12700">
            <a:solidFill>
              <a:schemeClr val="accent6"/>
            </a:solidFill>
            <a:prstDash val="solid"/>
          </a:ln>
        </p:spPr>
      </p:sp>
      <p:sp>
        <p:nvSpPr>
          <p:cNvPr id="17" name="machine 2 circle"/>
          <p:cNvSpPr/>
          <p:nvPr/>
        </p:nvSpPr>
        <p:spPr>
          <a:xfrm>
            <a:off x="594360" y="2450592"/>
            <a:ext cx="493776" cy="493776"/>
          </a:xfrm>
          <a:prstGeom prst="ellipse">
            <a:avLst/>
          </a:prstGeom>
          <a:solidFill>
            <a:schemeClr val="bg2"/>
          </a:solidFill>
          <a:ln/>
        </p:spPr>
      </p:sp>
      <p:pic>
        <p:nvPicPr>
          <p:cNvPr id="18" name="machine 2 icon" descr="machine 2">    </p:cNvPr>
          <p:cNvPicPr>
            <a:picLocks noChangeAspect="1"/>
          </p:cNvPicPr>
          <p:nvPr/>
        </p:nvPicPr>
        <p:blipFill>
          <a:blip r:embed="rId3"/>
          <a:stretch>
            <a:fillRect/>
          </a:stretch>
        </p:blipFill>
        <p:spPr>
          <a:xfrm>
            <a:off x="717804" y="2574036"/>
            <a:ext cx="246888" cy="246888"/>
          </a:xfrm>
          <a:prstGeom prst="rect">
            <a:avLst/>
          </a:prstGeom>
        </p:spPr>
      </p:pic>
      <p:sp>
        <p:nvSpPr>
          <p:cNvPr id="19" name="machine name 2"/>
          <p:cNvSpPr txBox="1"/>
          <p:nvPr/>
        </p:nvSpPr>
        <p:spPr>
          <a:xfrm>
            <a:off x="1234440" y="2395728"/>
            <a:ext cx="2834640" cy="301752"/>
          </a:xfrm>
          <a:prstGeom prst="rect">
            <a:avLst/>
          </a:prstGeom>
          <a:noFill/>
          <a:ln/>
        </p:spPr>
        <p:txBody>
          <a:bodyPr wrap="square" lIns="0" tIns="0" rIns="0" bIns="0" rtlCol="0" anchor="ctr"/>
          <a:lstStyle/>
          <a:p>
            <a:pPr indent="0" marL="0">
              <a:buNone/>
            </a:pPr>
            <a:r>
              <a:rPr lang="en-US" sz="1400" b="1" dirty="0">
                <a:solidFill>
                  <a:schemeClr val="bg1"/>
                </a:solidFill>
              </a:rPr>
              <a:t>지게차</a:t>
            </a:r>
            <a:endParaRPr lang="en-US" sz="1400" dirty="0"/>
          </a:p>
        </p:txBody>
      </p:sp>
      <p:sp>
        <p:nvSpPr>
          <p:cNvPr id="20" name="machine desc 2"/>
          <p:cNvSpPr txBox="1"/>
          <p:nvPr/>
        </p:nvSpPr>
        <p:spPr>
          <a:xfrm>
            <a:off x="1234440" y="2697480"/>
            <a:ext cx="2834640" cy="301752"/>
          </a:xfrm>
          <a:prstGeom prst="rect">
            <a:avLst/>
          </a:prstGeom>
          <a:noFill/>
          <a:ln/>
        </p:spPr>
        <p:txBody>
          <a:bodyPr wrap="square" lIns="0" tIns="0" rIns="0" bIns="0" rtlCol="0" anchor="ctr"/>
          <a:lstStyle/>
          <a:p>
            <a:pPr indent="0" marL="0">
              <a:buNone/>
            </a:pPr>
            <a:r>
              <a:rPr lang="en-US" sz="1200" dirty="0">
                <a:solidFill>
                  <a:schemeClr val="bg2"/>
                </a:solidFill>
              </a:rPr>
              <a:t>몇 톤도 쉽게 들어 올린다</a:t>
            </a:r>
            <a:endParaRPr lang="en-US" sz="1200" dirty="0"/>
          </a:p>
        </p:txBody>
      </p:sp>
      <p:sp>
        <p:nvSpPr>
          <p:cNvPr id="21" name="vs 2"/>
          <p:cNvSpPr txBox="1"/>
          <p:nvPr/>
        </p:nvSpPr>
        <p:spPr>
          <a:xfrm>
            <a:off x="4251960" y="2331720"/>
            <a:ext cx="640080" cy="731520"/>
          </a:xfrm>
          <a:prstGeom prst="rect">
            <a:avLst/>
          </a:prstGeom>
          <a:noFill/>
          <a:ln/>
        </p:spPr>
        <p:txBody>
          <a:bodyPr wrap="square" lIns="0" tIns="0" rIns="0" bIns="0" rtlCol="0" anchor="ctr"/>
          <a:lstStyle/>
          <a:p>
            <a:pPr algn="ctr" indent="0" marL="0">
              <a:buNone/>
            </a:pPr>
            <a:r>
              <a:rPr lang="en-US" sz="1600" b="1" dirty="0">
                <a:solidFill>
                  <a:schemeClr val="accent2"/>
                </a:solidFill>
              </a:rPr>
              <a:t>vs</a:t>
            </a:r>
            <a:endParaRPr lang="en-US" sz="1600" dirty="0"/>
          </a:p>
        </p:txBody>
      </p:sp>
      <p:sp>
        <p:nvSpPr>
          <p:cNvPr id="22" name="human card 2"/>
          <p:cNvSpPr/>
          <p:nvPr/>
        </p:nvSpPr>
        <p:spPr>
          <a:xfrm>
            <a:off x="4937760" y="2331720"/>
            <a:ext cx="3749040" cy="731520"/>
          </a:xfrm>
          <a:prstGeom prst="roundRect">
            <a:avLst>
              <a:gd name="adj" fmla="val 15000"/>
            </a:avLst>
          </a:prstGeom>
          <a:solidFill>
            <a:schemeClr val="tx2"/>
          </a:solidFill>
          <a:ln w="12700">
            <a:solidFill>
              <a:schemeClr val="accent6"/>
            </a:solidFill>
            <a:prstDash val="solid"/>
          </a:ln>
        </p:spPr>
      </p:sp>
      <p:sp>
        <p:nvSpPr>
          <p:cNvPr id="23" name="human 2 circle"/>
          <p:cNvSpPr/>
          <p:nvPr/>
        </p:nvSpPr>
        <p:spPr>
          <a:xfrm>
            <a:off x="5074920" y="2450592"/>
            <a:ext cx="493776" cy="493776"/>
          </a:xfrm>
          <a:prstGeom prst="ellipse">
            <a:avLst/>
          </a:prstGeom>
          <a:solidFill>
            <a:schemeClr val="accent1"/>
          </a:solidFill>
          <a:ln/>
        </p:spPr>
      </p:sp>
      <p:pic>
        <p:nvPicPr>
          <p:cNvPr id="24" name="human 2 icon" descr="human 2">    </p:cNvPr>
          <p:cNvPicPr>
            <a:picLocks noChangeAspect="1"/>
          </p:cNvPicPr>
          <p:nvPr/>
        </p:nvPicPr>
        <p:blipFill>
          <a:blip r:embed="rId4"/>
          <a:stretch>
            <a:fillRect/>
          </a:stretch>
        </p:blipFill>
        <p:spPr>
          <a:xfrm>
            <a:off x="5198364" y="2574036"/>
            <a:ext cx="246888" cy="246888"/>
          </a:xfrm>
          <a:prstGeom prst="rect">
            <a:avLst/>
          </a:prstGeom>
        </p:spPr>
      </p:pic>
      <p:sp>
        <p:nvSpPr>
          <p:cNvPr id="25" name="human name 2"/>
          <p:cNvSpPr txBox="1"/>
          <p:nvPr/>
        </p:nvSpPr>
        <p:spPr>
          <a:xfrm>
            <a:off x="5715000" y="2395728"/>
            <a:ext cx="2834640" cy="301752"/>
          </a:xfrm>
          <a:prstGeom prst="rect">
            <a:avLst/>
          </a:prstGeom>
          <a:noFill/>
          <a:ln/>
        </p:spPr>
        <p:txBody>
          <a:bodyPr wrap="square" lIns="0" tIns="0" rIns="0" bIns="0" rtlCol="0" anchor="ctr"/>
          <a:lstStyle/>
          <a:p>
            <a:pPr indent="0" marL="0">
              <a:buNone/>
            </a:pPr>
            <a:r>
              <a:rPr lang="en-US" sz="1400" b="1" dirty="0">
                <a:solidFill>
                  <a:schemeClr val="bg1"/>
                </a:solidFill>
              </a:rPr>
              <a:t>역도 선수</a:t>
            </a:r>
            <a:endParaRPr lang="en-US" sz="1400" dirty="0"/>
          </a:p>
        </p:txBody>
      </p:sp>
      <p:sp>
        <p:nvSpPr>
          <p:cNvPr id="26" name="human desc 2"/>
          <p:cNvSpPr txBox="1"/>
          <p:nvPr/>
        </p:nvSpPr>
        <p:spPr>
          <a:xfrm>
            <a:off x="5715000" y="2697480"/>
            <a:ext cx="2834640" cy="301752"/>
          </a:xfrm>
          <a:prstGeom prst="rect">
            <a:avLst/>
          </a:prstGeom>
          <a:noFill/>
          <a:ln/>
        </p:spPr>
        <p:txBody>
          <a:bodyPr wrap="square" lIns="0" tIns="0" rIns="0" bIns="0" rtlCol="0" anchor="ctr"/>
          <a:lstStyle/>
          <a:p>
            <a:pPr indent="0" marL="0">
              <a:buNone/>
            </a:pPr>
            <a:r>
              <a:rPr lang="en-US" sz="1200" dirty="0">
                <a:solidFill>
                  <a:schemeClr val="bg2"/>
                </a:solidFill>
              </a:rPr>
              <a:t>자기 몸무게의 2~3배에 도전</a:t>
            </a:r>
            <a:endParaRPr lang="en-US" sz="1200" dirty="0"/>
          </a:p>
        </p:txBody>
      </p:sp>
      <p:sp>
        <p:nvSpPr>
          <p:cNvPr id="27" name="machine card 3"/>
          <p:cNvSpPr/>
          <p:nvPr/>
        </p:nvSpPr>
        <p:spPr>
          <a:xfrm>
            <a:off x="457200" y="3200400"/>
            <a:ext cx="3749040" cy="731520"/>
          </a:xfrm>
          <a:prstGeom prst="roundRect">
            <a:avLst>
              <a:gd name="adj" fmla="val 15000"/>
            </a:avLst>
          </a:prstGeom>
          <a:solidFill>
            <a:schemeClr val="tx2"/>
          </a:solidFill>
          <a:ln w="12700">
            <a:solidFill>
              <a:schemeClr val="accent6"/>
            </a:solidFill>
            <a:prstDash val="solid"/>
          </a:ln>
        </p:spPr>
      </p:sp>
      <p:sp>
        <p:nvSpPr>
          <p:cNvPr id="28" name="machine 3 circle"/>
          <p:cNvSpPr/>
          <p:nvPr/>
        </p:nvSpPr>
        <p:spPr>
          <a:xfrm>
            <a:off x="594360" y="3319272"/>
            <a:ext cx="493776" cy="493776"/>
          </a:xfrm>
          <a:prstGeom prst="ellipse">
            <a:avLst/>
          </a:prstGeom>
          <a:solidFill>
            <a:schemeClr val="bg2"/>
          </a:solidFill>
          <a:ln/>
        </p:spPr>
      </p:sp>
      <p:pic>
        <p:nvPicPr>
          <p:cNvPr id="29" name="machine 3 icon" descr="machine 3">    </p:cNvPr>
          <p:cNvPicPr>
            <a:picLocks noChangeAspect="1"/>
          </p:cNvPicPr>
          <p:nvPr/>
        </p:nvPicPr>
        <p:blipFill>
          <a:blip r:embed="rId5"/>
          <a:stretch>
            <a:fillRect/>
          </a:stretch>
        </p:blipFill>
        <p:spPr>
          <a:xfrm>
            <a:off x="717804" y="3442716"/>
            <a:ext cx="246888" cy="246888"/>
          </a:xfrm>
          <a:prstGeom prst="rect">
            <a:avLst/>
          </a:prstGeom>
        </p:spPr>
      </p:pic>
      <p:sp>
        <p:nvSpPr>
          <p:cNvPr id="30" name="machine name 3"/>
          <p:cNvSpPr txBox="1"/>
          <p:nvPr/>
        </p:nvSpPr>
        <p:spPr>
          <a:xfrm>
            <a:off x="1234440" y="3264408"/>
            <a:ext cx="2834640" cy="301752"/>
          </a:xfrm>
          <a:prstGeom prst="rect">
            <a:avLst/>
          </a:prstGeom>
          <a:noFill/>
          <a:ln/>
        </p:spPr>
        <p:txBody>
          <a:bodyPr wrap="square" lIns="0" tIns="0" rIns="0" bIns="0" rtlCol="0" anchor="ctr"/>
          <a:lstStyle/>
          <a:p>
            <a:pPr indent="0" marL="0">
              <a:buNone/>
            </a:pPr>
            <a:r>
              <a:rPr lang="en-US" sz="1400" b="1" dirty="0">
                <a:solidFill>
                  <a:schemeClr val="bg1"/>
                </a:solidFill>
              </a:rPr>
              <a:t>피칭 머신</a:t>
            </a:r>
            <a:endParaRPr lang="en-US" sz="1400" dirty="0"/>
          </a:p>
        </p:txBody>
      </p:sp>
      <p:sp>
        <p:nvSpPr>
          <p:cNvPr id="31" name="machine desc 3"/>
          <p:cNvSpPr txBox="1"/>
          <p:nvPr/>
        </p:nvSpPr>
        <p:spPr>
          <a:xfrm>
            <a:off x="1234440" y="3566160"/>
            <a:ext cx="2834640" cy="301752"/>
          </a:xfrm>
          <a:prstGeom prst="rect">
            <a:avLst/>
          </a:prstGeom>
          <a:noFill/>
          <a:ln/>
        </p:spPr>
        <p:txBody>
          <a:bodyPr wrap="square" lIns="0" tIns="0" rIns="0" bIns="0" rtlCol="0" anchor="ctr"/>
          <a:lstStyle/>
          <a:p>
            <a:pPr indent="0" marL="0">
              <a:buNone/>
            </a:pPr>
            <a:r>
              <a:rPr lang="en-US" sz="1200" dirty="0">
                <a:solidFill>
                  <a:schemeClr val="bg2"/>
                </a:solidFill>
              </a:rPr>
              <a:t>시속 160km 공을 지치지 않고 던진다</a:t>
            </a:r>
            <a:endParaRPr lang="en-US" sz="1200" dirty="0"/>
          </a:p>
        </p:txBody>
      </p:sp>
      <p:sp>
        <p:nvSpPr>
          <p:cNvPr id="32" name="vs 3"/>
          <p:cNvSpPr txBox="1"/>
          <p:nvPr/>
        </p:nvSpPr>
        <p:spPr>
          <a:xfrm>
            <a:off x="4251960" y="3200400"/>
            <a:ext cx="640080" cy="731520"/>
          </a:xfrm>
          <a:prstGeom prst="rect">
            <a:avLst/>
          </a:prstGeom>
          <a:noFill/>
          <a:ln/>
        </p:spPr>
        <p:txBody>
          <a:bodyPr wrap="square" lIns="0" tIns="0" rIns="0" bIns="0" rtlCol="0" anchor="ctr"/>
          <a:lstStyle/>
          <a:p>
            <a:pPr algn="ctr" indent="0" marL="0">
              <a:buNone/>
            </a:pPr>
            <a:r>
              <a:rPr lang="en-US" sz="1600" b="1" dirty="0">
                <a:solidFill>
                  <a:schemeClr val="accent2"/>
                </a:solidFill>
              </a:rPr>
              <a:t>vs</a:t>
            </a:r>
            <a:endParaRPr lang="en-US" sz="1600" dirty="0"/>
          </a:p>
        </p:txBody>
      </p:sp>
      <p:sp>
        <p:nvSpPr>
          <p:cNvPr id="33" name="human card 3"/>
          <p:cNvSpPr/>
          <p:nvPr/>
        </p:nvSpPr>
        <p:spPr>
          <a:xfrm>
            <a:off x="4937760" y="3200400"/>
            <a:ext cx="3749040" cy="731520"/>
          </a:xfrm>
          <a:prstGeom prst="roundRect">
            <a:avLst>
              <a:gd name="adj" fmla="val 15000"/>
            </a:avLst>
          </a:prstGeom>
          <a:solidFill>
            <a:schemeClr val="tx2"/>
          </a:solidFill>
          <a:ln w="12700">
            <a:solidFill>
              <a:schemeClr val="accent6"/>
            </a:solidFill>
            <a:prstDash val="solid"/>
          </a:ln>
        </p:spPr>
      </p:sp>
      <p:sp>
        <p:nvSpPr>
          <p:cNvPr id="34" name="human 3 circle"/>
          <p:cNvSpPr/>
          <p:nvPr/>
        </p:nvSpPr>
        <p:spPr>
          <a:xfrm>
            <a:off x="5074920" y="3319272"/>
            <a:ext cx="493776" cy="493776"/>
          </a:xfrm>
          <a:prstGeom prst="ellipse">
            <a:avLst/>
          </a:prstGeom>
          <a:solidFill>
            <a:schemeClr val="accent1"/>
          </a:solidFill>
          <a:ln/>
        </p:spPr>
      </p:sp>
      <p:pic>
        <p:nvPicPr>
          <p:cNvPr id="35" name="human 3 icon" descr="human 3">    </p:cNvPr>
          <p:cNvPicPr>
            <a:picLocks noChangeAspect="1"/>
          </p:cNvPicPr>
          <p:nvPr/>
        </p:nvPicPr>
        <p:blipFill>
          <a:blip r:embed="rId6"/>
          <a:stretch>
            <a:fillRect/>
          </a:stretch>
        </p:blipFill>
        <p:spPr>
          <a:xfrm>
            <a:off x="5198364" y="3442716"/>
            <a:ext cx="246888" cy="246888"/>
          </a:xfrm>
          <a:prstGeom prst="rect">
            <a:avLst/>
          </a:prstGeom>
        </p:spPr>
      </p:pic>
      <p:sp>
        <p:nvSpPr>
          <p:cNvPr id="36" name="human name 3"/>
          <p:cNvSpPr txBox="1"/>
          <p:nvPr/>
        </p:nvSpPr>
        <p:spPr>
          <a:xfrm>
            <a:off x="5715000" y="3264408"/>
            <a:ext cx="2834640" cy="301752"/>
          </a:xfrm>
          <a:prstGeom prst="rect">
            <a:avLst/>
          </a:prstGeom>
          <a:noFill/>
          <a:ln/>
        </p:spPr>
        <p:txBody>
          <a:bodyPr wrap="square" lIns="0" tIns="0" rIns="0" bIns="0" rtlCol="0" anchor="ctr"/>
          <a:lstStyle/>
          <a:p>
            <a:pPr indent="0" marL="0">
              <a:buNone/>
            </a:pPr>
            <a:r>
              <a:rPr lang="en-US" sz="1400" b="1" dirty="0">
                <a:solidFill>
                  <a:schemeClr val="bg1"/>
                </a:solidFill>
              </a:rPr>
              <a:t>투수</a:t>
            </a:r>
            <a:endParaRPr lang="en-US" sz="1400" dirty="0"/>
          </a:p>
        </p:txBody>
      </p:sp>
      <p:sp>
        <p:nvSpPr>
          <p:cNvPr id="37" name="human desc 3"/>
          <p:cNvSpPr txBox="1"/>
          <p:nvPr/>
        </p:nvSpPr>
        <p:spPr>
          <a:xfrm>
            <a:off x="5715000" y="3566160"/>
            <a:ext cx="2834640" cy="301752"/>
          </a:xfrm>
          <a:prstGeom prst="rect">
            <a:avLst/>
          </a:prstGeom>
          <a:noFill/>
          <a:ln/>
        </p:spPr>
        <p:txBody>
          <a:bodyPr wrap="square" lIns="0" tIns="0" rIns="0" bIns="0" rtlCol="0" anchor="ctr"/>
          <a:lstStyle/>
          <a:p>
            <a:pPr indent="0" marL="0">
              <a:buNone/>
            </a:pPr>
            <a:r>
              <a:rPr lang="en-US" sz="1200" dirty="0">
                <a:solidFill>
                  <a:schemeClr val="bg2"/>
                </a:solidFill>
              </a:rPr>
              <a:t>한 구 한 구에 관중이 숨을 죽인다</a:t>
            </a:r>
            <a:endParaRPr lang="en-US" sz="1200" dirty="0"/>
          </a:p>
        </p:txBody>
      </p:sp>
      <p:sp>
        <p:nvSpPr>
          <p:cNvPr id="38" name="machine takeaway"/>
          <p:cNvSpPr txBox="1"/>
          <p:nvPr/>
        </p:nvSpPr>
        <p:spPr>
          <a:xfrm>
            <a:off x="457200" y="4160520"/>
            <a:ext cx="8229600" cy="411480"/>
          </a:xfrm>
          <a:prstGeom prst="rect">
            <a:avLst/>
          </a:prstGeom>
          <a:noFill/>
          <a:ln/>
        </p:spPr>
        <p:txBody>
          <a:bodyPr wrap="square" lIns="0" tIns="0" rIns="0" bIns="0" rtlCol="0" anchor="ctr"/>
          <a:lstStyle/>
          <a:p>
            <a:pPr indent="0" marL="0">
              <a:buNone/>
            </a:pPr>
            <a:r>
              <a:rPr lang="en-US" sz="1600" b="1" dirty="0">
                <a:solidFill>
                  <a:schemeClr val="accent4"/>
                </a:solidFill>
              </a:rPr>
              <a:t>자동차 100m 달리기를 올림픽 종목으로 만들자는 사람은 없다</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직업과 스포츠는 무엇이 다를까?</a:t>
            </a:r>
            <a:endParaRPr lang="en-US" sz="3000" dirty="0"/>
          </a:p>
        </p:txBody>
      </p:sp>
      <p:sp>
        <p:nvSpPr>
          <p:cNvPr id="3" name="job panel"/>
          <p:cNvSpPr/>
          <p:nvPr/>
        </p:nvSpPr>
        <p:spPr>
          <a:xfrm>
            <a:off x="457200" y="1143000"/>
            <a:ext cx="3977640" cy="2514600"/>
          </a:xfrm>
          <a:prstGeom prst="roundRect">
            <a:avLst>
              <a:gd name="adj" fmla="val 4364"/>
            </a:avLst>
          </a:prstGeom>
          <a:solidFill>
            <a:schemeClr val="tx2"/>
          </a:solidFill>
          <a:ln w="12700">
            <a:solidFill>
              <a:schemeClr val="accent6"/>
            </a:solidFill>
            <a:prstDash val="solid"/>
          </a:ln>
        </p:spPr>
      </p:sp>
      <p:sp>
        <p:nvSpPr>
          <p:cNvPr id="4" name="job panel head"/>
          <p:cNvSpPr txBox="1"/>
          <p:nvPr/>
        </p:nvSpPr>
        <p:spPr>
          <a:xfrm>
            <a:off x="685800" y="1280160"/>
            <a:ext cx="3566160" cy="320040"/>
          </a:xfrm>
          <a:prstGeom prst="rect">
            <a:avLst/>
          </a:prstGeom>
          <a:noFill/>
          <a:ln/>
        </p:spPr>
        <p:txBody>
          <a:bodyPr wrap="square" lIns="0" tIns="0" rIns="0" bIns="0" rtlCol="0" anchor="ctr"/>
          <a:lstStyle/>
          <a:p>
            <a:pPr indent="0" marL="0">
              <a:buNone/>
            </a:pPr>
            <a:r>
              <a:rPr lang="en-US" sz="1500" b="1" dirty="0">
                <a:solidFill>
                  <a:schemeClr val="bg2"/>
                </a:solidFill>
              </a:rPr>
              <a:t>직업 (일)</a:t>
            </a:r>
            <a:endParaRPr lang="en-US" sz="1500" dirty="0"/>
          </a:p>
        </p:txBody>
      </p:sp>
      <p:sp>
        <p:nvSpPr>
          <p:cNvPr id="5" name="job panel claim"/>
          <p:cNvSpPr txBox="1"/>
          <p:nvPr/>
        </p:nvSpPr>
        <p:spPr>
          <a:xfrm>
            <a:off x="685800" y="1600200"/>
            <a:ext cx="3566160" cy="548640"/>
          </a:xfrm>
          <a:prstGeom prst="rect">
            <a:avLst/>
          </a:prstGeom>
          <a:noFill/>
          <a:ln/>
        </p:spPr>
        <p:txBody>
          <a:bodyPr wrap="square" lIns="0" tIns="0" rIns="0" bIns="0" rtlCol="0" anchor="ctr"/>
          <a:lstStyle/>
          <a:p>
            <a:pPr indent="0" marL="0">
              <a:buNone/>
            </a:pPr>
            <a:r>
              <a:rPr lang="en-US" sz="2800" b="1" dirty="0">
                <a:solidFill>
                  <a:schemeClr val="bg1"/>
                </a:solidFill>
              </a:rPr>
              <a:t>결과를 산다</a:t>
            </a:r>
            <a:endParaRPr lang="en-US" sz="2800" dirty="0"/>
          </a:p>
        </p:txBody>
      </p:sp>
      <p:sp>
        <p:nvSpPr>
          <p:cNvPr id="6" name="job panel icon 1 circle"/>
          <p:cNvSpPr/>
          <p:nvPr/>
        </p:nvSpPr>
        <p:spPr>
          <a:xfrm>
            <a:off x="685800" y="2240280"/>
            <a:ext cx="438912" cy="438912"/>
          </a:xfrm>
          <a:prstGeom prst="ellipse">
            <a:avLst/>
          </a:prstGeom>
          <a:solidFill>
            <a:schemeClr val="bg2"/>
          </a:solidFill>
          <a:ln/>
        </p:spPr>
      </p:sp>
      <p:pic>
        <p:nvPicPr>
          <p:cNvPr id="7" name="job panel icon 1 icon" descr="job panel icon 1">    </p:cNvPr>
          <p:cNvPicPr>
            <a:picLocks noChangeAspect="1"/>
          </p:cNvPicPr>
          <p:nvPr/>
        </p:nvPicPr>
        <p:blipFill>
          <a:blip r:embed="rId1"/>
          <a:stretch>
            <a:fillRect/>
          </a:stretch>
        </p:blipFill>
        <p:spPr>
          <a:xfrm>
            <a:off x="795528" y="2350008"/>
            <a:ext cx="219456" cy="219456"/>
          </a:xfrm>
          <a:prstGeom prst="rect">
            <a:avLst/>
          </a:prstGeom>
        </p:spPr>
      </p:pic>
      <p:sp>
        <p:nvSpPr>
          <p:cNvPr id="8" name="job panel icon 2 circle"/>
          <p:cNvSpPr/>
          <p:nvPr/>
        </p:nvSpPr>
        <p:spPr>
          <a:xfrm>
            <a:off x="1234440" y="2240280"/>
            <a:ext cx="438912" cy="438912"/>
          </a:xfrm>
          <a:prstGeom prst="ellipse">
            <a:avLst/>
          </a:prstGeom>
          <a:solidFill>
            <a:schemeClr val="bg2"/>
          </a:solidFill>
          <a:ln/>
        </p:spPr>
      </p:sp>
      <p:pic>
        <p:nvPicPr>
          <p:cNvPr id="9" name="job panel icon 2 icon" descr="job panel icon 2">    </p:cNvPr>
          <p:cNvPicPr>
            <a:picLocks noChangeAspect="1"/>
          </p:cNvPicPr>
          <p:nvPr/>
        </p:nvPicPr>
        <p:blipFill>
          <a:blip r:embed="rId2"/>
          <a:stretch>
            <a:fillRect/>
          </a:stretch>
        </p:blipFill>
        <p:spPr>
          <a:xfrm>
            <a:off x="1344168" y="2350008"/>
            <a:ext cx="219456" cy="219456"/>
          </a:xfrm>
          <a:prstGeom prst="rect">
            <a:avLst/>
          </a:prstGeom>
        </p:spPr>
      </p:pic>
      <p:sp>
        <p:nvSpPr>
          <p:cNvPr id="10" name="job panel icon 3 circle"/>
          <p:cNvSpPr/>
          <p:nvPr/>
        </p:nvSpPr>
        <p:spPr>
          <a:xfrm>
            <a:off x="1783080" y="2240280"/>
            <a:ext cx="438912" cy="438912"/>
          </a:xfrm>
          <a:prstGeom prst="ellipse">
            <a:avLst/>
          </a:prstGeom>
          <a:solidFill>
            <a:schemeClr val="bg2"/>
          </a:solidFill>
          <a:ln/>
        </p:spPr>
      </p:sp>
      <p:pic>
        <p:nvPicPr>
          <p:cNvPr id="11" name="job panel icon 3 icon" descr="job panel icon 3">    </p:cNvPr>
          <p:cNvPicPr>
            <a:picLocks noChangeAspect="1"/>
          </p:cNvPicPr>
          <p:nvPr/>
        </p:nvPicPr>
        <p:blipFill>
          <a:blip r:embed="rId3"/>
          <a:stretch>
            <a:fillRect/>
          </a:stretch>
        </p:blipFill>
        <p:spPr>
          <a:xfrm>
            <a:off x="1892808" y="2350008"/>
            <a:ext cx="219456" cy="219456"/>
          </a:xfrm>
          <a:prstGeom prst="rect">
            <a:avLst/>
          </a:prstGeom>
        </p:spPr>
      </p:pic>
      <p:sp>
        <p:nvSpPr>
          <p:cNvPr id="12" name="job panel desc"/>
          <p:cNvSpPr txBox="1"/>
          <p:nvPr/>
        </p:nvSpPr>
        <p:spPr>
          <a:xfrm>
            <a:off x="685800" y="2788920"/>
            <a:ext cx="3611880" cy="777240"/>
          </a:xfrm>
          <a:prstGeom prst="rect">
            <a:avLst/>
          </a:prstGeom>
          <a:noFill/>
          <a:ln/>
        </p:spPr>
        <p:txBody>
          <a:bodyPr wrap="square" lIns="0" tIns="0" rIns="0" bIns="0" rtlCol="0" anchor="t"/>
          <a:lstStyle/>
          <a:p>
            <a:pPr indent="0" marL="0">
              <a:buNone/>
            </a:pPr>
            <a:r>
              <a:rPr lang="en-US" sz="1200" dirty="0">
                <a:solidFill>
                  <a:schemeClr val="bg2"/>
                </a:solidFill>
              </a:rPr>
              <a:t>환자는 정확한 진단을, 회사는 좋은 코드를 원한다</a:t>
            </a:r>
            <a:endParaRPr lang="en-US" sz="1200" dirty="0"/>
          </a:p>
          <a:p>
            <a:pPr indent="0" marL="0">
              <a:buNone/>
            </a:pPr>
            <a:r>
              <a:rPr lang="en-US" sz="1200" dirty="0">
                <a:solidFill>
                  <a:schemeClr val="bg2"/>
                </a:solidFill>
              </a:rPr>
              <a:t>→ 누가 했는지보다 결과가 중요</a:t>
            </a:r>
            <a:endParaRPr lang="en-US" sz="1200" dirty="0"/>
          </a:p>
          <a:p>
            <a:pPr indent="0" marL="0">
              <a:buNone/>
            </a:pPr>
            <a:r>
              <a:rPr lang="en-US" sz="1200" dirty="0">
                <a:solidFill>
                  <a:schemeClr val="bg2"/>
                </a:solidFill>
              </a:rPr>
              <a:t>→ 더 잘하는 AI로 바꿀 수 있다</a:t>
            </a:r>
            <a:endParaRPr lang="en-US" sz="1200" dirty="0"/>
          </a:p>
        </p:txBody>
      </p:sp>
      <p:sp>
        <p:nvSpPr>
          <p:cNvPr id="13" name="sport panel"/>
          <p:cNvSpPr/>
          <p:nvPr/>
        </p:nvSpPr>
        <p:spPr>
          <a:xfrm>
            <a:off x="4709160" y="1143000"/>
            <a:ext cx="3977640" cy="2514600"/>
          </a:xfrm>
          <a:prstGeom prst="roundRect">
            <a:avLst>
              <a:gd name="adj" fmla="val 4364"/>
            </a:avLst>
          </a:prstGeom>
          <a:solidFill>
            <a:schemeClr val="tx2"/>
          </a:solidFill>
          <a:ln w="12700">
            <a:solidFill>
              <a:schemeClr val="accent6"/>
            </a:solidFill>
            <a:prstDash val="solid"/>
          </a:ln>
        </p:spPr>
      </p:sp>
      <p:sp>
        <p:nvSpPr>
          <p:cNvPr id="14" name="sport panel head"/>
          <p:cNvSpPr txBox="1"/>
          <p:nvPr/>
        </p:nvSpPr>
        <p:spPr>
          <a:xfrm>
            <a:off x="4937760" y="1280160"/>
            <a:ext cx="3566160" cy="320040"/>
          </a:xfrm>
          <a:prstGeom prst="rect">
            <a:avLst/>
          </a:prstGeom>
          <a:noFill/>
          <a:ln/>
        </p:spPr>
        <p:txBody>
          <a:bodyPr wrap="square" lIns="0" tIns="0" rIns="0" bIns="0" rtlCol="0" anchor="ctr"/>
          <a:lstStyle/>
          <a:p>
            <a:pPr indent="0" marL="0">
              <a:buNone/>
            </a:pPr>
            <a:r>
              <a:rPr lang="en-US" sz="1500" b="1" dirty="0">
                <a:solidFill>
                  <a:schemeClr val="accent1"/>
                </a:solidFill>
              </a:rPr>
              <a:t>스포츠</a:t>
            </a:r>
            <a:endParaRPr lang="en-US" sz="1500" dirty="0"/>
          </a:p>
        </p:txBody>
      </p:sp>
      <p:sp>
        <p:nvSpPr>
          <p:cNvPr id="15" name="sport panel claim"/>
          <p:cNvSpPr txBox="1"/>
          <p:nvPr/>
        </p:nvSpPr>
        <p:spPr>
          <a:xfrm>
            <a:off x="4937760" y="1600200"/>
            <a:ext cx="3566160" cy="548640"/>
          </a:xfrm>
          <a:prstGeom prst="rect">
            <a:avLst/>
          </a:prstGeom>
          <a:noFill/>
          <a:ln/>
        </p:spPr>
        <p:txBody>
          <a:bodyPr wrap="square" lIns="0" tIns="0" rIns="0" bIns="0" rtlCol="0" anchor="ctr"/>
          <a:lstStyle/>
          <a:p>
            <a:pPr indent="0" marL="0">
              <a:buNone/>
            </a:pPr>
            <a:r>
              <a:rPr lang="en-US" sz="2800" b="1" dirty="0">
                <a:solidFill>
                  <a:schemeClr val="accent1"/>
                </a:solidFill>
              </a:rPr>
              <a:t>과정을 본다</a:t>
            </a:r>
            <a:endParaRPr lang="en-US" sz="2800" dirty="0"/>
          </a:p>
        </p:txBody>
      </p:sp>
      <p:sp>
        <p:nvSpPr>
          <p:cNvPr id="16" name="sport panel icon 1 circle"/>
          <p:cNvSpPr/>
          <p:nvPr/>
        </p:nvSpPr>
        <p:spPr>
          <a:xfrm>
            <a:off x="4937760" y="2240280"/>
            <a:ext cx="438912" cy="438912"/>
          </a:xfrm>
          <a:prstGeom prst="ellipse">
            <a:avLst/>
          </a:prstGeom>
          <a:solidFill>
            <a:schemeClr val="accent1"/>
          </a:solidFill>
          <a:ln/>
        </p:spPr>
      </p:sp>
      <p:pic>
        <p:nvPicPr>
          <p:cNvPr id="17" name="sport panel icon 1 icon" descr="sport panel icon 1">    </p:cNvPr>
          <p:cNvPicPr>
            <a:picLocks noChangeAspect="1"/>
          </p:cNvPicPr>
          <p:nvPr/>
        </p:nvPicPr>
        <p:blipFill>
          <a:blip r:embed="rId4"/>
          <a:stretch>
            <a:fillRect/>
          </a:stretch>
        </p:blipFill>
        <p:spPr>
          <a:xfrm>
            <a:off x="5047488" y="2350008"/>
            <a:ext cx="219456" cy="219456"/>
          </a:xfrm>
          <a:prstGeom prst="rect">
            <a:avLst/>
          </a:prstGeom>
        </p:spPr>
      </p:pic>
      <p:sp>
        <p:nvSpPr>
          <p:cNvPr id="18" name="sport panel icon 2 circle"/>
          <p:cNvSpPr/>
          <p:nvPr/>
        </p:nvSpPr>
        <p:spPr>
          <a:xfrm>
            <a:off x="5486400" y="2240280"/>
            <a:ext cx="438912" cy="438912"/>
          </a:xfrm>
          <a:prstGeom prst="ellipse">
            <a:avLst/>
          </a:prstGeom>
          <a:solidFill>
            <a:schemeClr val="accent1"/>
          </a:solidFill>
          <a:ln/>
        </p:spPr>
      </p:sp>
      <p:pic>
        <p:nvPicPr>
          <p:cNvPr id="19" name="sport panel icon 2 icon" descr="sport panel icon 2">    </p:cNvPr>
          <p:cNvPicPr>
            <a:picLocks noChangeAspect="1"/>
          </p:cNvPicPr>
          <p:nvPr/>
        </p:nvPicPr>
        <p:blipFill>
          <a:blip r:embed="rId5"/>
          <a:stretch>
            <a:fillRect/>
          </a:stretch>
        </p:blipFill>
        <p:spPr>
          <a:xfrm>
            <a:off x="5596128" y="2350008"/>
            <a:ext cx="219456" cy="219456"/>
          </a:xfrm>
          <a:prstGeom prst="rect">
            <a:avLst/>
          </a:prstGeom>
        </p:spPr>
      </p:pic>
      <p:sp>
        <p:nvSpPr>
          <p:cNvPr id="20" name="sport panel icon 3 circle"/>
          <p:cNvSpPr/>
          <p:nvPr/>
        </p:nvSpPr>
        <p:spPr>
          <a:xfrm>
            <a:off x="6035040" y="2240280"/>
            <a:ext cx="438912" cy="438912"/>
          </a:xfrm>
          <a:prstGeom prst="ellipse">
            <a:avLst/>
          </a:prstGeom>
          <a:solidFill>
            <a:schemeClr val="accent1"/>
          </a:solidFill>
          <a:ln/>
        </p:spPr>
      </p:sp>
      <p:pic>
        <p:nvPicPr>
          <p:cNvPr id="21" name="sport panel icon 3 icon" descr="sport panel icon 3">    </p:cNvPr>
          <p:cNvPicPr>
            <a:picLocks noChangeAspect="1"/>
          </p:cNvPicPr>
          <p:nvPr/>
        </p:nvPicPr>
        <p:blipFill>
          <a:blip r:embed="rId6"/>
          <a:stretch>
            <a:fillRect/>
          </a:stretch>
        </p:blipFill>
        <p:spPr>
          <a:xfrm>
            <a:off x="6144768" y="2350008"/>
            <a:ext cx="219456" cy="219456"/>
          </a:xfrm>
          <a:prstGeom prst="rect">
            <a:avLst/>
          </a:prstGeom>
        </p:spPr>
      </p:pic>
      <p:sp>
        <p:nvSpPr>
          <p:cNvPr id="22" name="sport panel desc"/>
          <p:cNvSpPr txBox="1"/>
          <p:nvPr/>
        </p:nvSpPr>
        <p:spPr>
          <a:xfrm>
            <a:off x="4937760" y="2788920"/>
            <a:ext cx="3611880" cy="777240"/>
          </a:xfrm>
          <a:prstGeom prst="rect">
            <a:avLst/>
          </a:prstGeom>
          <a:noFill/>
          <a:ln/>
        </p:spPr>
        <p:txBody>
          <a:bodyPr wrap="square" lIns="0" tIns="0" rIns="0" bIns="0" rtlCol="0" anchor="t"/>
          <a:lstStyle/>
          <a:p>
            <a:pPr indent="0" marL="0">
              <a:buNone/>
            </a:pPr>
            <a:r>
              <a:rPr lang="en-US" sz="1200" dirty="0">
                <a:solidFill>
                  <a:schemeClr val="bg1"/>
                </a:solidFill>
              </a:rPr>
              <a:t>관중은 '사람이 해내는 순간'을 보고 싶어 한다</a:t>
            </a:r>
            <a:endParaRPr lang="en-US" sz="1200" dirty="0"/>
          </a:p>
          <a:p>
            <a:pPr indent="0" marL="0">
              <a:buNone/>
            </a:pPr>
            <a:r>
              <a:rPr lang="en-US" sz="1200" dirty="0">
                <a:solidFill>
                  <a:schemeClr val="bg1"/>
                </a:solidFill>
              </a:rPr>
              <a:t>→ 누가 했는지가 가장 중요</a:t>
            </a:r>
            <a:endParaRPr lang="en-US" sz="1200" dirty="0"/>
          </a:p>
          <a:p>
            <a:pPr indent="0" marL="0">
              <a:buNone/>
            </a:pPr>
            <a:r>
              <a:rPr lang="en-US" sz="1200" dirty="0">
                <a:solidFill>
                  <a:schemeClr val="bg1"/>
                </a:solidFill>
              </a:rPr>
              <a:t>→ AI가 하면 의미가 사라진다</a:t>
            </a:r>
            <a:endParaRPr lang="en-US" sz="1200" dirty="0"/>
          </a:p>
        </p:txBody>
      </p:sp>
      <p:sp>
        <p:nvSpPr>
          <p:cNvPr id="23" name="core message card"/>
          <p:cNvSpPr/>
          <p:nvPr/>
        </p:nvSpPr>
        <p:spPr>
          <a:xfrm>
            <a:off x="457200" y="3840480"/>
            <a:ext cx="8229600" cy="685800"/>
          </a:xfrm>
          <a:prstGeom prst="roundRect">
            <a:avLst>
              <a:gd name="adj" fmla="val 16000"/>
            </a:avLst>
          </a:prstGeom>
          <a:solidFill>
            <a:schemeClr val="accent2"/>
          </a:solidFill>
          <a:ln w="12700">
            <a:solidFill>
              <a:schemeClr val="accent6"/>
            </a:solidFill>
            <a:prstDash val="solid"/>
          </a:ln>
        </p:spPr>
      </p:sp>
      <p:sp>
        <p:nvSpPr>
          <p:cNvPr id="24" name="core message"/>
          <p:cNvSpPr txBox="1"/>
          <p:nvPr/>
        </p:nvSpPr>
        <p:spPr>
          <a:xfrm>
            <a:off x="457200" y="3840480"/>
            <a:ext cx="8229600" cy="685800"/>
          </a:xfrm>
          <a:prstGeom prst="rect">
            <a:avLst/>
          </a:prstGeom>
          <a:noFill/>
          <a:ln/>
        </p:spPr>
        <p:txBody>
          <a:bodyPr wrap="square" lIns="0" tIns="0" rIns="0" bIns="0" rtlCol="0" anchor="ctr"/>
          <a:lstStyle/>
          <a:p>
            <a:pPr algn="ctr" indent="0" marL="0">
              <a:buNone/>
            </a:pPr>
            <a:r>
              <a:rPr lang="en-US" sz="2200" b="1" dirty="0">
                <a:solidFill>
                  <a:schemeClr val="tx1"/>
                </a:solidFill>
              </a:rPr>
              <a:t>스포츠는 '가장 잘하는 것'을 원하지 않는다</a:t>
            </a:r>
            <a:endParaRPr lang="en-US" sz="2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사람만 줄 수 있는 4가지</a:t>
            </a:r>
            <a:endParaRPr lang="en-US" sz="3000" dirty="0"/>
          </a:p>
        </p:txBody>
      </p:sp>
      <p:sp>
        <p:nvSpPr>
          <p:cNvPr id="3" name="human value card 1"/>
          <p:cNvSpPr/>
          <p:nvPr/>
        </p:nvSpPr>
        <p:spPr>
          <a:xfrm>
            <a:off x="457200" y="1143000"/>
            <a:ext cx="4023360" cy="1508760"/>
          </a:xfrm>
          <a:prstGeom prst="roundRect">
            <a:avLst>
              <a:gd name="adj" fmla="val 7273"/>
            </a:avLst>
          </a:prstGeom>
          <a:solidFill>
            <a:schemeClr val="tx2"/>
          </a:solidFill>
          <a:ln w="12700">
            <a:solidFill>
              <a:schemeClr val="accent6"/>
            </a:solidFill>
            <a:prstDash val="solid"/>
          </a:ln>
        </p:spPr>
      </p:sp>
      <p:sp>
        <p:nvSpPr>
          <p:cNvPr id="4" name="human value 1 circle"/>
          <p:cNvSpPr/>
          <p:nvPr/>
        </p:nvSpPr>
        <p:spPr>
          <a:xfrm>
            <a:off x="685800" y="1417320"/>
            <a:ext cx="685800" cy="685800"/>
          </a:xfrm>
          <a:prstGeom prst="ellipse">
            <a:avLst/>
          </a:prstGeom>
          <a:solidFill>
            <a:schemeClr val="accent1"/>
          </a:solidFill>
          <a:ln/>
        </p:spPr>
      </p:sp>
      <p:pic>
        <p:nvPicPr>
          <p:cNvPr id="5" name="human value 1 icon" descr="human value 1">    </p:cNvPr>
          <p:cNvPicPr>
            <a:picLocks noChangeAspect="1"/>
          </p:cNvPicPr>
          <p:nvPr/>
        </p:nvPicPr>
        <p:blipFill>
          <a:blip r:embed="rId1"/>
          <a:stretch>
            <a:fillRect/>
          </a:stretch>
        </p:blipFill>
        <p:spPr>
          <a:xfrm>
            <a:off x="857250" y="1588770"/>
            <a:ext cx="342900" cy="342900"/>
          </a:xfrm>
          <a:prstGeom prst="rect">
            <a:avLst/>
          </a:prstGeom>
        </p:spPr>
      </p:pic>
      <p:sp>
        <p:nvSpPr>
          <p:cNvPr id="6" name="human value head 1"/>
          <p:cNvSpPr txBox="1"/>
          <p:nvPr/>
        </p:nvSpPr>
        <p:spPr>
          <a:xfrm>
            <a:off x="1600200" y="1371600"/>
            <a:ext cx="2743200" cy="365760"/>
          </a:xfrm>
          <a:prstGeom prst="rect">
            <a:avLst/>
          </a:prstGeom>
          <a:noFill/>
          <a:ln/>
        </p:spPr>
        <p:txBody>
          <a:bodyPr wrap="square" lIns="0" tIns="0" rIns="0" bIns="0" rtlCol="0" anchor="ctr"/>
          <a:lstStyle/>
          <a:p>
            <a:pPr indent="0" marL="0">
              <a:buNone/>
            </a:pPr>
            <a:r>
              <a:rPr lang="en-US" sz="1600" b="1" dirty="0">
                <a:solidFill>
                  <a:schemeClr val="bg1"/>
                </a:solidFill>
              </a:rPr>
              <a:t>① 한계에 도전하는 모습</a:t>
            </a:r>
            <a:endParaRPr lang="en-US" sz="1600" dirty="0"/>
          </a:p>
        </p:txBody>
      </p:sp>
      <p:sp>
        <p:nvSpPr>
          <p:cNvPr id="7" name="human value desc 1"/>
          <p:cNvSpPr txBox="1"/>
          <p:nvPr/>
        </p:nvSpPr>
        <p:spPr>
          <a:xfrm>
            <a:off x="1600200" y="1783080"/>
            <a:ext cx="2743200" cy="731520"/>
          </a:xfrm>
          <a:prstGeom prst="rect">
            <a:avLst/>
          </a:prstGeom>
          <a:noFill/>
          <a:ln/>
        </p:spPr>
        <p:txBody>
          <a:bodyPr wrap="square" lIns="0" tIns="0" rIns="0" bIns="0" rtlCol="0" anchor="t"/>
          <a:lstStyle/>
          <a:p>
            <a:pPr indent="0" marL="0">
              <a:buNone/>
            </a:pPr>
            <a:r>
              <a:rPr lang="en-US" sz="1300" dirty="0">
                <a:solidFill>
                  <a:schemeClr val="bg2"/>
                </a:solidFill>
              </a:rPr>
              <a:t>나와 같은 몸을 가진 사람이 해내기 때문에 감동한다</a:t>
            </a:r>
            <a:endParaRPr lang="en-US" sz="1300" dirty="0"/>
          </a:p>
        </p:txBody>
      </p:sp>
      <p:sp>
        <p:nvSpPr>
          <p:cNvPr id="8" name="human value card 2"/>
          <p:cNvSpPr/>
          <p:nvPr/>
        </p:nvSpPr>
        <p:spPr>
          <a:xfrm>
            <a:off x="4663440" y="1143000"/>
            <a:ext cx="4023360" cy="1508760"/>
          </a:xfrm>
          <a:prstGeom prst="roundRect">
            <a:avLst>
              <a:gd name="adj" fmla="val 7273"/>
            </a:avLst>
          </a:prstGeom>
          <a:solidFill>
            <a:schemeClr val="tx2"/>
          </a:solidFill>
          <a:ln w="12700">
            <a:solidFill>
              <a:schemeClr val="accent6"/>
            </a:solidFill>
            <a:prstDash val="solid"/>
          </a:ln>
        </p:spPr>
      </p:sp>
      <p:sp>
        <p:nvSpPr>
          <p:cNvPr id="9" name="human value 2 circle"/>
          <p:cNvSpPr/>
          <p:nvPr/>
        </p:nvSpPr>
        <p:spPr>
          <a:xfrm>
            <a:off x="4892040" y="1417320"/>
            <a:ext cx="685800" cy="685800"/>
          </a:xfrm>
          <a:prstGeom prst="ellipse">
            <a:avLst/>
          </a:prstGeom>
          <a:solidFill>
            <a:schemeClr val="accent2"/>
          </a:solidFill>
          <a:ln/>
        </p:spPr>
      </p:sp>
      <p:pic>
        <p:nvPicPr>
          <p:cNvPr id="10" name="human value 2 icon" descr="human value 2">    </p:cNvPr>
          <p:cNvPicPr>
            <a:picLocks noChangeAspect="1"/>
          </p:cNvPicPr>
          <p:nvPr/>
        </p:nvPicPr>
        <p:blipFill>
          <a:blip r:embed="rId2"/>
          <a:stretch>
            <a:fillRect/>
          </a:stretch>
        </p:blipFill>
        <p:spPr>
          <a:xfrm>
            <a:off x="5063490" y="1588770"/>
            <a:ext cx="342900" cy="342900"/>
          </a:xfrm>
          <a:prstGeom prst="rect">
            <a:avLst/>
          </a:prstGeom>
        </p:spPr>
      </p:pic>
      <p:sp>
        <p:nvSpPr>
          <p:cNvPr id="11" name="human value head 2"/>
          <p:cNvSpPr txBox="1"/>
          <p:nvPr/>
        </p:nvSpPr>
        <p:spPr>
          <a:xfrm>
            <a:off x="5806440" y="1371600"/>
            <a:ext cx="2743200" cy="365760"/>
          </a:xfrm>
          <a:prstGeom prst="rect">
            <a:avLst/>
          </a:prstGeom>
          <a:noFill/>
          <a:ln/>
        </p:spPr>
        <p:txBody>
          <a:bodyPr wrap="square" lIns="0" tIns="0" rIns="0" bIns="0" rtlCol="0" anchor="ctr"/>
          <a:lstStyle/>
          <a:p>
            <a:pPr indent="0" marL="0">
              <a:buNone/>
            </a:pPr>
            <a:r>
              <a:rPr lang="en-US" sz="1600" b="1" dirty="0">
                <a:solidFill>
                  <a:schemeClr val="bg1"/>
                </a:solidFill>
              </a:rPr>
              <a:t>② 이야기와 감정</a:t>
            </a:r>
            <a:endParaRPr lang="en-US" sz="1600" dirty="0"/>
          </a:p>
        </p:txBody>
      </p:sp>
      <p:sp>
        <p:nvSpPr>
          <p:cNvPr id="12" name="human value desc 2"/>
          <p:cNvSpPr txBox="1"/>
          <p:nvPr/>
        </p:nvSpPr>
        <p:spPr>
          <a:xfrm>
            <a:off x="5806440" y="1783080"/>
            <a:ext cx="2743200" cy="731520"/>
          </a:xfrm>
          <a:prstGeom prst="rect">
            <a:avLst/>
          </a:prstGeom>
          <a:noFill/>
          <a:ln/>
        </p:spPr>
        <p:txBody>
          <a:bodyPr wrap="square" lIns="0" tIns="0" rIns="0" bIns="0" rtlCol="0" anchor="t"/>
          <a:lstStyle/>
          <a:p>
            <a:pPr indent="0" marL="0">
              <a:buNone/>
            </a:pPr>
            <a:r>
              <a:rPr lang="en-US" sz="1300" dirty="0">
                <a:solidFill>
                  <a:schemeClr val="bg2"/>
                </a:solidFill>
              </a:rPr>
              <a:t>부상 · 슬럼프 · 역전승 — 실수할 수 있는 사람에게만 드라마가 있다</a:t>
            </a:r>
            <a:endParaRPr lang="en-US" sz="1300" dirty="0"/>
          </a:p>
        </p:txBody>
      </p:sp>
      <p:sp>
        <p:nvSpPr>
          <p:cNvPr id="13" name="human value card 3"/>
          <p:cNvSpPr/>
          <p:nvPr/>
        </p:nvSpPr>
        <p:spPr>
          <a:xfrm>
            <a:off x="457200" y="2834640"/>
            <a:ext cx="4023360" cy="1508760"/>
          </a:xfrm>
          <a:prstGeom prst="roundRect">
            <a:avLst>
              <a:gd name="adj" fmla="val 7273"/>
            </a:avLst>
          </a:prstGeom>
          <a:solidFill>
            <a:schemeClr val="tx2"/>
          </a:solidFill>
          <a:ln w="12700">
            <a:solidFill>
              <a:schemeClr val="accent6"/>
            </a:solidFill>
            <a:prstDash val="solid"/>
          </a:ln>
        </p:spPr>
      </p:sp>
      <p:sp>
        <p:nvSpPr>
          <p:cNvPr id="14" name="human value 3 circle"/>
          <p:cNvSpPr/>
          <p:nvPr/>
        </p:nvSpPr>
        <p:spPr>
          <a:xfrm>
            <a:off x="685800" y="3108960"/>
            <a:ext cx="685800" cy="685800"/>
          </a:xfrm>
          <a:prstGeom prst="ellipse">
            <a:avLst/>
          </a:prstGeom>
          <a:solidFill>
            <a:schemeClr val="accent4"/>
          </a:solidFill>
          <a:ln/>
        </p:spPr>
      </p:sp>
      <p:pic>
        <p:nvPicPr>
          <p:cNvPr id="15" name="human value 3 icon" descr="human value 3">    </p:cNvPr>
          <p:cNvPicPr>
            <a:picLocks noChangeAspect="1"/>
          </p:cNvPicPr>
          <p:nvPr/>
        </p:nvPicPr>
        <p:blipFill>
          <a:blip r:embed="rId3"/>
          <a:stretch>
            <a:fillRect/>
          </a:stretch>
        </p:blipFill>
        <p:spPr>
          <a:xfrm>
            <a:off x="857250" y="3280410"/>
            <a:ext cx="342900" cy="342900"/>
          </a:xfrm>
          <a:prstGeom prst="rect">
            <a:avLst/>
          </a:prstGeom>
        </p:spPr>
      </p:pic>
      <p:sp>
        <p:nvSpPr>
          <p:cNvPr id="16" name="human value head 3"/>
          <p:cNvSpPr txBox="1"/>
          <p:nvPr/>
        </p:nvSpPr>
        <p:spPr>
          <a:xfrm>
            <a:off x="1600200" y="3063240"/>
            <a:ext cx="2743200" cy="365760"/>
          </a:xfrm>
          <a:prstGeom prst="rect">
            <a:avLst/>
          </a:prstGeom>
          <a:noFill/>
          <a:ln/>
        </p:spPr>
        <p:txBody>
          <a:bodyPr wrap="square" lIns="0" tIns="0" rIns="0" bIns="0" rtlCol="0" anchor="ctr"/>
          <a:lstStyle/>
          <a:p>
            <a:pPr indent="0" marL="0">
              <a:buNone/>
            </a:pPr>
            <a:r>
              <a:rPr lang="en-US" sz="1600" b="1" dirty="0">
                <a:solidFill>
                  <a:schemeClr val="bg1"/>
                </a:solidFill>
              </a:rPr>
              <a:t>③ 공감과 응원</a:t>
            </a:r>
            <a:endParaRPr lang="en-US" sz="1600" dirty="0"/>
          </a:p>
        </p:txBody>
      </p:sp>
      <p:sp>
        <p:nvSpPr>
          <p:cNvPr id="17" name="human value desc 3"/>
          <p:cNvSpPr txBox="1"/>
          <p:nvPr/>
        </p:nvSpPr>
        <p:spPr>
          <a:xfrm>
            <a:off x="1600200" y="3474720"/>
            <a:ext cx="2743200" cy="731520"/>
          </a:xfrm>
          <a:prstGeom prst="rect">
            <a:avLst/>
          </a:prstGeom>
          <a:noFill/>
          <a:ln/>
        </p:spPr>
        <p:txBody>
          <a:bodyPr wrap="square" lIns="0" tIns="0" rIns="0" bIns="0" rtlCol="0" anchor="t"/>
          <a:lstStyle/>
          <a:p>
            <a:pPr indent="0" marL="0">
              <a:buNone/>
            </a:pPr>
            <a:r>
              <a:rPr lang="en-US" sz="1300" dirty="0">
                <a:solidFill>
                  <a:schemeClr val="bg2"/>
                </a:solidFill>
              </a:rPr>
              <a:t>'우리 팀', '내 선수'를 함께 응원하며 하나가 된다</a:t>
            </a:r>
            <a:endParaRPr lang="en-US" sz="1300" dirty="0"/>
          </a:p>
        </p:txBody>
      </p:sp>
      <p:sp>
        <p:nvSpPr>
          <p:cNvPr id="18" name="human value card 4"/>
          <p:cNvSpPr/>
          <p:nvPr/>
        </p:nvSpPr>
        <p:spPr>
          <a:xfrm>
            <a:off x="4663440" y="2834640"/>
            <a:ext cx="4023360" cy="1508760"/>
          </a:xfrm>
          <a:prstGeom prst="roundRect">
            <a:avLst>
              <a:gd name="adj" fmla="val 7273"/>
            </a:avLst>
          </a:prstGeom>
          <a:solidFill>
            <a:schemeClr val="tx2"/>
          </a:solidFill>
          <a:ln w="12700">
            <a:solidFill>
              <a:schemeClr val="accent6"/>
            </a:solidFill>
            <a:prstDash val="solid"/>
          </a:ln>
        </p:spPr>
      </p:sp>
      <p:sp>
        <p:nvSpPr>
          <p:cNvPr id="19" name="human value 4 circle"/>
          <p:cNvSpPr/>
          <p:nvPr/>
        </p:nvSpPr>
        <p:spPr>
          <a:xfrm>
            <a:off x="4892040" y="3108960"/>
            <a:ext cx="685800" cy="685800"/>
          </a:xfrm>
          <a:prstGeom prst="ellipse">
            <a:avLst/>
          </a:prstGeom>
          <a:solidFill>
            <a:schemeClr val="accent5"/>
          </a:solidFill>
          <a:ln/>
        </p:spPr>
      </p:sp>
      <p:pic>
        <p:nvPicPr>
          <p:cNvPr id="20" name="human value 4 icon" descr="human value 4">    </p:cNvPr>
          <p:cNvPicPr>
            <a:picLocks noChangeAspect="1"/>
          </p:cNvPicPr>
          <p:nvPr/>
        </p:nvPicPr>
        <p:blipFill>
          <a:blip r:embed="rId4"/>
          <a:stretch>
            <a:fillRect/>
          </a:stretch>
        </p:blipFill>
        <p:spPr>
          <a:xfrm>
            <a:off x="5063490" y="3280410"/>
            <a:ext cx="342900" cy="342900"/>
          </a:xfrm>
          <a:prstGeom prst="rect">
            <a:avLst/>
          </a:prstGeom>
        </p:spPr>
      </p:pic>
      <p:sp>
        <p:nvSpPr>
          <p:cNvPr id="21" name="human value head 4"/>
          <p:cNvSpPr txBox="1"/>
          <p:nvPr/>
        </p:nvSpPr>
        <p:spPr>
          <a:xfrm>
            <a:off x="5806440" y="3063240"/>
            <a:ext cx="2743200" cy="365760"/>
          </a:xfrm>
          <a:prstGeom prst="rect">
            <a:avLst/>
          </a:prstGeom>
          <a:noFill/>
          <a:ln/>
        </p:spPr>
        <p:txBody>
          <a:bodyPr wrap="square" lIns="0" tIns="0" rIns="0" bIns="0" rtlCol="0" anchor="ctr"/>
          <a:lstStyle/>
          <a:p>
            <a:pPr indent="0" marL="0">
              <a:buNone/>
            </a:pPr>
            <a:r>
              <a:rPr lang="en-US" sz="1600" b="1" dirty="0">
                <a:solidFill>
                  <a:schemeClr val="bg1"/>
                </a:solidFill>
              </a:rPr>
              <a:t>④ 직접 하는 즐거움</a:t>
            </a:r>
            <a:endParaRPr lang="en-US" sz="1600" dirty="0"/>
          </a:p>
        </p:txBody>
      </p:sp>
      <p:sp>
        <p:nvSpPr>
          <p:cNvPr id="22" name="human value desc 4"/>
          <p:cNvSpPr txBox="1"/>
          <p:nvPr/>
        </p:nvSpPr>
        <p:spPr>
          <a:xfrm>
            <a:off x="5806440" y="3474720"/>
            <a:ext cx="2743200" cy="731520"/>
          </a:xfrm>
          <a:prstGeom prst="rect">
            <a:avLst/>
          </a:prstGeom>
          <a:noFill/>
          <a:ln/>
        </p:spPr>
        <p:txBody>
          <a:bodyPr wrap="square" lIns="0" tIns="0" rIns="0" bIns="0" rtlCol="0" anchor="t"/>
          <a:lstStyle/>
          <a:p>
            <a:pPr indent="0" marL="0">
              <a:buNone/>
            </a:pPr>
            <a:r>
              <a:rPr lang="en-US" sz="1300" dirty="0">
                <a:solidFill>
                  <a:schemeClr val="bg2"/>
                </a:solidFill>
              </a:rPr>
              <a:t>AI가 축구를 더 잘해도 우리는 점심시간에 축구를 한다</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그럼 AI는? 선수를 대신하지 않고 돕는다</a:t>
            </a:r>
            <a:endParaRPr lang="en-US" sz="3000" dirty="0"/>
          </a:p>
        </p:txBody>
      </p:sp>
      <p:sp>
        <p:nvSpPr>
          <p:cNvPr id="3" name="role card 1"/>
          <p:cNvSpPr/>
          <p:nvPr/>
        </p:nvSpPr>
        <p:spPr>
          <a:xfrm>
            <a:off x="457200" y="1143000"/>
            <a:ext cx="1938528" cy="2514600"/>
          </a:xfrm>
          <a:prstGeom prst="roundRect">
            <a:avLst>
              <a:gd name="adj" fmla="val 5660"/>
            </a:avLst>
          </a:prstGeom>
          <a:solidFill>
            <a:schemeClr val="tx2"/>
          </a:solidFill>
          <a:ln w="12700">
            <a:solidFill>
              <a:schemeClr val="accent6"/>
            </a:solidFill>
            <a:prstDash val="solid"/>
          </a:ln>
        </p:spPr>
      </p:sp>
      <p:sp>
        <p:nvSpPr>
          <p:cNvPr id="4" name="role 1 circle"/>
          <p:cNvSpPr/>
          <p:nvPr/>
        </p:nvSpPr>
        <p:spPr>
          <a:xfrm>
            <a:off x="1060704" y="1371600"/>
            <a:ext cx="731520" cy="731520"/>
          </a:xfrm>
          <a:prstGeom prst="ellipse">
            <a:avLst/>
          </a:prstGeom>
          <a:solidFill>
            <a:schemeClr val="accent1"/>
          </a:solidFill>
          <a:ln/>
        </p:spPr>
      </p:sp>
      <p:pic>
        <p:nvPicPr>
          <p:cNvPr id="5" name="role 1 icon" descr="role 1">    </p:cNvPr>
          <p:cNvPicPr>
            <a:picLocks noChangeAspect="1"/>
          </p:cNvPicPr>
          <p:nvPr/>
        </p:nvPicPr>
        <p:blipFill>
          <a:blip r:embed="rId1"/>
          <a:stretch>
            <a:fillRect/>
          </a:stretch>
        </p:blipFill>
        <p:spPr>
          <a:xfrm>
            <a:off x="1243584" y="1554480"/>
            <a:ext cx="365760" cy="365760"/>
          </a:xfrm>
          <a:prstGeom prst="rect">
            <a:avLst/>
          </a:prstGeom>
        </p:spPr>
      </p:pic>
      <p:sp>
        <p:nvSpPr>
          <p:cNvPr id="6" name="role head 1"/>
          <p:cNvSpPr txBox="1"/>
          <p:nvPr/>
        </p:nvSpPr>
        <p:spPr>
          <a:xfrm>
            <a:off x="594360" y="2240280"/>
            <a:ext cx="1664208" cy="365760"/>
          </a:xfrm>
          <a:prstGeom prst="rect">
            <a:avLst/>
          </a:prstGeom>
          <a:noFill/>
          <a:ln/>
        </p:spPr>
        <p:txBody>
          <a:bodyPr wrap="square" lIns="0" tIns="0" rIns="0" bIns="0" rtlCol="0" anchor="ctr"/>
          <a:lstStyle/>
          <a:p>
            <a:pPr algn="ctr" indent="0" marL="0">
              <a:buNone/>
            </a:pPr>
            <a:r>
              <a:rPr lang="en-US" sz="1600" b="1" dirty="0">
                <a:solidFill>
                  <a:schemeClr val="bg1"/>
                </a:solidFill>
              </a:rPr>
              <a:t>경기 분석</a:t>
            </a:r>
            <a:endParaRPr lang="en-US" sz="1600" dirty="0"/>
          </a:p>
        </p:txBody>
      </p:sp>
      <p:sp>
        <p:nvSpPr>
          <p:cNvPr id="7" name="role desc 1"/>
          <p:cNvSpPr txBox="1"/>
          <p:nvPr/>
        </p:nvSpPr>
        <p:spPr>
          <a:xfrm>
            <a:off x="640080" y="2651760"/>
            <a:ext cx="1572768" cy="914400"/>
          </a:xfrm>
          <a:prstGeom prst="rect">
            <a:avLst/>
          </a:prstGeom>
          <a:noFill/>
          <a:ln/>
        </p:spPr>
        <p:txBody>
          <a:bodyPr wrap="square" lIns="0" tIns="0" rIns="0" bIns="0" rtlCol="0" anchor="t"/>
          <a:lstStyle/>
          <a:p>
            <a:pPr indent="0" marL="0">
              <a:buNone/>
            </a:pPr>
            <a:r>
              <a:rPr lang="en-US" sz="1200" dirty="0">
                <a:solidFill>
                  <a:schemeClr val="bg2"/>
                </a:solidFill>
              </a:rPr>
              <a:t>상대 전략과 내 약점을 빠르게 찾는다</a:t>
            </a:r>
            <a:endParaRPr lang="en-US" sz="1200" dirty="0"/>
          </a:p>
        </p:txBody>
      </p:sp>
      <p:sp>
        <p:nvSpPr>
          <p:cNvPr id="8" name="role card 2"/>
          <p:cNvSpPr/>
          <p:nvPr/>
        </p:nvSpPr>
        <p:spPr>
          <a:xfrm>
            <a:off x="2578608" y="1143000"/>
            <a:ext cx="1938528" cy="2514600"/>
          </a:xfrm>
          <a:prstGeom prst="roundRect">
            <a:avLst>
              <a:gd name="adj" fmla="val 5660"/>
            </a:avLst>
          </a:prstGeom>
          <a:solidFill>
            <a:schemeClr val="tx2"/>
          </a:solidFill>
          <a:ln w="12700">
            <a:solidFill>
              <a:schemeClr val="accent6"/>
            </a:solidFill>
            <a:prstDash val="solid"/>
          </a:ln>
        </p:spPr>
      </p:sp>
      <p:sp>
        <p:nvSpPr>
          <p:cNvPr id="9" name="role 2 circle"/>
          <p:cNvSpPr/>
          <p:nvPr/>
        </p:nvSpPr>
        <p:spPr>
          <a:xfrm>
            <a:off x="3182112" y="1371600"/>
            <a:ext cx="731520" cy="731520"/>
          </a:xfrm>
          <a:prstGeom prst="ellipse">
            <a:avLst/>
          </a:prstGeom>
          <a:solidFill>
            <a:schemeClr val="accent5"/>
          </a:solidFill>
          <a:ln/>
        </p:spPr>
      </p:sp>
      <p:pic>
        <p:nvPicPr>
          <p:cNvPr id="10" name="role 2 icon" descr="role 2">    </p:cNvPr>
          <p:cNvPicPr>
            <a:picLocks noChangeAspect="1"/>
          </p:cNvPicPr>
          <p:nvPr/>
        </p:nvPicPr>
        <p:blipFill>
          <a:blip r:embed="rId2"/>
          <a:stretch>
            <a:fillRect/>
          </a:stretch>
        </p:blipFill>
        <p:spPr>
          <a:xfrm>
            <a:off x="3364992" y="1554480"/>
            <a:ext cx="365760" cy="365760"/>
          </a:xfrm>
          <a:prstGeom prst="rect">
            <a:avLst/>
          </a:prstGeom>
        </p:spPr>
      </p:pic>
      <p:sp>
        <p:nvSpPr>
          <p:cNvPr id="11" name="role head 2"/>
          <p:cNvSpPr txBox="1"/>
          <p:nvPr/>
        </p:nvSpPr>
        <p:spPr>
          <a:xfrm>
            <a:off x="2715768" y="2240280"/>
            <a:ext cx="1664208" cy="365760"/>
          </a:xfrm>
          <a:prstGeom prst="rect">
            <a:avLst/>
          </a:prstGeom>
          <a:noFill/>
          <a:ln/>
        </p:spPr>
        <p:txBody>
          <a:bodyPr wrap="square" lIns="0" tIns="0" rIns="0" bIns="0" rtlCol="0" anchor="ctr"/>
          <a:lstStyle/>
          <a:p>
            <a:pPr algn="ctr" indent="0" marL="0">
              <a:buNone/>
            </a:pPr>
            <a:r>
              <a:rPr lang="en-US" sz="1600" b="1" dirty="0">
                <a:solidFill>
                  <a:schemeClr val="bg1"/>
                </a:solidFill>
              </a:rPr>
              <a:t>훈련 상대</a:t>
            </a:r>
            <a:endParaRPr lang="en-US" sz="1600" dirty="0"/>
          </a:p>
        </p:txBody>
      </p:sp>
      <p:sp>
        <p:nvSpPr>
          <p:cNvPr id="12" name="role desc 2"/>
          <p:cNvSpPr txBox="1"/>
          <p:nvPr/>
        </p:nvSpPr>
        <p:spPr>
          <a:xfrm>
            <a:off x="2761488" y="2651760"/>
            <a:ext cx="1572768" cy="914400"/>
          </a:xfrm>
          <a:prstGeom prst="rect">
            <a:avLst/>
          </a:prstGeom>
          <a:noFill/>
          <a:ln/>
        </p:spPr>
        <p:txBody>
          <a:bodyPr wrap="square" lIns="0" tIns="0" rIns="0" bIns="0" rtlCol="0" anchor="t"/>
          <a:lstStyle/>
          <a:p>
            <a:pPr indent="0" marL="0">
              <a:buNone/>
            </a:pPr>
            <a:r>
              <a:rPr lang="en-US" sz="1200" dirty="0">
                <a:solidFill>
                  <a:schemeClr val="bg2"/>
                </a:solidFill>
              </a:rPr>
              <a:t>바둑 기사 · 프로게이머가 AI와 연습한다</a:t>
            </a:r>
            <a:endParaRPr lang="en-US" sz="1200" dirty="0"/>
          </a:p>
        </p:txBody>
      </p:sp>
      <p:sp>
        <p:nvSpPr>
          <p:cNvPr id="13" name="role card 3"/>
          <p:cNvSpPr/>
          <p:nvPr/>
        </p:nvSpPr>
        <p:spPr>
          <a:xfrm>
            <a:off x="4700016" y="1143000"/>
            <a:ext cx="1938528" cy="2514600"/>
          </a:xfrm>
          <a:prstGeom prst="roundRect">
            <a:avLst>
              <a:gd name="adj" fmla="val 5660"/>
            </a:avLst>
          </a:prstGeom>
          <a:solidFill>
            <a:schemeClr val="tx2"/>
          </a:solidFill>
          <a:ln w="12700">
            <a:solidFill>
              <a:schemeClr val="accent6"/>
            </a:solidFill>
            <a:prstDash val="solid"/>
          </a:ln>
        </p:spPr>
      </p:sp>
      <p:sp>
        <p:nvSpPr>
          <p:cNvPr id="14" name="role 3 circle"/>
          <p:cNvSpPr/>
          <p:nvPr/>
        </p:nvSpPr>
        <p:spPr>
          <a:xfrm>
            <a:off x="5303520" y="1371600"/>
            <a:ext cx="731520" cy="731520"/>
          </a:xfrm>
          <a:prstGeom prst="ellipse">
            <a:avLst/>
          </a:prstGeom>
          <a:solidFill>
            <a:schemeClr val="accent3"/>
          </a:solidFill>
          <a:ln/>
        </p:spPr>
      </p:sp>
      <p:pic>
        <p:nvPicPr>
          <p:cNvPr id="15" name="role 3 icon" descr="role 3">    </p:cNvPr>
          <p:cNvPicPr>
            <a:picLocks noChangeAspect="1"/>
          </p:cNvPicPr>
          <p:nvPr/>
        </p:nvPicPr>
        <p:blipFill>
          <a:blip r:embed="rId3"/>
          <a:stretch>
            <a:fillRect/>
          </a:stretch>
        </p:blipFill>
        <p:spPr>
          <a:xfrm>
            <a:off x="5486400" y="1554480"/>
            <a:ext cx="365760" cy="365760"/>
          </a:xfrm>
          <a:prstGeom prst="rect">
            <a:avLst/>
          </a:prstGeom>
        </p:spPr>
      </p:pic>
      <p:sp>
        <p:nvSpPr>
          <p:cNvPr id="16" name="role head 3"/>
          <p:cNvSpPr txBox="1"/>
          <p:nvPr/>
        </p:nvSpPr>
        <p:spPr>
          <a:xfrm>
            <a:off x="4837176" y="2240280"/>
            <a:ext cx="1664208" cy="365760"/>
          </a:xfrm>
          <a:prstGeom prst="rect">
            <a:avLst/>
          </a:prstGeom>
          <a:noFill/>
          <a:ln/>
        </p:spPr>
        <p:txBody>
          <a:bodyPr wrap="square" lIns="0" tIns="0" rIns="0" bIns="0" rtlCol="0" anchor="ctr"/>
          <a:lstStyle/>
          <a:p>
            <a:pPr algn="ctr" indent="0" marL="0">
              <a:buNone/>
            </a:pPr>
            <a:r>
              <a:rPr lang="en-US" sz="1600" b="1" dirty="0">
                <a:solidFill>
                  <a:schemeClr val="bg1"/>
                </a:solidFill>
              </a:rPr>
              <a:t>판정 도우미</a:t>
            </a:r>
            <a:endParaRPr lang="en-US" sz="1600" dirty="0"/>
          </a:p>
        </p:txBody>
      </p:sp>
      <p:sp>
        <p:nvSpPr>
          <p:cNvPr id="17" name="role desc 3"/>
          <p:cNvSpPr txBox="1"/>
          <p:nvPr/>
        </p:nvSpPr>
        <p:spPr>
          <a:xfrm>
            <a:off x="4882896" y="2651760"/>
            <a:ext cx="1572768" cy="914400"/>
          </a:xfrm>
          <a:prstGeom prst="rect">
            <a:avLst/>
          </a:prstGeom>
          <a:noFill/>
          <a:ln/>
        </p:spPr>
        <p:txBody>
          <a:bodyPr wrap="square" lIns="0" tIns="0" rIns="0" bIns="0" rtlCol="0" anchor="t"/>
          <a:lstStyle/>
          <a:p>
            <a:pPr indent="0" marL="0">
              <a:buNone/>
            </a:pPr>
            <a:r>
              <a:rPr lang="en-US" sz="1200" dirty="0">
                <a:solidFill>
                  <a:schemeClr val="bg2"/>
                </a:solidFill>
              </a:rPr>
              <a:t>VAR · 핵 탐지로 공정한 판정을 돕는다</a:t>
            </a:r>
            <a:endParaRPr lang="en-US" sz="1200" dirty="0"/>
          </a:p>
        </p:txBody>
      </p:sp>
      <p:sp>
        <p:nvSpPr>
          <p:cNvPr id="18" name="role card 4"/>
          <p:cNvSpPr/>
          <p:nvPr/>
        </p:nvSpPr>
        <p:spPr>
          <a:xfrm>
            <a:off x="6821424" y="1143000"/>
            <a:ext cx="1938528" cy="2514600"/>
          </a:xfrm>
          <a:prstGeom prst="roundRect">
            <a:avLst>
              <a:gd name="adj" fmla="val 5660"/>
            </a:avLst>
          </a:prstGeom>
          <a:solidFill>
            <a:schemeClr val="tx2"/>
          </a:solidFill>
          <a:ln w="12700">
            <a:solidFill>
              <a:schemeClr val="accent6"/>
            </a:solidFill>
            <a:prstDash val="solid"/>
          </a:ln>
        </p:spPr>
      </p:sp>
      <p:sp>
        <p:nvSpPr>
          <p:cNvPr id="19" name="role 4 circle"/>
          <p:cNvSpPr/>
          <p:nvPr/>
        </p:nvSpPr>
        <p:spPr>
          <a:xfrm>
            <a:off x="7424928" y="1371600"/>
            <a:ext cx="731520" cy="731520"/>
          </a:xfrm>
          <a:prstGeom prst="ellipse">
            <a:avLst/>
          </a:prstGeom>
          <a:solidFill>
            <a:schemeClr val="accent2"/>
          </a:solidFill>
          <a:ln/>
        </p:spPr>
      </p:sp>
      <p:pic>
        <p:nvPicPr>
          <p:cNvPr id="20" name="role 4 icon" descr="role 4">    </p:cNvPr>
          <p:cNvPicPr>
            <a:picLocks noChangeAspect="1"/>
          </p:cNvPicPr>
          <p:nvPr/>
        </p:nvPicPr>
        <p:blipFill>
          <a:blip r:embed="rId4"/>
          <a:stretch>
            <a:fillRect/>
          </a:stretch>
        </p:blipFill>
        <p:spPr>
          <a:xfrm>
            <a:off x="7607808" y="1554480"/>
            <a:ext cx="365760" cy="365760"/>
          </a:xfrm>
          <a:prstGeom prst="rect">
            <a:avLst/>
          </a:prstGeom>
        </p:spPr>
      </p:pic>
      <p:sp>
        <p:nvSpPr>
          <p:cNvPr id="21" name="role head 4"/>
          <p:cNvSpPr txBox="1"/>
          <p:nvPr/>
        </p:nvSpPr>
        <p:spPr>
          <a:xfrm>
            <a:off x="6958584" y="2240280"/>
            <a:ext cx="1664208" cy="365760"/>
          </a:xfrm>
          <a:prstGeom prst="rect">
            <a:avLst/>
          </a:prstGeom>
          <a:noFill/>
          <a:ln/>
        </p:spPr>
        <p:txBody>
          <a:bodyPr wrap="square" lIns="0" tIns="0" rIns="0" bIns="0" rtlCol="0" anchor="ctr"/>
          <a:lstStyle/>
          <a:p>
            <a:pPr algn="ctr" indent="0" marL="0">
              <a:buNone/>
            </a:pPr>
            <a:r>
              <a:rPr lang="en-US" sz="1600" b="1" dirty="0">
                <a:solidFill>
                  <a:schemeClr val="bg1"/>
                </a:solidFill>
              </a:rPr>
              <a:t>중계 · 관전</a:t>
            </a:r>
            <a:endParaRPr lang="en-US" sz="1600" dirty="0"/>
          </a:p>
        </p:txBody>
      </p:sp>
      <p:sp>
        <p:nvSpPr>
          <p:cNvPr id="22" name="role desc 4"/>
          <p:cNvSpPr txBox="1"/>
          <p:nvPr/>
        </p:nvSpPr>
        <p:spPr>
          <a:xfrm>
            <a:off x="7004304" y="2651760"/>
            <a:ext cx="1572768" cy="914400"/>
          </a:xfrm>
          <a:prstGeom prst="rect">
            <a:avLst/>
          </a:prstGeom>
          <a:noFill/>
          <a:ln/>
        </p:spPr>
        <p:txBody>
          <a:bodyPr wrap="square" lIns="0" tIns="0" rIns="0" bIns="0" rtlCol="0" anchor="t"/>
          <a:lstStyle/>
          <a:p>
            <a:pPr indent="0" marL="0">
              <a:buNone/>
            </a:pPr>
            <a:r>
              <a:rPr lang="en-US" sz="1200" dirty="0">
                <a:solidFill>
                  <a:schemeClr val="bg2"/>
                </a:solidFill>
              </a:rPr>
              <a:t>실시간 승률 예측으로 경기를 쉽게 보여 준다</a:t>
            </a:r>
            <a:endParaRPr lang="en-US" sz="1200" dirty="0"/>
          </a:p>
        </p:txBody>
      </p:sp>
      <p:sp>
        <p:nvSpPr>
          <p:cNvPr id="23" name="role takeaway"/>
          <p:cNvSpPr txBox="1"/>
          <p:nvPr/>
        </p:nvSpPr>
        <p:spPr>
          <a:xfrm>
            <a:off x="457200" y="3931920"/>
            <a:ext cx="8229600" cy="457200"/>
          </a:xfrm>
          <a:prstGeom prst="rect">
            <a:avLst/>
          </a:prstGeom>
          <a:noFill/>
          <a:ln/>
        </p:spPr>
        <p:txBody>
          <a:bodyPr wrap="square" lIns="0" tIns="0" rIns="0" bIns="0" rtlCol="0" anchor="ctr"/>
          <a:lstStyle/>
          <a:p>
            <a:pPr algn="ctr" indent="0" marL="0">
              <a:buNone/>
            </a:pPr>
            <a:r>
              <a:rPr lang="en-US" sz="1800" dirty="0">
                <a:solidFill>
                  <a:schemeClr val="bg2"/>
                </a:solidFill>
              </a:rPr>
              <a:t>AI = 선수 ✕   →   </a:t>
            </a:r>
            <a:pPr algn="ctr" indent="0" marL="0">
              <a:buNone/>
            </a:pPr>
            <a:r>
              <a:rPr lang="en-US" sz="1800" b="1" dirty="0">
                <a:solidFill>
                  <a:schemeClr val="accent1"/>
                </a:solidFill>
              </a:rPr>
              <a:t>AI = 코치 · 도구 ○</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진짜 위험: '사람의 경기'가 깨질 때</a:t>
            </a:r>
            <a:endParaRPr lang="en-US" sz="3000" dirty="0"/>
          </a:p>
        </p:txBody>
      </p:sp>
      <p:sp>
        <p:nvSpPr>
          <p:cNvPr id="3" name="risk hero card"/>
          <p:cNvSpPr/>
          <p:nvPr/>
        </p:nvSpPr>
        <p:spPr>
          <a:xfrm>
            <a:off x="457200" y="1143000"/>
            <a:ext cx="3108960" cy="3291840"/>
          </a:xfrm>
          <a:prstGeom prst="roundRect">
            <a:avLst>
              <a:gd name="adj" fmla="val 3529"/>
            </a:avLst>
          </a:prstGeom>
          <a:solidFill>
            <a:schemeClr val="tx2"/>
          </a:solidFill>
          <a:ln w="12700">
            <a:solidFill>
              <a:schemeClr val="accent6"/>
            </a:solidFill>
            <a:prstDash val="solid"/>
          </a:ln>
        </p:spPr>
      </p:sp>
      <p:sp>
        <p:nvSpPr>
          <p:cNvPr id="4" name="risk hero circle"/>
          <p:cNvSpPr/>
          <p:nvPr/>
        </p:nvSpPr>
        <p:spPr>
          <a:xfrm>
            <a:off x="1280160" y="1417320"/>
            <a:ext cx="1463040" cy="1463040"/>
          </a:xfrm>
          <a:prstGeom prst="ellipse">
            <a:avLst/>
          </a:prstGeom>
          <a:solidFill>
            <a:schemeClr val="accent2"/>
          </a:solidFill>
          <a:ln/>
        </p:spPr>
      </p:sp>
      <p:pic>
        <p:nvPicPr>
          <p:cNvPr id="5" name="risk hero icon" descr="risk hero">    </p:cNvPr>
          <p:cNvPicPr>
            <a:picLocks noChangeAspect="1"/>
          </p:cNvPicPr>
          <p:nvPr/>
        </p:nvPicPr>
        <p:blipFill>
          <a:blip r:embed="rId1"/>
          <a:stretch>
            <a:fillRect/>
          </a:stretch>
        </p:blipFill>
        <p:spPr>
          <a:xfrm>
            <a:off x="1645920" y="1783080"/>
            <a:ext cx="731520" cy="731520"/>
          </a:xfrm>
          <a:prstGeom prst="rect">
            <a:avLst/>
          </a:prstGeom>
        </p:spPr>
      </p:pic>
      <p:sp>
        <p:nvSpPr>
          <p:cNvPr id="6" name="risk hero title"/>
          <p:cNvSpPr txBox="1"/>
          <p:nvPr/>
        </p:nvSpPr>
        <p:spPr>
          <a:xfrm>
            <a:off x="640080" y="3063240"/>
            <a:ext cx="2743200" cy="411480"/>
          </a:xfrm>
          <a:prstGeom prst="rect">
            <a:avLst/>
          </a:prstGeom>
          <a:noFill/>
          <a:ln/>
        </p:spPr>
        <p:txBody>
          <a:bodyPr wrap="square" lIns="0" tIns="0" rIns="0" bIns="0" rtlCol="0" anchor="ctr"/>
          <a:lstStyle/>
          <a:p>
            <a:pPr algn="ctr" indent="0" marL="0">
              <a:buNone/>
            </a:pPr>
            <a:r>
              <a:rPr lang="en-US" sz="2200" b="1" dirty="0">
                <a:solidFill>
                  <a:schemeClr val="bg1"/>
                </a:solidFill>
              </a:rPr>
              <a:t>AI 부정행위</a:t>
            </a:r>
            <a:endParaRPr lang="en-US" sz="2200" dirty="0"/>
          </a:p>
        </p:txBody>
      </p:sp>
      <p:sp>
        <p:nvSpPr>
          <p:cNvPr id="7" name="risk hero desc"/>
          <p:cNvSpPr txBox="1"/>
          <p:nvPr/>
        </p:nvSpPr>
        <p:spPr>
          <a:xfrm>
            <a:off x="640080" y="3520440"/>
            <a:ext cx="2743200" cy="731520"/>
          </a:xfrm>
          <a:prstGeom prst="rect">
            <a:avLst/>
          </a:prstGeom>
          <a:noFill/>
          <a:ln/>
        </p:spPr>
        <p:txBody>
          <a:bodyPr wrap="square" lIns="0" tIns="0" rIns="0" bIns="0" rtlCol="0" anchor="ctr"/>
          <a:lstStyle/>
          <a:p>
            <a:pPr algn="ctr" indent="0" marL="0">
              <a:buNone/>
            </a:pPr>
            <a:r>
              <a:rPr lang="en-US" sz="1400" dirty="0">
                <a:solidFill>
                  <a:schemeClr val="bg2"/>
                </a:solidFill>
              </a:rPr>
              <a:t>AI가 스포츠를 망치는</a:t>
            </a:r>
            <a:endParaRPr lang="en-US" sz="1400" dirty="0"/>
          </a:p>
          <a:p>
            <a:pPr algn="ctr" indent="0" marL="0">
              <a:buNone/>
            </a:pPr>
            <a:r>
              <a:rPr lang="en-US" sz="1400" dirty="0">
                <a:solidFill>
                  <a:schemeClr val="bg2"/>
                </a:solidFill>
              </a:rPr>
              <a:t>유일한 방법</a:t>
            </a:r>
            <a:endParaRPr lang="en-US" sz="1400" dirty="0"/>
          </a:p>
        </p:txBody>
      </p:sp>
      <p:sp>
        <p:nvSpPr>
          <p:cNvPr id="8" name="risk row 1"/>
          <p:cNvSpPr/>
          <p:nvPr/>
        </p:nvSpPr>
        <p:spPr>
          <a:xfrm>
            <a:off x="3840480" y="1143000"/>
            <a:ext cx="4846320" cy="1005840"/>
          </a:xfrm>
          <a:prstGeom prst="roundRect">
            <a:avLst>
              <a:gd name="adj" fmla="val 10909"/>
            </a:avLst>
          </a:prstGeom>
          <a:solidFill>
            <a:schemeClr val="tx2"/>
          </a:solidFill>
          <a:ln w="12700">
            <a:solidFill>
              <a:schemeClr val="accent6"/>
            </a:solidFill>
            <a:prstDash val="solid"/>
          </a:ln>
        </p:spPr>
      </p:sp>
      <p:sp>
        <p:nvSpPr>
          <p:cNvPr id="9" name="risk 1 circle"/>
          <p:cNvSpPr/>
          <p:nvPr/>
        </p:nvSpPr>
        <p:spPr>
          <a:xfrm>
            <a:off x="4023360" y="1371600"/>
            <a:ext cx="548640" cy="548640"/>
          </a:xfrm>
          <a:prstGeom prst="ellipse">
            <a:avLst/>
          </a:prstGeom>
          <a:solidFill>
            <a:schemeClr val="accent2"/>
          </a:solidFill>
          <a:ln/>
        </p:spPr>
      </p:sp>
      <p:pic>
        <p:nvPicPr>
          <p:cNvPr id="10" name="risk 1 icon" descr="risk 1">    </p:cNvPr>
          <p:cNvPicPr>
            <a:picLocks noChangeAspect="1"/>
          </p:cNvPicPr>
          <p:nvPr/>
        </p:nvPicPr>
        <p:blipFill>
          <a:blip r:embed="rId2"/>
          <a:stretch>
            <a:fillRect/>
          </a:stretch>
        </p:blipFill>
        <p:spPr>
          <a:xfrm>
            <a:off x="4160520" y="1508760"/>
            <a:ext cx="274320" cy="274320"/>
          </a:xfrm>
          <a:prstGeom prst="rect">
            <a:avLst/>
          </a:prstGeom>
        </p:spPr>
      </p:pic>
      <p:sp>
        <p:nvSpPr>
          <p:cNvPr id="11" name="risk head 1"/>
          <p:cNvSpPr txBox="1"/>
          <p:nvPr/>
        </p:nvSpPr>
        <p:spPr>
          <a:xfrm>
            <a:off x="4754880" y="1252728"/>
            <a:ext cx="3794760" cy="320040"/>
          </a:xfrm>
          <a:prstGeom prst="rect">
            <a:avLst/>
          </a:prstGeom>
          <a:noFill/>
          <a:ln/>
        </p:spPr>
        <p:txBody>
          <a:bodyPr wrap="square" lIns="0" tIns="0" rIns="0" bIns="0" rtlCol="0" anchor="ctr"/>
          <a:lstStyle/>
          <a:p>
            <a:pPr indent="0" marL="0">
              <a:buNone/>
            </a:pPr>
            <a:r>
              <a:rPr lang="en-US" sz="1500" b="1" dirty="0">
                <a:solidFill>
                  <a:schemeClr val="bg1"/>
                </a:solidFill>
              </a:rPr>
              <a:t>바둑 (2020년 1월)</a:t>
            </a:r>
            <a:endParaRPr lang="en-US" sz="1500" dirty="0"/>
          </a:p>
        </p:txBody>
      </p:sp>
      <p:sp>
        <p:nvSpPr>
          <p:cNvPr id="12" name="risk desc 1"/>
          <p:cNvSpPr txBox="1"/>
          <p:nvPr/>
        </p:nvSpPr>
        <p:spPr>
          <a:xfrm>
            <a:off x="4754880" y="1572768"/>
            <a:ext cx="3794760" cy="502920"/>
          </a:xfrm>
          <a:prstGeom prst="rect">
            <a:avLst/>
          </a:prstGeom>
          <a:noFill/>
          <a:ln/>
        </p:spPr>
        <p:txBody>
          <a:bodyPr wrap="square" lIns="0" tIns="0" rIns="0" bIns="0" rtlCol="0" anchor="t"/>
          <a:lstStyle/>
          <a:p>
            <a:pPr indent="0" marL="0">
              <a:buNone/>
            </a:pPr>
            <a:r>
              <a:rPr lang="en-US" sz="1200" dirty="0">
                <a:solidFill>
                  <a:schemeClr val="bg2"/>
                </a:solidFill>
              </a:rPr>
              <a:t>한국기원 프로 입단대회에서 외부인이 AI로 다음 수를 알려 준 부정행위 적발 → 실격</a:t>
            </a:r>
            <a:endParaRPr lang="en-US" sz="1200" dirty="0"/>
          </a:p>
        </p:txBody>
      </p:sp>
      <p:sp>
        <p:nvSpPr>
          <p:cNvPr id="13" name="risk row 2"/>
          <p:cNvSpPr/>
          <p:nvPr/>
        </p:nvSpPr>
        <p:spPr>
          <a:xfrm>
            <a:off x="3840480" y="2286000"/>
            <a:ext cx="4846320" cy="1005840"/>
          </a:xfrm>
          <a:prstGeom prst="roundRect">
            <a:avLst>
              <a:gd name="adj" fmla="val 10909"/>
            </a:avLst>
          </a:prstGeom>
          <a:solidFill>
            <a:schemeClr val="tx2"/>
          </a:solidFill>
          <a:ln w="12700">
            <a:solidFill>
              <a:schemeClr val="accent6"/>
            </a:solidFill>
            <a:prstDash val="solid"/>
          </a:ln>
        </p:spPr>
      </p:sp>
      <p:sp>
        <p:nvSpPr>
          <p:cNvPr id="14" name="risk 2 circle"/>
          <p:cNvSpPr/>
          <p:nvPr/>
        </p:nvSpPr>
        <p:spPr>
          <a:xfrm>
            <a:off x="4023360" y="2514600"/>
            <a:ext cx="548640" cy="548640"/>
          </a:xfrm>
          <a:prstGeom prst="ellipse">
            <a:avLst/>
          </a:prstGeom>
          <a:solidFill>
            <a:schemeClr val="accent2"/>
          </a:solidFill>
          <a:ln/>
        </p:spPr>
      </p:sp>
      <p:pic>
        <p:nvPicPr>
          <p:cNvPr id="15" name="risk 2 icon" descr="risk 2">    </p:cNvPr>
          <p:cNvPicPr>
            <a:picLocks noChangeAspect="1"/>
          </p:cNvPicPr>
          <p:nvPr/>
        </p:nvPicPr>
        <p:blipFill>
          <a:blip r:embed="rId3"/>
          <a:stretch>
            <a:fillRect/>
          </a:stretch>
        </p:blipFill>
        <p:spPr>
          <a:xfrm>
            <a:off x="4160520" y="2651760"/>
            <a:ext cx="274320" cy="274320"/>
          </a:xfrm>
          <a:prstGeom prst="rect">
            <a:avLst/>
          </a:prstGeom>
        </p:spPr>
      </p:pic>
      <p:sp>
        <p:nvSpPr>
          <p:cNvPr id="16" name="risk head 2"/>
          <p:cNvSpPr txBox="1"/>
          <p:nvPr/>
        </p:nvSpPr>
        <p:spPr>
          <a:xfrm>
            <a:off x="4754880" y="2395728"/>
            <a:ext cx="3794760" cy="320040"/>
          </a:xfrm>
          <a:prstGeom prst="rect">
            <a:avLst/>
          </a:prstGeom>
          <a:noFill/>
          <a:ln/>
        </p:spPr>
        <p:txBody>
          <a:bodyPr wrap="square" lIns="0" tIns="0" rIns="0" bIns="0" rtlCol="0" anchor="ctr"/>
          <a:lstStyle/>
          <a:p>
            <a:pPr indent="0" marL="0">
              <a:buNone/>
            </a:pPr>
            <a:r>
              <a:rPr lang="en-US" sz="1500" b="1" dirty="0">
                <a:solidFill>
                  <a:schemeClr val="bg1"/>
                </a:solidFill>
              </a:rPr>
              <a:t>e스포츠</a:t>
            </a:r>
            <a:endParaRPr lang="en-US" sz="1500" dirty="0"/>
          </a:p>
        </p:txBody>
      </p:sp>
      <p:sp>
        <p:nvSpPr>
          <p:cNvPr id="17" name="risk desc 2"/>
          <p:cNvSpPr txBox="1"/>
          <p:nvPr/>
        </p:nvSpPr>
        <p:spPr>
          <a:xfrm>
            <a:off x="4754880" y="2715768"/>
            <a:ext cx="3794760" cy="502920"/>
          </a:xfrm>
          <a:prstGeom prst="rect">
            <a:avLst/>
          </a:prstGeom>
          <a:noFill/>
          <a:ln/>
        </p:spPr>
        <p:txBody>
          <a:bodyPr wrap="square" lIns="0" tIns="0" rIns="0" bIns="0" rtlCol="0" anchor="t"/>
          <a:lstStyle/>
          <a:p>
            <a:pPr indent="0" marL="0">
              <a:buNone/>
            </a:pPr>
            <a:r>
              <a:rPr lang="en-US" sz="1200" dirty="0">
                <a:solidFill>
                  <a:schemeClr val="bg2"/>
                </a:solidFill>
              </a:rPr>
              <a:t>AI를 이용한 핵(불법 프로그램)으로 조준 · 판단을 대신하는 문제</a:t>
            </a:r>
            <a:endParaRPr lang="en-US" sz="1200" dirty="0"/>
          </a:p>
        </p:txBody>
      </p:sp>
      <p:sp>
        <p:nvSpPr>
          <p:cNvPr id="18" name="risk row 3"/>
          <p:cNvSpPr/>
          <p:nvPr/>
        </p:nvSpPr>
        <p:spPr>
          <a:xfrm>
            <a:off x="3840480" y="3429000"/>
            <a:ext cx="4846320" cy="1005840"/>
          </a:xfrm>
          <a:prstGeom prst="roundRect">
            <a:avLst>
              <a:gd name="adj" fmla="val 10909"/>
            </a:avLst>
          </a:prstGeom>
          <a:solidFill>
            <a:schemeClr val="tx2"/>
          </a:solidFill>
          <a:ln w="12700">
            <a:solidFill>
              <a:schemeClr val="accent6"/>
            </a:solidFill>
            <a:prstDash val="solid"/>
          </a:ln>
        </p:spPr>
      </p:sp>
      <p:sp>
        <p:nvSpPr>
          <p:cNvPr id="19" name="risk 3 circle"/>
          <p:cNvSpPr/>
          <p:nvPr/>
        </p:nvSpPr>
        <p:spPr>
          <a:xfrm>
            <a:off x="4023360" y="3657600"/>
            <a:ext cx="548640" cy="548640"/>
          </a:xfrm>
          <a:prstGeom prst="ellipse">
            <a:avLst/>
          </a:prstGeom>
          <a:solidFill>
            <a:schemeClr val="accent2"/>
          </a:solidFill>
          <a:ln/>
        </p:spPr>
      </p:sp>
      <p:pic>
        <p:nvPicPr>
          <p:cNvPr id="20" name="risk 3 icon" descr="risk 3">    </p:cNvPr>
          <p:cNvPicPr>
            <a:picLocks noChangeAspect="1"/>
          </p:cNvPicPr>
          <p:nvPr/>
        </p:nvPicPr>
        <p:blipFill>
          <a:blip r:embed="rId4"/>
          <a:stretch>
            <a:fillRect/>
          </a:stretch>
        </p:blipFill>
        <p:spPr>
          <a:xfrm>
            <a:off x="4160520" y="3794760"/>
            <a:ext cx="274320" cy="274320"/>
          </a:xfrm>
          <a:prstGeom prst="rect">
            <a:avLst/>
          </a:prstGeom>
        </p:spPr>
      </p:pic>
      <p:sp>
        <p:nvSpPr>
          <p:cNvPr id="21" name="risk head 3"/>
          <p:cNvSpPr txBox="1"/>
          <p:nvPr/>
        </p:nvSpPr>
        <p:spPr>
          <a:xfrm>
            <a:off x="4754880" y="3538728"/>
            <a:ext cx="3794760" cy="320040"/>
          </a:xfrm>
          <a:prstGeom prst="rect">
            <a:avLst/>
          </a:prstGeom>
          <a:noFill/>
          <a:ln/>
        </p:spPr>
        <p:txBody>
          <a:bodyPr wrap="square" lIns="0" tIns="0" rIns="0" bIns="0" rtlCol="0" anchor="ctr"/>
          <a:lstStyle/>
          <a:p>
            <a:pPr indent="0" marL="0">
              <a:buNone/>
            </a:pPr>
            <a:r>
              <a:rPr lang="en-US" sz="1500" b="1" dirty="0">
                <a:solidFill>
                  <a:schemeClr val="bg1"/>
                </a:solidFill>
              </a:rPr>
              <a:t>왜 치명적인가?</a:t>
            </a:r>
            <a:endParaRPr lang="en-US" sz="1500" dirty="0"/>
          </a:p>
        </p:txBody>
      </p:sp>
      <p:sp>
        <p:nvSpPr>
          <p:cNvPr id="22" name="risk desc 3"/>
          <p:cNvSpPr txBox="1"/>
          <p:nvPr/>
        </p:nvSpPr>
        <p:spPr>
          <a:xfrm>
            <a:off x="4754880" y="3858768"/>
            <a:ext cx="3794760" cy="502920"/>
          </a:xfrm>
          <a:prstGeom prst="rect">
            <a:avLst/>
          </a:prstGeom>
          <a:noFill/>
          <a:ln/>
        </p:spPr>
        <p:txBody>
          <a:bodyPr wrap="square" lIns="0" tIns="0" rIns="0" bIns="0" rtlCol="0" anchor="t"/>
          <a:lstStyle/>
          <a:p>
            <a:pPr indent="0" marL="0">
              <a:buNone/>
            </a:pPr>
            <a:r>
              <a:rPr lang="en-US" sz="1200" dirty="0">
                <a:solidFill>
                  <a:schemeClr val="bg2"/>
                </a:solidFill>
              </a:rPr>
              <a:t>'사람이 한 게 아닐 수도 있다'는 의심만으로 경기의 가치가 사라진다</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결론</a:t>
            </a:r>
            <a:endParaRPr lang="en-US" sz="3000" dirty="0"/>
          </a:p>
        </p:txBody>
      </p:sp>
      <p:sp>
        <p:nvSpPr>
          <p:cNvPr id="3" name="quote card"/>
          <p:cNvSpPr/>
          <p:nvPr/>
        </p:nvSpPr>
        <p:spPr>
          <a:xfrm>
            <a:off x="457200" y="1143000"/>
            <a:ext cx="8229600" cy="1463040"/>
          </a:xfrm>
          <a:prstGeom prst="roundRect">
            <a:avLst>
              <a:gd name="adj" fmla="val 7500"/>
            </a:avLst>
          </a:prstGeom>
          <a:solidFill>
            <a:schemeClr val="tx2"/>
          </a:solidFill>
          <a:ln w="12700">
            <a:solidFill>
              <a:schemeClr val="accent6"/>
            </a:solidFill>
            <a:prstDash val="solid"/>
          </a:ln>
        </p:spPr>
      </p:sp>
      <p:sp>
        <p:nvSpPr>
          <p:cNvPr id="4" name="conclusion quote"/>
          <p:cNvSpPr txBox="1"/>
          <p:nvPr/>
        </p:nvSpPr>
        <p:spPr>
          <a:xfrm>
            <a:off x="731520" y="1188720"/>
            <a:ext cx="7680960" cy="1371600"/>
          </a:xfrm>
          <a:prstGeom prst="rect">
            <a:avLst/>
          </a:prstGeom>
          <a:noFill/>
          <a:ln/>
        </p:spPr>
        <p:txBody>
          <a:bodyPr wrap="square" lIns="0" tIns="0" rIns="0" bIns="0" rtlCol="0" anchor="ctr"/>
          <a:lstStyle/>
          <a:p>
            <a:pPr algn="ctr" indent="0" marL="0">
              <a:buNone/>
            </a:pPr>
            <a:r>
              <a:rPr lang="en-US" sz="2200" b="1" dirty="0">
                <a:solidFill>
                  <a:schemeClr val="bg2"/>
                </a:solidFill>
              </a:rPr>
              <a:t>AI는 사람보다 더 잘할 수 있다.</a:t>
            </a:r>
            <a:endParaRPr lang="en-US" sz="2200" dirty="0"/>
          </a:p>
          <a:p>
            <a:pPr algn="ctr" indent="0" marL="0">
              <a:buNone/>
            </a:pPr>
            <a:r>
              <a:rPr lang="en-US" sz="2200" b="1" dirty="0">
                <a:solidFill>
                  <a:schemeClr val="bg1"/>
                </a:solidFill>
              </a:rPr>
              <a:t>하지만 스포츠는 '더 잘하는 것'이 아니라</a:t>
            </a:r>
            <a:endParaRPr lang="en-US" sz="2200" dirty="0"/>
          </a:p>
          <a:p>
            <a:pPr algn="ctr" indent="0" marL="0">
              <a:buNone/>
            </a:pPr>
            <a:r>
              <a:rPr lang="en-US" sz="2200" b="1" dirty="0">
                <a:solidFill>
                  <a:schemeClr val="accent1"/>
                </a:solidFill>
              </a:rPr>
              <a:t>'사람이 해내는 것'을 본다.</a:t>
            </a:r>
            <a:endParaRPr lang="en-US" sz="2200" dirty="0"/>
          </a:p>
        </p:txBody>
      </p:sp>
      <p:sp>
        <p:nvSpPr>
          <p:cNvPr id="5" name="conclusion card 1"/>
          <p:cNvSpPr/>
          <p:nvPr/>
        </p:nvSpPr>
        <p:spPr>
          <a:xfrm>
            <a:off x="457200" y="2834640"/>
            <a:ext cx="2560320" cy="1600200"/>
          </a:xfrm>
          <a:prstGeom prst="roundRect">
            <a:avLst>
              <a:gd name="adj" fmla="val 6857"/>
            </a:avLst>
          </a:prstGeom>
          <a:solidFill>
            <a:schemeClr val="tx2"/>
          </a:solidFill>
          <a:ln w="12700">
            <a:solidFill>
              <a:schemeClr val="accent6"/>
            </a:solidFill>
            <a:prstDash val="solid"/>
          </a:ln>
        </p:spPr>
      </p:sp>
      <p:sp>
        <p:nvSpPr>
          <p:cNvPr id="6" name="conclusion 1 circle"/>
          <p:cNvSpPr/>
          <p:nvPr/>
        </p:nvSpPr>
        <p:spPr>
          <a:xfrm>
            <a:off x="685800" y="3017520"/>
            <a:ext cx="548640" cy="548640"/>
          </a:xfrm>
          <a:prstGeom prst="ellipse">
            <a:avLst/>
          </a:prstGeom>
          <a:solidFill>
            <a:schemeClr val="accent1"/>
          </a:solidFill>
          <a:ln/>
        </p:spPr>
      </p:sp>
      <p:pic>
        <p:nvPicPr>
          <p:cNvPr id="7" name="conclusion 1 icon" descr="conclusion 1">    </p:cNvPr>
          <p:cNvPicPr>
            <a:picLocks noChangeAspect="1"/>
          </p:cNvPicPr>
          <p:nvPr/>
        </p:nvPicPr>
        <p:blipFill>
          <a:blip r:embed="rId1"/>
          <a:stretch>
            <a:fillRect/>
          </a:stretch>
        </p:blipFill>
        <p:spPr>
          <a:xfrm>
            <a:off x="822960" y="3154680"/>
            <a:ext cx="274320" cy="274320"/>
          </a:xfrm>
          <a:prstGeom prst="rect">
            <a:avLst/>
          </a:prstGeom>
        </p:spPr>
      </p:pic>
      <p:sp>
        <p:nvSpPr>
          <p:cNvPr id="8" name="conclusion head 1"/>
          <p:cNvSpPr txBox="1"/>
          <p:nvPr/>
        </p:nvSpPr>
        <p:spPr>
          <a:xfrm>
            <a:off x="1371600" y="3063240"/>
            <a:ext cx="1554480" cy="457200"/>
          </a:xfrm>
          <a:prstGeom prst="rect">
            <a:avLst/>
          </a:prstGeom>
          <a:noFill/>
          <a:ln/>
        </p:spPr>
        <p:txBody>
          <a:bodyPr wrap="square" lIns="0" tIns="0" rIns="0" bIns="0" rtlCol="0" anchor="ctr"/>
          <a:lstStyle/>
          <a:p>
            <a:pPr indent="0" marL="0">
              <a:buNone/>
            </a:pPr>
            <a:r>
              <a:rPr lang="en-US" sz="1500" b="1" dirty="0">
                <a:solidFill>
                  <a:schemeClr val="bg1"/>
                </a:solidFill>
              </a:rPr>
              <a:t>대체되지 않는다</a:t>
            </a:r>
            <a:endParaRPr lang="en-US" sz="1500" dirty="0"/>
          </a:p>
        </p:txBody>
      </p:sp>
      <p:sp>
        <p:nvSpPr>
          <p:cNvPr id="9" name="conclusion desc 1"/>
          <p:cNvSpPr txBox="1"/>
          <p:nvPr/>
        </p:nvSpPr>
        <p:spPr>
          <a:xfrm>
            <a:off x="685800" y="3703320"/>
            <a:ext cx="2148840" cy="640080"/>
          </a:xfrm>
          <a:prstGeom prst="rect">
            <a:avLst/>
          </a:prstGeom>
          <a:noFill/>
          <a:ln/>
        </p:spPr>
        <p:txBody>
          <a:bodyPr wrap="square" lIns="0" tIns="0" rIns="0" bIns="0" rtlCol="0" anchor="t"/>
          <a:lstStyle/>
          <a:p>
            <a:pPr indent="0" marL="0">
              <a:buNone/>
            </a:pPr>
            <a:r>
              <a:rPr lang="en-US" sz="1200" dirty="0">
                <a:solidFill>
                  <a:schemeClr val="bg2"/>
                </a:solidFill>
              </a:rPr>
              <a:t>스포츠의 가치는 결과가 아니라 '사람'에 있다</a:t>
            </a:r>
            <a:endParaRPr lang="en-US" sz="1200" dirty="0"/>
          </a:p>
        </p:txBody>
      </p:sp>
      <p:sp>
        <p:nvSpPr>
          <p:cNvPr id="10" name="conclusion card 2"/>
          <p:cNvSpPr/>
          <p:nvPr/>
        </p:nvSpPr>
        <p:spPr>
          <a:xfrm>
            <a:off x="3291840" y="2834640"/>
            <a:ext cx="2560320" cy="1600200"/>
          </a:xfrm>
          <a:prstGeom prst="roundRect">
            <a:avLst>
              <a:gd name="adj" fmla="val 6857"/>
            </a:avLst>
          </a:prstGeom>
          <a:solidFill>
            <a:schemeClr val="tx2"/>
          </a:solidFill>
          <a:ln w="12700">
            <a:solidFill>
              <a:schemeClr val="accent6"/>
            </a:solidFill>
            <a:prstDash val="solid"/>
          </a:ln>
        </p:spPr>
      </p:sp>
      <p:sp>
        <p:nvSpPr>
          <p:cNvPr id="11" name="conclusion 2 circle"/>
          <p:cNvSpPr/>
          <p:nvPr/>
        </p:nvSpPr>
        <p:spPr>
          <a:xfrm>
            <a:off x="3520440" y="3017520"/>
            <a:ext cx="548640" cy="548640"/>
          </a:xfrm>
          <a:prstGeom prst="ellipse">
            <a:avLst/>
          </a:prstGeom>
          <a:solidFill>
            <a:schemeClr val="accent4"/>
          </a:solidFill>
          <a:ln/>
        </p:spPr>
      </p:sp>
      <p:pic>
        <p:nvPicPr>
          <p:cNvPr id="12" name="conclusion 2 icon" descr="conclusion 2">    </p:cNvPr>
          <p:cNvPicPr>
            <a:picLocks noChangeAspect="1"/>
          </p:cNvPicPr>
          <p:nvPr/>
        </p:nvPicPr>
        <p:blipFill>
          <a:blip r:embed="rId2"/>
          <a:stretch>
            <a:fillRect/>
          </a:stretch>
        </p:blipFill>
        <p:spPr>
          <a:xfrm>
            <a:off x="3657600" y="3154680"/>
            <a:ext cx="274320" cy="274320"/>
          </a:xfrm>
          <a:prstGeom prst="rect">
            <a:avLst/>
          </a:prstGeom>
        </p:spPr>
      </p:pic>
      <p:sp>
        <p:nvSpPr>
          <p:cNvPr id="13" name="conclusion head 2"/>
          <p:cNvSpPr txBox="1"/>
          <p:nvPr/>
        </p:nvSpPr>
        <p:spPr>
          <a:xfrm>
            <a:off x="4206240" y="3063240"/>
            <a:ext cx="1554480" cy="457200"/>
          </a:xfrm>
          <a:prstGeom prst="rect">
            <a:avLst/>
          </a:prstGeom>
          <a:noFill/>
          <a:ln/>
        </p:spPr>
        <p:txBody>
          <a:bodyPr wrap="square" lIns="0" tIns="0" rIns="0" bIns="0" rtlCol="0" anchor="ctr"/>
          <a:lstStyle/>
          <a:p>
            <a:pPr indent="0" marL="0">
              <a:buNone/>
            </a:pPr>
            <a:r>
              <a:rPr lang="en-US" sz="1500" b="1" dirty="0">
                <a:solidFill>
                  <a:schemeClr val="bg1"/>
                </a:solidFill>
              </a:rPr>
              <a:t>더 강해진다</a:t>
            </a:r>
            <a:endParaRPr lang="en-US" sz="1500" dirty="0"/>
          </a:p>
        </p:txBody>
      </p:sp>
      <p:sp>
        <p:nvSpPr>
          <p:cNvPr id="14" name="conclusion desc 2"/>
          <p:cNvSpPr txBox="1"/>
          <p:nvPr/>
        </p:nvSpPr>
        <p:spPr>
          <a:xfrm>
            <a:off x="3520440" y="3703320"/>
            <a:ext cx="2148840" cy="640080"/>
          </a:xfrm>
          <a:prstGeom prst="rect">
            <a:avLst/>
          </a:prstGeom>
          <a:noFill/>
          <a:ln/>
        </p:spPr>
        <p:txBody>
          <a:bodyPr wrap="square" lIns="0" tIns="0" rIns="0" bIns="0" rtlCol="0" anchor="t"/>
          <a:lstStyle/>
          <a:p>
            <a:pPr indent="0" marL="0">
              <a:buNone/>
            </a:pPr>
            <a:r>
              <a:rPr lang="en-US" sz="1200" dirty="0">
                <a:solidFill>
                  <a:schemeClr val="bg2"/>
                </a:solidFill>
              </a:rPr>
              <a:t>알파고 이후 바둑처럼 AI는 사람을 키우는 코치</a:t>
            </a:r>
            <a:endParaRPr lang="en-US" sz="1200" dirty="0"/>
          </a:p>
        </p:txBody>
      </p:sp>
      <p:sp>
        <p:nvSpPr>
          <p:cNvPr id="15" name="conclusion card 3"/>
          <p:cNvSpPr/>
          <p:nvPr/>
        </p:nvSpPr>
        <p:spPr>
          <a:xfrm>
            <a:off x="6126480" y="2834640"/>
            <a:ext cx="2560320" cy="1600200"/>
          </a:xfrm>
          <a:prstGeom prst="roundRect">
            <a:avLst>
              <a:gd name="adj" fmla="val 6857"/>
            </a:avLst>
          </a:prstGeom>
          <a:solidFill>
            <a:schemeClr val="tx2"/>
          </a:solidFill>
          <a:ln w="12700">
            <a:solidFill>
              <a:schemeClr val="accent6"/>
            </a:solidFill>
            <a:prstDash val="solid"/>
          </a:ln>
        </p:spPr>
      </p:sp>
      <p:sp>
        <p:nvSpPr>
          <p:cNvPr id="16" name="conclusion 3 circle"/>
          <p:cNvSpPr/>
          <p:nvPr/>
        </p:nvSpPr>
        <p:spPr>
          <a:xfrm>
            <a:off x="6355080" y="3017520"/>
            <a:ext cx="548640" cy="548640"/>
          </a:xfrm>
          <a:prstGeom prst="ellipse">
            <a:avLst/>
          </a:prstGeom>
          <a:solidFill>
            <a:schemeClr val="accent2"/>
          </a:solidFill>
          <a:ln/>
        </p:spPr>
      </p:sp>
      <p:pic>
        <p:nvPicPr>
          <p:cNvPr id="17" name="conclusion 3 icon" descr="conclusion 3">    </p:cNvPr>
          <p:cNvPicPr>
            <a:picLocks noChangeAspect="1"/>
          </p:cNvPicPr>
          <p:nvPr/>
        </p:nvPicPr>
        <p:blipFill>
          <a:blip r:embed="rId3"/>
          <a:stretch>
            <a:fillRect/>
          </a:stretch>
        </p:blipFill>
        <p:spPr>
          <a:xfrm>
            <a:off x="6492240" y="3154680"/>
            <a:ext cx="274320" cy="274320"/>
          </a:xfrm>
          <a:prstGeom prst="rect">
            <a:avLst/>
          </a:prstGeom>
        </p:spPr>
      </p:pic>
      <p:sp>
        <p:nvSpPr>
          <p:cNvPr id="18" name="conclusion head 3"/>
          <p:cNvSpPr txBox="1"/>
          <p:nvPr/>
        </p:nvSpPr>
        <p:spPr>
          <a:xfrm>
            <a:off x="7040880" y="3063240"/>
            <a:ext cx="1554480" cy="457200"/>
          </a:xfrm>
          <a:prstGeom prst="rect">
            <a:avLst/>
          </a:prstGeom>
          <a:noFill/>
          <a:ln/>
        </p:spPr>
        <p:txBody>
          <a:bodyPr wrap="square" lIns="0" tIns="0" rIns="0" bIns="0" rtlCol="0" anchor="ctr"/>
          <a:lstStyle/>
          <a:p>
            <a:pPr indent="0" marL="0">
              <a:buNone/>
            </a:pPr>
            <a:r>
              <a:rPr lang="en-US" sz="1500" b="1" dirty="0">
                <a:solidFill>
                  <a:schemeClr val="bg1"/>
                </a:solidFill>
              </a:rPr>
              <a:t>규칙이 필요하다</a:t>
            </a:r>
            <a:endParaRPr lang="en-US" sz="1500" dirty="0"/>
          </a:p>
        </p:txBody>
      </p:sp>
      <p:sp>
        <p:nvSpPr>
          <p:cNvPr id="19" name="conclusion desc 3"/>
          <p:cNvSpPr txBox="1"/>
          <p:nvPr/>
        </p:nvSpPr>
        <p:spPr>
          <a:xfrm>
            <a:off x="6355080" y="3703320"/>
            <a:ext cx="2148840" cy="640080"/>
          </a:xfrm>
          <a:prstGeom prst="rect">
            <a:avLst/>
          </a:prstGeom>
          <a:noFill/>
          <a:ln/>
        </p:spPr>
        <p:txBody>
          <a:bodyPr wrap="square" lIns="0" tIns="0" rIns="0" bIns="0" rtlCol="0" anchor="t"/>
          <a:lstStyle/>
          <a:p>
            <a:pPr indent="0" marL="0">
              <a:buNone/>
            </a:pPr>
            <a:r>
              <a:rPr lang="en-US" sz="1200" dirty="0">
                <a:solidFill>
                  <a:schemeClr val="bg2"/>
                </a:solidFill>
              </a:rPr>
              <a:t>'사람의 경기'를 지키는 공정한 AI 사용 규칙</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참고 자료</a:t>
            </a:r>
            <a:endParaRPr lang="en-US" sz="3000" dirty="0"/>
          </a:p>
        </p:txBody>
      </p:sp>
      <p:sp>
        <p:nvSpPr>
          <p:cNvPr id="3" name="reference list"/>
          <p:cNvSpPr txBox="1"/>
          <p:nvPr/>
        </p:nvSpPr>
        <p:spPr>
          <a:xfrm>
            <a:off x="457200" y="1143000"/>
            <a:ext cx="5120640" cy="329184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chemeClr val="bg2"/>
                </a:solidFill>
              </a:rPr>
              <a:t>Shin, M. 외 (2023). Superhuman artificial intelligence can improve human decision-making by increasing novelty. PNAS, 120(12).</a:t>
            </a:r>
            <a:endParaRPr lang="en-US" sz="1000" dirty="0"/>
          </a:p>
          <a:p>
            <a:pPr marL="342900" indent="-342900">
              <a:spcAft>
                <a:spcPts val="600"/>
              </a:spcAft>
              <a:buSzPct val="100000"/>
              <a:buChar char="•"/>
            </a:pPr>
            <a:r>
              <a:rPr lang="en-US" sz="1000" dirty="0">
                <a:solidFill>
                  <a:schemeClr val="bg2"/>
                </a:solidFill>
              </a:rPr>
              <a:t>Goldman Sachs (2023). The Potentially Large Effects of Artificial Intelligence on Economic Growth.</a:t>
            </a:r>
            <a:endParaRPr lang="en-US" sz="1000" dirty="0"/>
          </a:p>
          <a:p>
            <a:pPr marL="342900" indent="-342900">
              <a:spcAft>
                <a:spcPts val="600"/>
              </a:spcAft>
              <a:buSzPct val="100000"/>
              <a:buChar char="•"/>
            </a:pPr>
            <a:r>
              <a:rPr lang="en-US" sz="1000" dirty="0">
                <a:solidFill>
                  <a:schemeClr val="bg2"/>
                </a:solidFill>
              </a:rPr>
              <a:t>OpenAI (2023). GPT-4 Technical Report. / Alphabet 2024년 3분기 실적 발표 (2024. 10.)</a:t>
            </a:r>
            <a:endParaRPr lang="en-US" sz="1000" dirty="0"/>
          </a:p>
          <a:p>
            <a:pPr marL="342900" indent="-342900">
              <a:spcAft>
                <a:spcPts val="600"/>
              </a:spcAft>
              <a:buSzPct val="100000"/>
              <a:buChar char="•"/>
            </a:pPr>
            <a:r>
              <a:rPr lang="en-US" sz="1000" dirty="0">
                <a:solidFill>
                  <a:schemeClr val="bg2"/>
                </a:solidFill>
              </a:rPr>
              <a:t>Engadget (2019. 4. 23.). OpenAI Five Arena 결과 / Esports Charts, 2024 롤드컵 시청 기록</a:t>
            </a:r>
            <a:endParaRPr lang="en-US" sz="1000" dirty="0"/>
          </a:p>
          <a:p>
            <a:pPr marL="342900" indent="-342900">
              <a:spcAft>
                <a:spcPts val="600"/>
              </a:spcAft>
              <a:buSzPct val="100000"/>
              <a:buChar char="•"/>
            </a:pPr>
            <a:r>
              <a:rPr lang="en-US" sz="1000" dirty="0">
                <a:solidFill>
                  <a:schemeClr val="bg2"/>
                </a:solidFill>
              </a:rPr>
              <a:t>연합뉴스 외, 이세돌 9단 은퇴 인터뷰 (2019. 11.) / 스포츠경향, 바둑 입단대회 AI 부정행위 (2020. 1. 15.)</a:t>
            </a:r>
            <a:endParaRPr lang="en-US" sz="1000" dirty="0"/>
          </a:p>
          <a:p>
            <a:pPr marL="342900" indent="-342900">
              <a:spcAft>
                <a:spcPts val="600"/>
              </a:spcAft>
              <a:buSzPct val="100000"/>
              <a:buChar char="•"/>
            </a:pPr>
            <a:r>
              <a:rPr lang="en-US" sz="1000" dirty="0">
                <a:solidFill>
                  <a:schemeClr val="bg2"/>
                </a:solidFill>
              </a:rPr>
              <a:t>Chess.com, 회원 1억 명 돌파 발표 (2022. 12.)</a:t>
            </a:r>
            <a:endParaRPr lang="en-US" sz="1000" dirty="0"/>
          </a:p>
        </p:txBody>
      </p:sp>
      <p:sp>
        <p:nvSpPr>
          <p:cNvPr id="4" name="thanks card"/>
          <p:cNvSpPr/>
          <p:nvPr/>
        </p:nvSpPr>
        <p:spPr>
          <a:xfrm>
            <a:off x="5852160" y="1143000"/>
            <a:ext cx="2834640" cy="3291840"/>
          </a:xfrm>
          <a:prstGeom prst="roundRect">
            <a:avLst>
              <a:gd name="adj" fmla="val 3871"/>
            </a:avLst>
          </a:prstGeom>
          <a:solidFill>
            <a:schemeClr val="tx2"/>
          </a:solidFill>
          <a:ln w="12700">
            <a:solidFill>
              <a:schemeClr val="accent6"/>
            </a:solidFill>
            <a:prstDash val="solid"/>
          </a:ln>
        </p:spPr>
      </p:sp>
      <p:sp>
        <p:nvSpPr>
          <p:cNvPr id="5" name="thanks circle"/>
          <p:cNvSpPr/>
          <p:nvPr/>
        </p:nvSpPr>
        <p:spPr>
          <a:xfrm>
            <a:off x="6812280" y="1463040"/>
            <a:ext cx="914400" cy="914400"/>
          </a:xfrm>
          <a:prstGeom prst="ellipse">
            <a:avLst/>
          </a:prstGeom>
          <a:solidFill>
            <a:schemeClr val="accent1"/>
          </a:solidFill>
          <a:ln/>
        </p:spPr>
      </p:sp>
      <p:pic>
        <p:nvPicPr>
          <p:cNvPr id="6" name="thanks icon" descr="thanks">    </p:cNvPr>
          <p:cNvPicPr>
            <a:picLocks noChangeAspect="1"/>
          </p:cNvPicPr>
          <p:nvPr/>
        </p:nvPicPr>
        <p:blipFill>
          <a:blip r:embed="rId1"/>
          <a:stretch>
            <a:fillRect/>
          </a:stretch>
        </p:blipFill>
        <p:spPr>
          <a:xfrm>
            <a:off x="7040880" y="1691640"/>
            <a:ext cx="457200" cy="457200"/>
          </a:xfrm>
          <a:prstGeom prst="rect">
            <a:avLst/>
          </a:prstGeom>
        </p:spPr>
      </p:pic>
      <p:sp>
        <p:nvSpPr>
          <p:cNvPr id="7" name="thanks text"/>
          <p:cNvSpPr txBox="1"/>
          <p:nvPr/>
        </p:nvSpPr>
        <p:spPr>
          <a:xfrm>
            <a:off x="5943600" y="2560320"/>
            <a:ext cx="2651760" cy="548640"/>
          </a:xfrm>
          <a:prstGeom prst="rect">
            <a:avLst/>
          </a:prstGeom>
          <a:noFill/>
          <a:ln/>
        </p:spPr>
        <p:txBody>
          <a:bodyPr wrap="square" lIns="0" tIns="0" rIns="0" bIns="0" rtlCol="0" anchor="ctr"/>
          <a:lstStyle/>
          <a:p>
            <a:pPr algn="ctr" indent="0" marL="0">
              <a:buNone/>
            </a:pPr>
            <a:r>
              <a:rPr lang="en-US" sz="2600" b="1" dirty="0">
                <a:solidFill>
                  <a:schemeClr val="bg1"/>
                </a:solidFill>
              </a:rPr>
              <a:t>감사합니다</a:t>
            </a:r>
            <a:endParaRPr lang="en-US" sz="2600" dirty="0"/>
          </a:p>
        </p:txBody>
      </p:sp>
      <p:sp>
        <p:nvSpPr>
          <p:cNvPr id="8" name="qna text"/>
          <p:cNvSpPr txBox="1"/>
          <p:nvPr/>
        </p:nvSpPr>
        <p:spPr>
          <a:xfrm>
            <a:off x="5943600" y="3154680"/>
            <a:ext cx="2651760" cy="365760"/>
          </a:xfrm>
          <a:prstGeom prst="rect">
            <a:avLst/>
          </a:prstGeom>
          <a:noFill/>
          <a:ln/>
        </p:spPr>
        <p:txBody>
          <a:bodyPr wrap="square" lIns="0" tIns="0" rIns="0" bIns="0" rtlCol="0" anchor="ctr"/>
          <a:lstStyle/>
          <a:p>
            <a:pPr algn="ctr" indent="0" marL="0">
              <a:buNone/>
            </a:pPr>
            <a:r>
              <a:rPr lang="en-US" sz="1500" dirty="0">
                <a:solidFill>
                  <a:schemeClr val="accent1"/>
                </a:solidFill>
              </a:rPr>
              <a:t>질문을 받겠습니다</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Neon Arena">
  <a:themeElements>
    <a:clrScheme name="Neon Arena">
      <a:dk1>
        <a:srgbClr val="0C0A1D"/>
      </a:dk1>
      <a:lt1>
        <a:srgbClr val="FFFFFF"/>
      </a:lt1>
      <a:dk2>
        <a:srgbClr val="1C1938"/>
      </a:dk2>
      <a:lt2>
        <a:srgbClr val="A9A6CF"/>
      </a:lt2>
      <a:accent1>
        <a:srgbClr val="00E5FF"/>
      </a:accent1>
      <a:accent2>
        <a:srgbClr val="FF2E88"/>
      </a:accent2>
      <a:accent3>
        <a:srgbClr val="8B5CF6"/>
      </a:accent3>
      <a:accent4>
        <a:srgbClr val="FFC83D"/>
      </a:accent4>
      <a:accent5>
        <a:srgbClr val="2EE59D"/>
      </a:accent5>
      <a:accent6>
        <a:srgbClr val="34305E"/>
      </a:accent6>
      <a:hlink>
        <a:srgbClr val="00E5FF"/>
      </a:hlink>
      <a:folHlink>
        <a:srgbClr val="8B5CF6"/>
      </a:folHlink>
    </a:clrScheme>
    <a:fontScheme name="Neon Arena">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왜 스포츠는 AI가 대체하지 못할까?</dc:title>
  <dc:subject>2학년 체육2 프로젝트 발표</dc:subject>
  <dc:creator>PptxGenJS</dc:creator>
  <cp:lastModifiedBy>PptxGenJS</cp:lastModifiedBy>
  <cp:revision>1</cp:revision>
  <dcterms:created xsi:type="dcterms:W3CDTF">2026-10-12T00:45:10Z</dcterms:created>
  <dcterms:modified xsi:type="dcterms:W3CDTF">2026-10-12T00:45:10Z</dcterms:modified>
</cp:coreProperties>
</file>