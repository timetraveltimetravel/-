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9c331e8c-f4eb-16fd-fb3c-bf43873198c4}">
          <p14:sldIdLst>
            <p14:sldId id="256"/>
            <p14:sldId id="257"/>
            <p14:sldId id="258"/>
          </p14:sldIdLst>
        </p14:section>
        <p14:section name="본론" id="{fb507deb-ed54-7517-fb07-eaec783eb0aa}">
          <p14:sldIdLst>
            <p14:sldId id="259"/>
            <p14:sldId id="260"/>
            <p14:sldId id="261"/>
            <p14:sldId id="262"/>
            <p14:sldId id="263"/>
            <p14:sldId id="264"/>
          </p14:sldIdLst>
        </p14:section>
        <p14:section name="정리" id="{4559fef6-604d-7d6e-5981-2b04a2d4ec6e}">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실시간 승률 예측 (블루 팀)</a:t>
            </a:r>
          </a:p>
        </c:rich>
      </c:tx>
      <c:layout/>
      <c:overlay val="0"/>
    </c:title>
    <c:autoTitleDeleted val="0"/>
    <c:plotArea>
      <c:layout/>
      <c:lineChart>
        <c:varyColors val="0"/>
        <c:ser>
          <c:idx val="0"/>
          <c:order val="0"/>
          <c:tx>
            <c:strRef>
              <c:f>Sheet1!$B$1</c:f>
              <c:strCache>
                <c:ptCount val="1"/>
                <c:pt idx="0">
                  <c:v>블루 팀 승리 확률(%)</c:v>
                </c:pt>
              </c:strCache>
            </c:strRef>
          </c:tx>
          <c:spPr>
            <a:solidFill>
              <a:srgbClr val="00E5FF"/>
            </a:solidFill>
            <a:ln w="38100" cap="flat">
              <a:solidFill>
                <a:srgbClr val="00E5FF"/>
              </a:solidFill>
              <a:prstDash val="solid"/>
              <a:round/>
            </a:ln>
            <a:effectLst/>
          </c:spPr>
          <c:invertIfNegative val="0"/>
          <c:dLbls>
            <c:numFmt formatCode="0&quot;%&quot;" sourceLinked="0"/>
            <c:txPr>
              <a:bodyPr/>
              <a:lstStyle/>
              <a:p>
                <a:pPr>
                  <a:defRPr b="0" i="0" strike="noStrike" sz="1000" u="none">
                    <a:solidFill>
                      <a:srgbClr val="FFFFFF"/>
                    </a:solidFill>
                    <a:latin typeface="+mn-lt"/>
                  </a:defRPr>
                </a:pPr>
              </a:p>
            </c:txPr>
            <c:dLblPos val="t"/>
            <c:showLegendKey val="0"/>
            <c:showVal val="1"/>
            <c:showCatName val="0"/>
            <c:showSerName val="0"/>
            <c:showPercent val="0"/>
            <c:showBubbleSize val="0"/>
            <c:showLeaderLines val="0"/>
          </c:dLbls>
          <c:marker>
            <c:symbol val="circle"/>
            <c:size val="7"/>
            <c:spPr>
              <a:solidFill>
                <a:srgbClr val="00E5FF"/>
              </a:solidFill>
              <a:ln w="9525" cap="flat">
                <a:solidFill>
                  <a:srgbClr val="00E5FF"/>
                </a:solidFill>
                <a:prstDash val="solid"/>
                <a:round/>
              </a:ln>
              <a:effectLst/>
            </c:spPr>
          </c:marker>
          <c:cat>
            <c:multiLvlStrRef>
              <c:f>Sheet1!$A$2:$A$8</c:f>
              <c:multiLvlStrCache>
                <c:ptCount val="7"/>
                <c:lvl>
                  <c:pt idx="0">
                    <c:v>0분</c:v>
                  </c:pt>
                  <c:pt idx="1">
                    <c:v>5분</c:v>
                  </c:pt>
                  <c:pt idx="2">
                    <c:v>10분</c:v>
                  </c:pt>
                  <c:pt idx="3">
                    <c:v>15분</c:v>
                  </c:pt>
                  <c:pt idx="4">
                    <c:v>20분</c:v>
                  </c:pt>
                  <c:pt idx="5">
                    <c:v>25분</c:v>
                  </c:pt>
                  <c:pt idx="6">
                    <c:v>30분</c:v>
                  </c:pt>
                </c:lvl>
              </c:multiLvlStrCache>
            </c:multiLvlStrRef>
          </c:cat>
          <c:val>
            <c:numRef>
              <c:f>Sheet1!$B$2:$B$8</c:f>
              <c:numCache>
                <c:formatCode>General</c:formatCode>
                <c:ptCount val="7"/>
                <c:pt idx="0">
                  <c:v>50</c:v>
                </c:pt>
                <c:pt idx="1">
                  <c:v>54</c:v>
                </c:pt>
                <c:pt idx="2">
                  <c:v>47</c:v>
                </c:pt>
                <c:pt idx="3">
                  <c:v>61</c:v>
                </c:pt>
                <c:pt idx="4">
                  <c:v>57</c:v>
                </c:pt>
                <c:pt idx="5">
                  <c:v>74</c:v>
                </c:pt>
                <c:pt idx="6">
                  <c:v>91</c:v>
                </c:pt>
              </c:numCache>
            </c:numRef>
          </c:val>
          <c:smooth val="0"/>
        </c:ser>
        <c:dLbls>
          <c:numFmt formatCode="0&quot;%&quot;" sourceLinked="0"/>
          <c:txPr>
            <a:bodyPr/>
            <a:lstStyle/>
            <a:p>
              <a:pPr>
                <a:defRPr b="0" i="0" strike="noStrike" sz="1000" u="none">
                  <a:solidFill>
                    <a:srgbClr val="FFFFF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A6C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34305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A9A6CF"/>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2학년 ○반 ○○○입니다.
제가 고른 종목은 e스포츠이고, 연결한 분야는 AI, 즉 인공지능입니다.
오늘 발표 주제는 "인공지능은 e스포츠를 어떻게 바꾸고 있을까?"입니다.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이 주제를 고른 이유입니다.
많은 사람이 e스포츠를 그냥 게임이라고 생각합니다. 하지만 2023년에 열린 2022 항저우 아시안게임에서 e스포츠는 처음으로 정식 메달 종목이 되었습니다. 세부 종목은 7개였고, 우리나라는 리그 오브 레전드에서 금메달을 땄습니다.
그리고 e스포츠에는 중요한 특징이 하나 있습니다. 모든 경기가 컴퓨터 안에서 일어나기 때문에, 선수의 클릭 하나, 움직임 하나가 모두 데이터로 남습니다.
AI는 데이터가 많을수록 잘 배웁니다. 그래서 저는 e스포츠가 AI와 가장 잘 맞는 스포츠라고 생각했습니다.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 탐구 질문은 "AI는 e스포츠의 경기력, 운영, 관전을 어떻게 바꾸고 있는가?"입니다.
탐구는 세 단계로 했습니다. 첫째, 기사와 논문을 찾아 읽었습니다. 둘째, AI 활용 사례를 네 가지 분야로 나누어 정리했습니다. 셋째, 축구 같은 전통 스포츠와 비교하고, 문제점도 찾아보았습니다.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AI가 게임에서 얼마나 강해졌는지 보겠습니다.
2016년, 알파고가 바둑에서 이세돌 9단을 4대 1로 이겼습니다.
2019년 4월에는 OpenAI Five라는 AI가 도타 2의 세계 챔피언 팀 OG를 2대 0으로 이겼습니다. 이어서 일반 사람들과 7천 판 넘게 경기했는데, 99.4%를 이겼습니다.
같은 해 10월에는 딥마인드의 알파스타가 스타크래프트 2에서 그랜드마스터, 즉 상위 0.2% 실력을 인정받았습니다. 이 결과는 과학 학술지 네이처에 실렸습니다.
여기서 중요한 점은, AI가 사람이 생각하지 못한 새 전략을 보여 주었다는 것입니다. 이제 선수들은 AI와 싸우기만 하는 것이 아니라, AI에게 배우기 시작했습니다.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그러면 실제 e스포츠 현장에서 AI는 어떻게 쓰일까요? 네 가지로 나누어 보았습니다.
첫 번째는 전술과 데이터 분석입니다. AI는 수백 판의 경기 기록을 빠르게 분석합니다. 상대 팀이 어떤 캐릭터를 자주 고르는지, 어떤 시간에 어디로 움직이는지 찾아냅니다.
그리고 밴픽, 즉 캐릭터를 고르고 금지하는 단계에서 어떤 조합이 유리한지 추천합니다.
사람 분석가가 며칠 걸려 할 일을 AI는 몇 분 만에 끝낼 수 있습니다. 그래서 AI를 '지치지 않는 전력 분석관'이라고 부를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훈련과 컨디션 관리입니다.
선수들은 AI 봇을 연습 상대로 써서 어려운 상황을 원하는 만큼 반복 연습할 수 있습니다.
또 AI는 반응 속도와 1분당 행동 수, 즉 APM을 측정해서 선수의 실력 변화를 보여 줍니다.
e스포츠 선수는 오래 앉아서 연습하기 때문에 자세와 피로 관리도 중요합니다. AI는 이것을 분석해서 부상을 막는 데 도움을 줍니다.
이 부분은 우리가 체육 시간에 배우는 스포츠 과학과 같습니다. e스포츠도 결국 몸과 마음을 관리하는 스포츠입니다.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공정한 경기입니다. 스포츠에서 가장 중요한 가치는 공정성입니다.
게임 회사 밸브는 VACnet이라는 딥러닝 시스템을 만들어, 카운터 스트라이크에서 핵, 즉 불법 프로그램을 쓰는 것으로 의심되는 플레이를 찾아냅니다.
이 밖에도 AI는 욕설과 비매너 채팅을 걸러 내고, 승부 조작처럼 평소와 다른 이상한 경기 패턴을 찾아냅니다.
이렇게 AI는 e스포츠에서 디지털 심판 역할도 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번째는 관전과 미디어입니다.
왼쪽 그래프는 경기 중 실시간 승률 예측을 보여 주는 예시입니다. 이해를 돕기 위해 제가 만든 예시 데이터입니다. 요즘 e스포츠 중계에서는 AI가 매 순간 어느 팀이 이길 확률이 높은지 계산해서 화면에 보여 줍니다. 그래서 처음 보는 사람도 경기 흐름을 쉽게 이해할 수 있습니다.
또 AI는 명장면을 골라 하이라이트 영상을 자동으로 만들고, 여러 나라 말로 자막을 실시간 번역합니다.
덕분에 전 세계 팬이 같은 경기를 함께 즐길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그러면 전통 스포츠인 축구와 비교해 보겠습니다.
축구에서 데이터를 얻으려면 GPS 조끼나 카메라 같은 장비가 필요합니다. 하지만 e스포츠는 게임이 모든 플레이를 자동으로 기록합니다.
분석도 축구는 전력 분석관이 영상을 직접 보지만, e스포츠는 AI가 리플레이를 바로 분석합니다.
훈련에서는 AI 봇과 언제든 연습할 수 있고, 판정에서도 AI가 핵과 비매너 행동을 자동으로 찾아냅니다.
그래서 저는 e스포츠가 AI가 가장 빨리, 가장 깊이 들어오는 스포츠라고 결론 내렸습니다.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하지만 좋은 점만 있는 것은 아닙니다. 네 가지 문제를 생각해 보았습니다.
첫째, 모든 팀이 AI가 추천한 같은 전략만 쓰면 경기가 비슷해지고 창의성이 줄어듭니다.
둘째, 경기 중에 몰래 AI의 도움을 받으면 그것도 새로운 부정행위가 됩니다.
셋째, 선수의 반응 속도나 건강 같은 데이터는 개인정보이므로 보호해야 합니다.
넷째, AI가 분석을 대신하면 코치나 분석가의 역할이 바뀝니다. 앞으로는 AI를 잘 다루는 능력이 필요할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제가 탐구하며 알게 된 것은 "AI는 선수를 대신하지 않고, 선수를 더 잘하게 돕는 코치"라는 점입니다.
AI는 경기를 분석하고, 훈련을 돕고, 공정성을 지키고, 경기를 더 재미있게 보여 줍니다.
하지만 마지막 판단과 창의적인 플레이는 여전히 사람의 몫입니다.
앞으로는 AI를 잘 쓰는 선수와 팀이 더 강해질 것입니다. 그래서 동시에 AI를 어디까지 써도 되는지에 대한 공정한 규칙도 꼭 필요하다고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참고한 자료는 화면과 같습니다.
이상으로 "E스포츠 × AI" 발표를 마치겠습니다. 들어 주셔서 감사합니다.
질문이 있으면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0A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697480"/>
            <a:ext cx="5120640" cy="82296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C0A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bg2"/>
                </a:solidFill>
              </a:rPr>
              <a:t>E스포츠 × AI  |  체육2 프로젝트</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188720"/>
          </a:xfrm>
          <a:prstGeom prst="rect">
            <a:avLst/>
          </a:prstGeom>
          <a:noFill/>
          <a:ln/>
        </p:spPr>
        <p:txBody>
          <a:bodyPr wrap="square" lIns="0" tIns="0" rIns="0" bIns="0" rtlCol="0" anchor="b"/>
          <a:lstStyle/>
          <a:p>
            <a:pPr algn="l" indent="0" marL="0">
              <a:buNone/>
            </a:pPr>
            <a:r>
              <a:rPr lang="en-US" sz="4800" b="1" dirty="0">
                <a:solidFill>
                  <a:schemeClr val="bg1"/>
                </a:solidFill>
              </a:rPr>
              <a:t>E스포츠 × AI</a:t>
            </a:r>
            <a:endParaRPr lang="en-US" sz="4800" dirty="0"/>
          </a:p>
        </p:txBody>
      </p:sp>
      <p:sp>
        <p:nvSpPr>
          <p:cNvPr id="3" name="Text 0"/>
          <p:cNvSpPr/>
          <p:nvPr>
            <p:ph idx="101" type="body" hasCustomPrompt="1"/>
          </p:nvPr>
        </p:nvSpPr>
        <p:spPr>
          <a:xfrm>
            <a:off x="548640" y="2697480"/>
            <a:ext cx="5120640" cy="822960"/>
          </a:xfrm>
          <a:prstGeom prst="rect">
            <a:avLst/>
          </a:prstGeom>
          <a:noFill/>
          <a:ln/>
        </p:spPr>
        <p:txBody>
          <a:bodyPr wrap="square" lIns="0" tIns="0" rIns="0" bIns="0" rtlCol="0" anchor="t"/>
          <a:lstStyle/>
          <a:p>
            <a:pPr algn="l" indent="0" marL="0">
              <a:buNone/>
            </a:pPr>
            <a:r>
              <a:rPr lang="en-US" sz="1800" dirty="0">
                <a:solidFill>
                  <a:schemeClr val="accent1"/>
                </a:solidFill>
              </a:rPr>
              <a:t>인공지능은 e스포츠를 어떻게 바꾸고 있을까?</a:t>
            </a:r>
            <a:endParaRPr lang="en-US" sz="1800" dirty="0"/>
          </a:p>
        </p:txBody>
      </p:sp>
      <p:sp>
        <p:nvSpPr>
          <p:cNvPr id="4" name="presenter"/>
          <p:cNvSpPr txBox="1"/>
          <p:nvPr/>
        </p:nvSpPr>
        <p:spPr>
          <a:xfrm>
            <a:off x="548640" y="4160520"/>
            <a:ext cx="5486400" cy="320040"/>
          </a:xfrm>
          <a:prstGeom prst="rect">
            <a:avLst/>
          </a:prstGeom>
          <a:noFill/>
          <a:ln/>
        </p:spPr>
        <p:txBody>
          <a:bodyPr wrap="square" lIns="0" tIns="0" rIns="0" bIns="0" rtlCol="0" anchor="ctr"/>
          <a:lstStyle/>
          <a:p>
            <a:pPr indent="0" marL="0">
              <a:buNone/>
            </a:pPr>
            <a:r>
              <a:rPr lang="en-US" sz="1400" dirty="0">
                <a:solidFill>
                  <a:schemeClr val="bg2"/>
                </a:solidFill>
              </a:rPr>
              <a:t>2학년 체육2 프로젝트 발표   |   2학년 ○반 ○번 ○○○</a:t>
            </a:r>
            <a:endParaRPr lang="en-US" sz="1400" dirty="0"/>
          </a:p>
        </p:txBody>
      </p:sp>
      <p:sp>
        <p:nvSpPr>
          <p:cNvPr id="5" name="hero circle 1"/>
          <p:cNvSpPr/>
          <p:nvPr/>
        </p:nvSpPr>
        <p:spPr>
          <a:xfrm>
            <a:off x="5806440" y="914400"/>
            <a:ext cx="2377440" cy="2377440"/>
          </a:xfrm>
          <a:prstGeom prst="ellipse">
            <a:avLst/>
          </a:prstGeom>
          <a:solidFill>
            <a:schemeClr val="accent1"/>
          </a:solidFill>
          <a:ln/>
        </p:spPr>
      </p:sp>
      <p:pic>
        <p:nvPicPr>
          <p:cNvPr id="6" name="gamepad icon" descr="게임 컨트롤러">    </p:cNvPr>
          <p:cNvPicPr>
            <a:picLocks noChangeAspect="1"/>
          </p:cNvPicPr>
          <p:nvPr/>
        </p:nvPicPr>
        <p:blipFill>
          <a:blip r:embed="rId1"/>
          <a:stretch>
            <a:fillRect/>
          </a:stretch>
        </p:blipFill>
        <p:spPr>
          <a:xfrm>
            <a:off x="6355080" y="1463040"/>
            <a:ext cx="1280160" cy="1280160"/>
          </a:xfrm>
          <a:prstGeom prst="rect">
            <a:avLst/>
          </a:prstGeom>
        </p:spPr>
      </p:pic>
      <p:sp>
        <p:nvSpPr>
          <p:cNvPr id="7" name="hero circle 2"/>
          <p:cNvSpPr/>
          <p:nvPr/>
        </p:nvSpPr>
        <p:spPr>
          <a:xfrm>
            <a:off x="7086600" y="2514600"/>
            <a:ext cx="1600200" cy="1600200"/>
          </a:xfrm>
          <a:prstGeom prst="ellipse">
            <a:avLst/>
          </a:prstGeom>
          <a:solidFill>
            <a:schemeClr val="accent2"/>
          </a:solidFill>
          <a:ln w="50800">
            <a:solidFill>
              <a:srgbClr val="0C0A1D"/>
            </a:solidFill>
            <a:prstDash val="solid"/>
          </a:ln>
        </p:spPr>
      </p:sp>
      <p:pic>
        <p:nvPicPr>
          <p:cNvPr id="8" name="brain icon" descr="인공지능">    </p:cNvPr>
          <p:cNvPicPr>
            <a:picLocks noChangeAspect="1"/>
          </p:cNvPicPr>
          <p:nvPr/>
        </p:nvPicPr>
        <p:blipFill>
          <a:blip r:embed="rId2"/>
          <a:stretch>
            <a:fillRect/>
          </a:stretch>
        </p:blipFill>
        <p:spPr>
          <a:xfrm>
            <a:off x="7470648" y="2898648"/>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왜 e스포츠와 AI일까?</a:t>
            </a:r>
            <a:endParaRPr lang="en-US" sz="3000" dirty="0"/>
          </a:p>
        </p:txBody>
      </p:sp>
      <p:sp>
        <p:nvSpPr>
          <p:cNvPr id="3" name="stat card 1"/>
          <p:cNvSpPr/>
          <p:nvPr/>
        </p:nvSpPr>
        <p:spPr>
          <a:xfrm>
            <a:off x="457200" y="1188720"/>
            <a:ext cx="2560320" cy="2423160"/>
          </a:xfrm>
          <a:prstGeom prst="roundRect">
            <a:avLst>
              <a:gd name="adj" fmla="val 4528"/>
            </a:avLst>
          </a:prstGeom>
          <a:solidFill>
            <a:schemeClr val="tx2"/>
          </a:solidFill>
          <a:ln w="12700">
            <a:solidFill>
              <a:schemeClr val="accent6"/>
            </a:solidFill>
            <a:prstDash val="solid"/>
          </a:ln>
        </p:spPr>
      </p:sp>
      <p:sp>
        <p:nvSpPr>
          <p:cNvPr id="4" name="stat 1 circle"/>
          <p:cNvSpPr/>
          <p:nvPr/>
        </p:nvSpPr>
        <p:spPr>
          <a:xfrm>
            <a:off x="731520" y="1417320"/>
            <a:ext cx="548640" cy="548640"/>
          </a:xfrm>
          <a:prstGeom prst="ellipse">
            <a:avLst/>
          </a:prstGeom>
          <a:solidFill>
            <a:schemeClr val="accent1"/>
          </a:solidFill>
          <a:ln/>
        </p:spPr>
      </p:sp>
      <p:pic>
        <p:nvPicPr>
          <p:cNvPr id="5" name="stat 1 icon" descr="stat 1">    </p:cNvPr>
          <p:cNvPicPr>
            <a:picLocks noChangeAspect="1"/>
          </p:cNvPicPr>
          <p:nvPr/>
        </p:nvPicPr>
        <p:blipFill>
          <a:blip r:embed="rId1"/>
          <a:stretch>
            <a:fillRect/>
          </a:stretch>
        </p:blipFill>
        <p:spPr>
          <a:xfrm>
            <a:off x="868680" y="1554480"/>
            <a:ext cx="274320" cy="274320"/>
          </a:xfrm>
          <a:prstGeom prst="rect">
            <a:avLst/>
          </a:prstGeom>
        </p:spPr>
      </p:pic>
      <p:sp>
        <p:nvSpPr>
          <p:cNvPr id="6" name="stat number 1"/>
          <p:cNvSpPr txBox="1"/>
          <p:nvPr/>
        </p:nvSpPr>
        <p:spPr>
          <a:xfrm>
            <a:off x="731520" y="2103120"/>
            <a:ext cx="2103120" cy="685800"/>
          </a:xfrm>
          <a:prstGeom prst="rect">
            <a:avLst/>
          </a:prstGeom>
          <a:noFill/>
          <a:ln/>
        </p:spPr>
        <p:txBody>
          <a:bodyPr wrap="square" lIns="0" tIns="0" rIns="0" bIns="0" rtlCol="0" anchor="ctr"/>
          <a:lstStyle/>
          <a:p>
            <a:pPr indent="0" marL="0">
              <a:buNone/>
            </a:pPr>
            <a:r>
              <a:rPr lang="en-US" sz="3600" b="1" dirty="0">
                <a:solidFill>
                  <a:schemeClr val="accent1"/>
                </a:solidFill>
              </a:rPr>
              <a:t>7개</a:t>
            </a:r>
            <a:endParaRPr lang="en-US" sz="3600" dirty="0"/>
          </a:p>
        </p:txBody>
      </p:sp>
      <p:sp>
        <p:nvSpPr>
          <p:cNvPr id="7" name="stat label 1"/>
          <p:cNvSpPr txBox="1"/>
          <p:nvPr/>
        </p:nvSpPr>
        <p:spPr>
          <a:xfrm>
            <a:off x="731520" y="2834640"/>
            <a:ext cx="2103120" cy="640080"/>
          </a:xfrm>
          <a:prstGeom prst="rect">
            <a:avLst/>
          </a:prstGeom>
          <a:noFill/>
          <a:ln/>
        </p:spPr>
        <p:txBody>
          <a:bodyPr wrap="square" lIns="0" tIns="0" rIns="0" bIns="0" rtlCol="0" anchor="t"/>
          <a:lstStyle/>
          <a:p>
            <a:pPr indent="0" marL="0">
              <a:buNone/>
            </a:pPr>
            <a:r>
              <a:rPr lang="en-US" sz="1400" dirty="0">
                <a:solidFill>
                  <a:schemeClr val="bg1"/>
                </a:solidFill>
              </a:rPr>
              <a:t>2022 항저우 아시안게임</a:t>
            </a:r>
            <a:endParaRPr lang="en-US" sz="1400" dirty="0"/>
          </a:p>
          <a:p>
            <a:pPr indent="0" marL="0">
              <a:buNone/>
            </a:pPr>
            <a:r>
              <a:rPr lang="en-US" sz="1400" dirty="0">
                <a:solidFill>
                  <a:schemeClr val="bg1"/>
                </a:solidFill>
              </a:rPr>
              <a:t>e스포츠 정식 메달 종목</a:t>
            </a:r>
            <a:endParaRPr lang="en-US" sz="1400" dirty="0"/>
          </a:p>
        </p:txBody>
      </p:sp>
      <p:sp>
        <p:nvSpPr>
          <p:cNvPr id="8" name="stat card 2"/>
          <p:cNvSpPr/>
          <p:nvPr/>
        </p:nvSpPr>
        <p:spPr>
          <a:xfrm>
            <a:off x="3291840" y="1188720"/>
            <a:ext cx="2560320" cy="2423160"/>
          </a:xfrm>
          <a:prstGeom prst="roundRect">
            <a:avLst>
              <a:gd name="adj" fmla="val 4528"/>
            </a:avLst>
          </a:prstGeom>
          <a:solidFill>
            <a:schemeClr val="tx2"/>
          </a:solidFill>
          <a:ln w="12700">
            <a:solidFill>
              <a:schemeClr val="accent6"/>
            </a:solidFill>
            <a:prstDash val="solid"/>
          </a:ln>
        </p:spPr>
      </p:sp>
      <p:sp>
        <p:nvSpPr>
          <p:cNvPr id="9" name="stat 2 circle"/>
          <p:cNvSpPr/>
          <p:nvPr/>
        </p:nvSpPr>
        <p:spPr>
          <a:xfrm>
            <a:off x="3566160" y="1417320"/>
            <a:ext cx="548640" cy="548640"/>
          </a:xfrm>
          <a:prstGeom prst="ellipse">
            <a:avLst/>
          </a:prstGeom>
          <a:solidFill>
            <a:schemeClr val="accent4"/>
          </a:solidFill>
          <a:ln/>
        </p:spPr>
      </p:sp>
      <p:pic>
        <p:nvPicPr>
          <p:cNvPr id="10" name="stat 2 icon" descr="stat 2">    </p:cNvPr>
          <p:cNvPicPr>
            <a:picLocks noChangeAspect="1"/>
          </p:cNvPicPr>
          <p:nvPr/>
        </p:nvPicPr>
        <p:blipFill>
          <a:blip r:embed="rId2"/>
          <a:stretch>
            <a:fillRect/>
          </a:stretch>
        </p:blipFill>
        <p:spPr>
          <a:xfrm>
            <a:off x="3703320" y="1554480"/>
            <a:ext cx="274320" cy="274320"/>
          </a:xfrm>
          <a:prstGeom prst="rect">
            <a:avLst/>
          </a:prstGeom>
        </p:spPr>
      </p:pic>
      <p:sp>
        <p:nvSpPr>
          <p:cNvPr id="11" name="stat number 2"/>
          <p:cNvSpPr txBox="1"/>
          <p:nvPr/>
        </p:nvSpPr>
        <p:spPr>
          <a:xfrm>
            <a:off x="3566160" y="2103120"/>
            <a:ext cx="2103120" cy="685800"/>
          </a:xfrm>
          <a:prstGeom prst="rect">
            <a:avLst/>
          </a:prstGeom>
          <a:noFill/>
          <a:ln/>
        </p:spPr>
        <p:txBody>
          <a:bodyPr wrap="square" lIns="0" tIns="0" rIns="0" bIns="0" rtlCol="0" anchor="ctr"/>
          <a:lstStyle/>
          <a:p>
            <a:pPr indent="0" marL="0">
              <a:buNone/>
            </a:pPr>
            <a:r>
              <a:rPr lang="en-US" sz="3600" b="1" dirty="0">
                <a:solidFill>
                  <a:schemeClr val="accent4"/>
                </a:solidFill>
              </a:rPr>
              <a:t>금메달</a:t>
            </a:r>
            <a:endParaRPr lang="en-US" sz="3600" dirty="0"/>
          </a:p>
        </p:txBody>
      </p:sp>
      <p:sp>
        <p:nvSpPr>
          <p:cNvPr id="12" name="stat label 2"/>
          <p:cNvSpPr txBox="1"/>
          <p:nvPr/>
        </p:nvSpPr>
        <p:spPr>
          <a:xfrm>
            <a:off x="3566160" y="2834640"/>
            <a:ext cx="2103120" cy="640080"/>
          </a:xfrm>
          <a:prstGeom prst="rect">
            <a:avLst/>
          </a:prstGeom>
          <a:noFill/>
          <a:ln/>
        </p:spPr>
        <p:txBody>
          <a:bodyPr wrap="square" lIns="0" tIns="0" rIns="0" bIns="0" rtlCol="0" anchor="t"/>
          <a:lstStyle/>
          <a:p>
            <a:pPr indent="0" marL="0">
              <a:buNone/>
            </a:pPr>
            <a:r>
              <a:rPr lang="en-US" sz="1400" dirty="0">
                <a:solidFill>
                  <a:schemeClr val="bg1"/>
                </a:solidFill>
              </a:rPr>
              <a:t>리그 오브 레전드</a:t>
            </a:r>
            <a:endParaRPr lang="en-US" sz="1400" dirty="0"/>
          </a:p>
          <a:p>
            <a:pPr indent="0" marL="0">
              <a:buNone/>
            </a:pPr>
            <a:r>
              <a:rPr lang="en-US" sz="1400" dirty="0">
                <a:solidFill>
                  <a:schemeClr val="bg1"/>
                </a:solidFill>
              </a:rPr>
              <a:t>한국 대표팀 우승</a:t>
            </a:r>
            <a:endParaRPr lang="en-US" sz="1400" dirty="0"/>
          </a:p>
        </p:txBody>
      </p:sp>
      <p:sp>
        <p:nvSpPr>
          <p:cNvPr id="13" name="stat card 3"/>
          <p:cNvSpPr/>
          <p:nvPr/>
        </p:nvSpPr>
        <p:spPr>
          <a:xfrm>
            <a:off x="6126480" y="1188720"/>
            <a:ext cx="2560320" cy="2423160"/>
          </a:xfrm>
          <a:prstGeom prst="roundRect">
            <a:avLst>
              <a:gd name="adj" fmla="val 4528"/>
            </a:avLst>
          </a:prstGeom>
          <a:solidFill>
            <a:schemeClr val="tx2"/>
          </a:solidFill>
          <a:ln w="12700">
            <a:solidFill>
              <a:schemeClr val="accent6"/>
            </a:solidFill>
            <a:prstDash val="solid"/>
          </a:ln>
        </p:spPr>
      </p:sp>
      <p:sp>
        <p:nvSpPr>
          <p:cNvPr id="14" name="stat 3 circle"/>
          <p:cNvSpPr/>
          <p:nvPr/>
        </p:nvSpPr>
        <p:spPr>
          <a:xfrm>
            <a:off x="6400800" y="1417320"/>
            <a:ext cx="548640" cy="548640"/>
          </a:xfrm>
          <a:prstGeom prst="ellipse">
            <a:avLst/>
          </a:prstGeom>
          <a:solidFill>
            <a:schemeClr val="accent2"/>
          </a:solidFill>
          <a:ln/>
        </p:spPr>
      </p:sp>
      <p:pic>
        <p:nvPicPr>
          <p:cNvPr id="15" name="stat 3 icon" descr="stat 3">    </p:cNvPr>
          <p:cNvPicPr>
            <a:picLocks noChangeAspect="1"/>
          </p:cNvPicPr>
          <p:nvPr/>
        </p:nvPicPr>
        <p:blipFill>
          <a:blip r:embed="rId3"/>
          <a:stretch>
            <a:fillRect/>
          </a:stretch>
        </p:blipFill>
        <p:spPr>
          <a:xfrm>
            <a:off x="6537960" y="1554480"/>
            <a:ext cx="274320" cy="274320"/>
          </a:xfrm>
          <a:prstGeom prst="rect">
            <a:avLst/>
          </a:prstGeom>
        </p:spPr>
      </p:pic>
      <p:sp>
        <p:nvSpPr>
          <p:cNvPr id="16" name="stat number 3"/>
          <p:cNvSpPr txBox="1"/>
          <p:nvPr/>
        </p:nvSpPr>
        <p:spPr>
          <a:xfrm>
            <a:off x="6400800" y="2103120"/>
            <a:ext cx="2103120" cy="685800"/>
          </a:xfrm>
          <a:prstGeom prst="rect">
            <a:avLst/>
          </a:prstGeom>
          <a:noFill/>
          <a:ln/>
        </p:spPr>
        <p:txBody>
          <a:bodyPr wrap="square" lIns="0" tIns="0" rIns="0" bIns="0" rtlCol="0" anchor="ctr"/>
          <a:lstStyle/>
          <a:p>
            <a:pPr indent="0" marL="0">
              <a:buNone/>
            </a:pPr>
            <a:r>
              <a:rPr lang="en-US" sz="3600" b="1" dirty="0">
                <a:solidFill>
                  <a:schemeClr val="accent2"/>
                </a:solidFill>
              </a:rPr>
              <a:t>클릭 1번</a:t>
            </a:r>
            <a:endParaRPr lang="en-US" sz="3600" dirty="0"/>
          </a:p>
        </p:txBody>
      </p:sp>
      <p:sp>
        <p:nvSpPr>
          <p:cNvPr id="17" name="stat label 3"/>
          <p:cNvSpPr txBox="1"/>
          <p:nvPr/>
        </p:nvSpPr>
        <p:spPr>
          <a:xfrm>
            <a:off x="6400800" y="2834640"/>
            <a:ext cx="2103120" cy="640080"/>
          </a:xfrm>
          <a:prstGeom prst="rect">
            <a:avLst/>
          </a:prstGeom>
          <a:noFill/>
          <a:ln/>
        </p:spPr>
        <p:txBody>
          <a:bodyPr wrap="square" lIns="0" tIns="0" rIns="0" bIns="0" rtlCol="0" anchor="t"/>
          <a:lstStyle/>
          <a:p>
            <a:pPr indent="0" marL="0">
              <a:buNone/>
            </a:pPr>
            <a:r>
              <a:rPr lang="en-US" sz="1400" dirty="0">
                <a:solidFill>
                  <a:schemeClr val="bg1"/>
                </a:solidFill>
              </a:rPr>
              <a:t>선수의 클릭 하나까지</a:t>
            </a:r>
            <a:endParaRPr lang="en-US" sz="1400" dirty="0"/>
          </a:p>
          <a:p>
            <a:pPr indent="0" marL="0">
              <a:buNone/>
            </a:pPr>
            <a:r>
              <a:rPr lang="en-US" sz="1400" dirty="0">
                <a:solidFill>
                  <a:schemeClr val="bg1"/>
                </a:solidFill>
              </a:rPr>
              <a:t>모두 데이터로 기록</a:t>
            </a:r>
            <a:endParaRPr lang="en-US" sz="1400" dirty="0"/>
          </a:p>
        </p:txBody>
      </p:sp>
      <p:sp>
        <p:nvSpPr>
          <p:cNvPr id="18" name="key message"/>
          <p:cNvSpPr txBox="1"/>
          <p:nvPr/>
        </p:nvSpPr>
        <p:spPr>
          <a:xfrm>
            <a:off x="457200" y="3886200"/>
            <a:ext cx="8229600" cy="457200"/>
          </a:xfrm>
          <a:prstGeom prst="rect">
            <a:avLst/>
          </a:prstGeom>
          <a:noFill/>
          <a:ln/>
        </p:spPr>
        <p:txBody>
          <a:bodyPr wrap="square" lIns="0" tIns="0" rIns="0" bIns="0" rtlCol="0" anchor="ctr"/>
          <a:lstStyle/>
          <a:p>
            <a:pPr indent="0" marL="0">
              <a:buNone/>
            </a:pPr>
            <a:r>
              <a:rPr lang="en-US" sz="1600" dirty="0">
                <a:solidFill>
                  <a:schemeClr val="bg2"/>
                </a:solidFill>
              </a:rPr>
              <a:t>데이터가 많을수록 AI는 잘 배운다 → </a:t>
            </a:r>
            <a:pPr indent="0" marL="0">
              <a:buNone/>
            </a:pPr>
            <a:r>
              <a:rPr lang="en-US" sz="1600" b="1" dirty="0">
                <a:solidFill>
                  <a:schemeClr val="accent1"/>
                </a:solidFill>
              </a:rPr>
              <a:t>e스포츠는 AI와 가장 잘 맞는 스포츠</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탐구 질문과 방법</a:t>
            </a:r>
            <a:endParaRPr lang="en-US" sz="3000" dirty="0"/>
          </a:p>
        </p:txBody>
      </p:sp>
      <p:sp>
        <p:nvSpPr>
          <p:cNvPr id="3" name="question card"/>
          <p:cNvSpPr/>
          <p:nvPr/>
        </p:nvSpPr>
        <p:spPr>
          <a:xfrm>
            <a:off x="457200" y="1143000"/>
            <a:ext cx="8229600" cy="1097280"/>
          </a:xfrm>
          <a:prstGeom prst="roundRect">
            <a:avLst>
              <a:gd name="adj" fmla="val 10000"/>
            </a:avLst>
          </a:prstGeom>
          <a:solidFill>
            <a:schemeClr val="tx2"/>
          </a:solidFill>
          <a:ln w="12700">
            <a:solidFill>
              <a:schemeClr val="accent6"/>
            </a:solidFill>
            <a:prstDash val="solid"/>
          </a:ln>
        </p:spPr>
      </p:sp>
      <p:sp>
        <p:nvSpPr>
          <p:cNvPr id="4" name="question circle"/>
          <p:cNvSpPr/>
          <p:nvPr/>
        </p:nvSpPr>
        <p:spPr>
          <a:xfrm>
            <a:off x="731520" y="1371600"/>
            <a:ext cx="640080" cy="640080"/>
          </a:xfrm>
          <a:prstGeom prst="ellipse">
            <a:avLst/>
          </a:prstGeom>
          <a:solidFill>
            <a:schemeClr val="accent2"/>
          </a:solidFill>
          <a:ln/>
        </p:spPr>
      </p:sp>
      <p:pic>
        <p:nvPicPr>
          <p:cNvPr id="5" name="question icon" descr="question">    </p:cNvPr>
          <p:cNvPicPr>
            <a:picLocks noChangeAspect="1"/>
          </p:cNvPicPr>
          <p:nvPr/>
        </p:nvPicPr>
        <p:blipFill>
          <a:blip r:embed="rId1"/>
          <a:stretch>
            <a:fillRect/>
          </a:stretch>
        </p:blipFill>
        <p:spPr>
          <a:xfrm>
            <a:off x="891540" y="1531620"/>
            <a:ext cx="320040" cy="320040"/>
          </a:xfrm>
          <a:prstGeom prst="rect">
            <a:avLst/>
          </a:prstGeom>
        </p:spPr>
      </p:pic>
      <p:sp>
        <p:nvSpPr>
          <p:cNvPr id="6" name="question text"/>
          <p:cNvSpPr txBox="1"/>
          <p:nvPr/>
        </p:nvSpPr>
        <p:spPr>
          <a:xfrm>
            <a:off x="1600200" y="1280160"/>
            <a:ext cx="6858000" cy="822960"/>
          </a:xfrm>
          <a:prstGeom prst="rect">
            <a:avLst/>
          </a:prstGeom>
          <a:noFill/>
          <a:ln/>
        </p:spPr>
        <p:txBody>
          <a:bodyPr wrap="square" lIns="0" tIns="0" rIns="0" bIns="0" rtlCol="0" anchor="ctr"/>
          <a:lstStyle/>
          <a:p>
            <a:pPr indent="0" marL="0">
              <a:buNone/>
            </a:pPr>
            <a:r>
              <a:rPr lang="en-US" sz="1400" b="1" dirty="0">
                <a:solidFill>
                  <a:schemeClr val="accent2"/>
                </a:solidFill>
              </a:rPr>
              <a:t>탐구 질문</a:t>
            </a:r>
            <a:endParaRPr lang="en-US" sz="1400" dirty="0"/>
          </a:p>
          <a:p>
            <a:pPr indent="0" marL="0">
              <a:buNone/>
            </a:pPr>
            <a:r>
              <a:rPr lang="en-US" sz="2000" b="1" dirty="0">
                <a:solidFill>
                  <a:schemeClr val="bg1"/>
                </a:solidFill>
              </a:rPr>
              <a:t>AI는 e스포츠의 경기력 · 운영 · 관전을 어떻게 바꾸고 있는가?</a:t>
            </a:r>
            <a:endParaRPr lang="en-US" sz="1400" dirty="0"/>
          </a:p>
        </p:txBody>
      </p:sp>
      <p:sp>
        <p:nvSpPr>
          <p:cNvPr id="7" name="step card 1"/>
          <p:cNvSpPr/>
          <p:nvPr/>
        </p:nvSpPr>
        <p:spPr>
          <a:xfrm>
            <a:off x="457200" y="2606040"/>
            <a:ext cx="2560320" cy="1783080"/>
          </a:xfrm>
          <a:prstGeom prst="roundRect">
            <a:avLst>
              <a:gd name="adj" fmla="val 6154"/>
            </a:avLst>
          </a:prstGeom>
          <a:solidFill>
            <a:schemeClr val="tx2"/>
          </a:solidFill>
          <a:ln w="12700">
            <a:solidFill>
              <a:schemeClr val="accent6"/>
            </a:solidFill>
            <a:prstDash val="solid"/>
          </a:ln>
        </p:spPr>
      </p:sp>
      <p:sp>
        <p:nvSpPr>
          <p:cNvPr id="8" name="step 1 circle"/>
          <p:cNvSpPr/>
          <p:nvPr/>
        </p:nvSpPr>
        <p:spPr>
          <a:xfrm>
            <a:off x="731520" y="2834640"/>
            <a:ext cx="502920" cy="502920"/>
          </a:xfrm>
          <a:prstGeom prst="ellipse">
            <a:avLst/>
          </a:prstGeom>
          <a:solidFill>
            <a:schemeClr val="accent1"/>
          </a:solidFill>
          <a:ln/>
        </p:spPr>
      </p:sp>
      <p:pic>
        <p:nvPicPr>
          <p:cNvPr id="9" name="step 1 icon" descr="step 1">    </p:cNvPr>
          <p:cNvPicPr>
            <a:picLocks noChangeAspect="1"/>
          </p:cNvPicPr>
          <p:nvPr/>
        </p:nvPicPr>
        <p:blipFill>
          <a:blip r:embed="rId2"/>
          <a:stretch>
            <a:fillRect/>
          </a:stretch>
        </p:blipFill>
        <p:spPr>
          <a:xfrm>
            <a:off x="857250" y="2960370"/>
            <a:ext cx="251460" cy="251460"/>
          </a:xfrm>
          <a:prstGeom prst="rect">
            <a:avLst/>
          </a:prstGeom>
        </p:spPr>
      </p:pic>
      <p:sp>
        <p:nvSpPr>
          <p:cNvPr id="10" name="step label 1"/>
          <p:cNvSpPr txBox="1"/>
          <p:nvPr/>
        </p:nvSpPr>
        <p:spPr>
          <a:xfrm>
            <a:off x="1371600" y="2834640"/>
            <a:ext cx="1463040" cy="228600"/>
          </a:xfrm>
          <a:prstGeom prst="rect">
            <a:avLst/>
          </a:prstGeom>
          <a:noFill/>
          <a:ln/>
        </p:spPr>
        <p:txBody>
          <a:bodyPr wrap="square" lIns="0" tIns="0" rIns="0" bIns="0" rtlCol="0" anchor="ctr"/>
          <a:lstStyle/>
          <a:p>
            <a:pPr indent="0" marL="0">
              <a:buNone/>
            </a:pPr>
            <a:r>
              <a:rPr lang="en-US" sz="1100" b="1" dirty="0">
                <a:solidFill>
                  <a:schemeClr val="accent1"/>
                </a:solidFill>
              </a:rPr>
              <a:t>STEP 1</a:t>
            </a:r>
            <a:endParaRPr lang="en-US" sz="1100" dirty="0"/>
          </a:p>
        </p:txBody>
      </p:sp>
      <p:sp>
        <p:nvSpPr>
          <p:cNvPr id="11" name="step head 1"/>
          <p:cNvSpPr txBox="1"/>
          <p:nvPr/>
        </p:nvSpPr>
        <p:spPr>
          <a:xfrm>
            <a:off x="1371600" y="3063240"/>
            <a:ext cx="1463040" cy="320040"/>
          </a:xfrm>
          <a:prstGeom prst="rect">
            <a:avLst/>
          </a:prstGeom>
          <a:noFill/>
          <a:ln/>
        </p:spPr>
        <p:txBody>
          <a:bodyPr wrap="square" lIns="0" tIns="0" rIns="0" bIns="0" rtlCol="0" anchor="ctr"/>
          <a:lstStyle/>
          <a:p>
            <a:pPr indent="0" marL="0">
              <a:buNone/>
            </a:pPr>
            <a:r>
              <a:rPr lang="en-US" sz="1600" b="1" dirty="0">
                <a:solidFill>
                  <a:schemeClr val="bg1"/>
                </a:solidFill>
              </a:rPr>
              <a:t>자료 조사</a:t>
            </a:r>
            <a:endParaRPr lang="en-US" sz="1600" dirty="0"/>
          </a:p>
        </p:txBody>
      </p:sp>
      <p:sp>
        <p:nvSpPr>
          <p:cNvPr id="12" name="step desc 1"/>
          <p:cNvSpPr txBox="1"/>
          <p:nvPr/>
        </p:nvSpPr>
        <p:spPr>
          <a:xfrm>
            <a:off x="731520" y="3520440"/>
            <a:ext cx="2103120" cy="685800"/>
          </a:xfrm>
          <a:prstGeom prst="rect">
            <a:avLst/>
          </a:prstGeom>
          <a:noFill/>
          <a:ln/>
        </p:spPr>
        <p:txBody>
          <a:bodyPr wrap="square" lIns="0" tIns="0" rIns="0" bIns="0" rtlCol="0" anchor="t"/>
          <a:lstStyle/>
          <a:p>
            <a:pPr indent="0" marL="0">
              <a:buNone/>
            </a:pPr>
            <a:r>
              <a:rPr lang="en-US" sz="1400" dirty="0">
                <a:solidFill>
                  <a:schemeClr val="bg2"/>
                </a:solidFill>
              </a:rPr>
              <a:t>기사 · 논문 · 공식 발표를 찾아 읽기</a:t>
            </a:r>
            <a:endParaRPr lang="en-US" sz="1400" dirty="0"/>
          </a:p>
        </p:txBody>
      </p:sp>
      <p:sp>
        <p:nvSpPr>
          <p:cNvPr id="13" name="step card 2"/>
          <p:cNvSpPr/>
          <p:nvPr/>
        </p:nvSpPr>
        <p:spPr>
          <a:xfrm>
            <a:off x="3291840" y="2606040"/>
            <a:ext cx="2560320" cy="1783080"/>
          </a:xfrm>
          <a:prstGeom prst="roundRect">
            <a:avLst>
              <a:gd name="adj" fmla="val 6154"/>
            </a:avLst>
          </a:prstGeom>
          <a:solidFill>
            <a:schemeClr val="tx2"/>
          </a:solidFill>
          <a:ln w="12700">
            <a:solidFill>
              <a:schemeClr val="accent6"/>
            </a:solidFill>
            <a:prstDash val="solid"/>
          </a:ln>
        </p:spPr>
      </p:sp>
      <p:sp>
        <p:nvSpPr>
          <p:cNvPr id="14" name="step 2 circle"/>
          <p:cNvSpPr/>
          <p:nvPr/>
        </p:nvSpPr>
        <p:spPr>
          <a:xfrm>
            <a:off x="3566160" y="2834640"/>
            <a:ext cx="502920" cy="502920"/>
          </a:xfrm>
          <a:prstGeom prst="ellipse">
            <a:avLst/>
          </a:prstGeom>
          <a:solidFill>
            <a:schemeClr val="accent1"/>
          </a:solidFill>
          <a:ln/>
        </p:spPr>
      </p:sp>
      <p:pic>
        <p:nvPicPr>
          <p:cNvPr id="15" name="step 2 icon" descr="step 2">    </p:cNvPr>
          <p:cNvPicPr>
            <a:picLocks noChangeAspect="1"/>
          </p:cNvPicPr>
          <p:nvPr/>
        </p:nvPicPr>
        <p:blipFill>
          <a:blip r:embed="rId3"/>
          <a:stretch>
            <a:fillRect/>
          </a:stretch>
        </p:blipFill>
        <p:spPr>
          <a:xfrm>
            <a:off x="3691890" y="2960370"/>
            <a:ext cx="251460" cy="251460"/>
          </a:xfrm>
          <a:prstGeom prst="rect">
            <a:avLst/>
          </a:prstGeom>
        </p:spPr>
      </p:pic>
      <p:sp>
        <p:nvSpPr>
          <p:cNvPr id="16" name="step label 2"/>
          <p:cNvSpPr txBox="1"/>
          <p:nvPr/>
        </p:nvSpPr>
        <p:spPr>
          <a:xfrm>
            <a:off x="4206240" y="2834640"/>
            <a:ext cx="1463040" cy="228600"/>
          </a:xfrm>
          <a:prstGeom prst="rect">
            <a:avLst/>
          </a:prstGeom>
          <a:noFill/>
          <a:ln/>
        </p:spPr>
        <p:txBody>
          <a:bodyPr wrap="square" lIns="0" tIns="0" rIns="0" bIns="0" rtlCol="0" anchor="ctr"/>
          <a:lstStyle/>
          <a:p>
            <a:pPr indent="0" marL="0">
              <a:buNone/>
            </a:pPr>
            <a:r>
              <a:rPr lang="en-US" sz="1100" b="1" dirty="0">
                <a:solidFill>
                  <a:schemeClr val="accent1"/>
                </a:solidFill>
              </a:rPr>
              <a:t>STEP 2</a:t>
            </a:r>
            <a:endParaRPr lang="en-US" sz="1100" dirty="0"/>
          </a:p>
        </p:txBody>
      </p:sp>
      <p:sp>
        <p:nvSpPr>
          <p:cNvPr id="17" name="step head 2"/>
          <p:cNvSpPr txBox="1"/>
          <p:nvPr/>
        </p:nvSpPr>
        <p:spPr>
          <a:xfrm>
            <a:off x="4206240" y="3063240"/>
            <a:ext cx="1463040" cy="320040"/>
          </a:xfrm>
          <a:prstGeom prst="rect">
            <a:avLst/>
          </a:prstGeom>
          <a:noFill/>
          <a:ln/>
        </p:spPr>
        <p:txBody>
          <a:bodyPr wrap="square" lIns="0" tIns="0" rIns="0" bIns="0" rtlCol="0" anchor="ctr"/>
          <a:lstStyle/>
          <a:p>
            <a:pPr indent="0" marL="0">
              <a:buNone/>
            </a:pPr>
            <a:r>
              <a:rPr lang="en-US" sz="1600" b="1" dirty="0">
                <a:solidFill>
                  <a:schemeClr val="bg1"/>
                </a:solidFill>
              </a:rPr>
              <a:t>사례 분석</a:t>
            </a:r>
            <a:endParaRPr lang="en-US" sz="1600" dirty="0"/>
          </a:p>
        </p:txBody>
      </p:sp>
      <p:sp>
        <p:nvSpPr>
          <p:cNvPr id="18" name="step desc 2"/>
          <p:cNvSpPr txBox="1"/>
          <p:nvPr/>
        </p:nvSpPr>
        <p:spPr>
          <a:xfrm>
            <a:off x="3566160" y="3520440"/>
            <a:ext cx="2103120" cy="685800"/>
          </a:xfrm>
          <a:prstGeom prst="rect">
            <a:avLst/>
          </a:prstGeom>
          <a:noFill/>
          <a:ln/>
        </p:spPr>
        <p:txBody>
          <a:bodyPr wrap="square" lIns="0" tIns="0" rIns="0" bIns="0" rtlCol="0" anchor="t"/>
          <a:lstStyle/>
          <a:p>
            <a:pPr indent="0" marL="0">
              <a:buNone/>
            </a:pPr>
            <a:r>
              <a:rPr lang="en-US" sz="1400" dirty="0">
                <a:solidFill>
                  <a:schemeClr val="bg2"/>
                </a:solidFill>
              </a:rPr>
              <a:t>AI 활용 사례를 4가지 분야로 정리</a:t>
            </a:r>
            <a:endParaRPr lang="en-US" sz="1400" dirty="0"/>
          </a:p>
        </p:txBody>
      </p:sp>
      <p:sp>
        <p:nvSpPr>
          <p:cNvPr id="19" name="step card 3"/>
          <p:cNvSpPr/>
          <p:nvPr/>
        </p:nvSpPr>
        <p:spPr>
          <a:xfrm>
            <a:off x="6126480" y="2606040"/>
            <a:ext cx="2560320" cy="1783080"/>
          </a:xfrm>
          <a:prstGeom prst="roundRect">
            <a:avLst>
              <a:gd name="adj" fmla="val 6154"/>
            </a:avLst>
          </a:prstGeom>
          <a:solidFill>
            <a:schemeClr val="tx2"/>
          </a:solidFill>
          <a:ln w="12700">
            <a:solidFill>
              <a:schemeClr val="accent6"/>
            </a:solidFill>
            <a:prstDash val="solid"/>
          </a:ln>
        </p:spPr>
      </p:sp>
      <p:sp>
        <p:nvSpPr>
          <p:cNvPr id="20" name="step 3 circle"/>
          <p:cNvSpPr/>
          <p:nvPr/>
        </p:nvSpPr>
        <p:spPr>
          <a:xfrm>
            <a:off x="6400800" y="2834640"/>
            <a:ext cx="502920" cy="502920"/>
          </a:xfrm>
          <a:prstGeom prst="ellipse">
            <a:avLst/>
          </a:prstGeom>
          <a:solidFill>
            <a:schemeClr val="accent1"/>
          </a:solidFill>
          <a:ln/>
        </p:spPr>
      </p:sp>
      <p:pic>
        <p:nvPicPr>
          <p:cNvPr id="21" name="step 3 icon" descr="step 3">    </p:cNvPr>
          <p:cNvPicPr>
            <a:picLocks noChangeAspect="1"/>
          </p:cNvPicPr>
          <p:nvPr/>
        </p:nvPicPr>
        <p:blipFill>
          <a:blip r:embed="rId4"/>
          <a:stretch>
            <a:fillRect/>
          </a:stretch>
        </p:blipFill>
        <p:spPr>
          <a:xfrm>
            <a:off x="6526530" y="2960370"/>
            <a:ext cx="251460" cy="251460"/>
          </a:xfrm>
          <a:prstGeom prst="rect">
            <a:avLst/>
          </a:prstGeom>
        </p:spPr>
      </p:pic>
      <p:sp>
        <p:nvSpPr>
          <p:cNvPr id="22" name="step label 3"/>
          <p:cNvSpPr txBox="1"/>
          <p:nvPr/>
        </p:nvSpPr>
        <p:spPr>
          <a:xfrm>
            <a:off x="7040880" y="2834640"/>
            <a:ext cx="1463040" cy="228600"/>
          </a:xfrm>
          <a:prstGeom prst="rect">
            <a:avLst/>
          </a:prstGeom>
          <a:noFill/>
          <a:ln/>
        </p:spPr>
        <p:txBody>
          <a:bodyPr wrap="square" lIns="0" tIns="0" rIns="0" bIns="0" rtlCol="0" anchor="ctr"/>
          <a:lstStyle/>
          <a:p>
            <a:pPr indent="0" marL="0">
              <a:buNone/>
            </a:pPr>
            <a:r>
              <a:rPr lang="en-US" sz="1100" b="1" dirty="0">
                <a:solidFill>
                  <a:schemeClr val="accent1"/>
                </a:solidFill>
              </a:rPr>
              <a:t>STEP 3</a:t>
            </a:r>
            <a:endParaRPr lang="en-US" sz="1100" dirty="0"/>
          </a:p>
        </p:txBody>
      </p:sp>
      <p:sp>
        <p:nvSpPr>
          <p:cNvPr id="23" name="step head 3"/>
          <p:cNvSpPr txBox="1"/>
          <p:nvPr/>
        </p:nvSpPr>
        <p:spPr>
          <a:xfrm>
            <a:off x="7040880" y="3063240"/>
            <a:ext cx="1463040" cy="320040"/>
          </a:xfrm>
          <a:prstGeom prst="rect">
            <a:avLst/>
          </a:prstGeom>
          <a:noFill/>
          <a:ln/>
        </p:spPr>
        <p:txBody>
          <a:bodyPr wrap="square" lIns="0" tIns="0" rIns="0" bIns="0" rtlCol="0" anchor="ctr"/>
          <a:lstStyle/>
          <a:p>
            <a:pPr indent="0" marL="0">
              <a:buNone/>
            </a:pPr>
            <a:r>
              <a:rPr lang="en-US" sz="1600" b="1" dirty="0">
                <a:solidFill>
                  <a:schemeClr val="bg1"/>
                </a:solidFill>
              </a:rPr>
              <a:t>비교 · 평가</a:t>
            </a:r>
            <a:endParaRPr lang="en-US" sz="1600" dirty="0"/>
          </a:p>
        </p:txBody>
      </p:sp>
      <p:sp>
        <p:nvSpPr>
          <p:cNvPr id="24" name="step desc 3"/>
          <p:cNvSpPr txBox="1"/>
          <p:nvPr/>
        </p:nvSpPr>
        <p:spPr>
          <a:xfrm>
            <a:off x="6400800" y="3520440"/>
            <a:ext cx="2103120" cy="685800"/>
          </a:xfrm>
          <a:prstGeom prst="rect">
            <a:avLst/>
          </a:prstGeom>
          <a:noFill/>
          <a:ln/>
        </p:spPr>
        <p:txBody>
          <a:bodyPr wrap="square" lIns="0" tIns="0" rIns="0" bIns="0" rtlCol="0" anchor="t"/>
          <a:lstStyle/>
          <a:p>
            <a:pPr indent="0" marL="0">
              <a:buNone/>
            </a:pPr>
            <a:r>
              <a:rPr lang="en-US" sz="1400" dirty="0">
                <a:solidFill>
                  <a:schemeClr val="bg2"/>
                </a:solidFill>
              </a:rPr>
              <a:t>전통 스포츠와 비교하고 쟁점 찾기</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AI, 프로게이머를 이기다</a:t>
            </a:r>
            <a:endParaRPr lang="en-US" sz="3000" dirty="0"/>
          </a:p>
        </p:txBody>
      </p:sp>
      <p:sp>
        <p:nvSpPr>
          <p:cNvPr id="3" name="timeline line"/>
          <p:cNvSpPr/>
          <p:nvPr/>
        </p:nvSpPr>
        <p:spPr>
          <a:xfrm>
            <a:off x="1737360" y="1508760"/>
            <a:ext cx="5669280" cy="0"/>
          </a:xfrm>
          <a:prstGeom prst="line">
            <a:avLst/>
          </a:prstGeom>
          <a:noFill/>
          <a:ln w="38100">
            <a:solidFill>
              <a:schemeClr val="accent6"/>
            </a:solidFill>
            <a:prstDash val="solid"/>
          </a:ln>
        </p:spPr>
      </p:sp>
      <p:sp>
        <p:nvSpPr>
          <p:cNvPr id="4" name="milestone 1 circle"/>
          <p:cNvSpPr/>
          <p:nvPr/>
        </p:nvSpPr>
        <p:spPr>
          <a:xfrm>
            <a:off x="1417320" y="1188720"/>
            <a:ext cx="640080" cy="640080"/>
          </a:xfrm>
          <a:prstGeom prst="ellipse">
            <a:avLst/>
          </a:prstGeom>
          <a:solidFill>
            <a:schemeClr val="accent3"/>
          </a:solidFill>
          <a:ln/>
        </p:spPr>
      </p:sp>
      <p:pic>
        <p:nvPicPr>
          <p:cNvPr id="5" name="milestone 1 icon" descr="milestone 1">    </p:cNvPr>
          <p:cNvPicPr>
            <a:picLocks noChangeAspect="1"/>
          </p:cNvPicPr>
          <p:nvPr/>
        </p:nvPicPr>
        <p:blipFill>
          <a:blip r:embed="rId1"/>
          <a:stretch>
            <a:fillRect/>
          </a:stretch>
        </p:blipFill>
        <p:spPr>
          <a:xfrm>
            <a:off x="1577340" y="1348740"/>
            <a:ext cx="320040" cy="320040"/>
          </a:xfrm>
          <a:prstGeom prst="rect">
            <a:avLst/>
          </a:prstGeom>
        </p:spPr>
      </p:pic>
      <p:sp>
        <p:nvSpPr>
          <p:cNvPr id="6" name="milestone card 1"/>
          <p:cNvSpPr/>
          <p:nvPr/>
        </p:nvSpPr>
        <p:spPr>
          <a:xfrm>
            <a:off x="457200" y="2011680"/>
            <a:ext cx="2560320" cy="1874520"/>
          </a:xfrm>
          <a:prstGeom prst="roundRect">
            <a:avLst>
              <a:gd name="adj" fmla="val 5854"/>
            </a:avLst>
          </a:prstGeom>
          <a:solidFill>
            <a:schemeClr val="tx2"/>
          </a:solidFill>
          <a:ln w="12700">
            <a:solidFill>
              <a:schemeClr val="accent6"/>
            </a:solidFill>
            <a:prstDash val="solid"/>
          </a:ln>
        </p:spPr>
      </p:sp>
      <p:sp>
        <p:nvSpPr>
          <p:cNvPr id="7" name="milestone year 1"/>
          <p:cNvSpPr txBox="1"/>
          <p:nvPr/>
        </p:nvSpPr>
        <p:spPr>
          <a:xfrm>
            <a:off x="640080" y="2103120"/>
            <a:ext cx="2194560" cy="320040"/>
          </a:xfrm>
          <a:prstGeom prst="rect">
            <a:avLst/>
          </a:prstGeom>
          <a:noFill/>
          <a:ln/>
        </p:spPr>
        <p:txBody>
          <a:bodyPr wrap="square" lIns="0" tIns="0" rIns="0" bIns="0" rtlCol="0" anchor="ctr"/>
          <a:lstStyle/>
          <a:p>
            <a:pPr indent="0" marL="0">
              <a:buNone/>
            </a:pPr>
            <a:r>
              <a:rPr lang="en-US" sz="1800" b="1" dirty="0">
                <a:solidFill>
                  <a:schemeClr val="accent3"/>
                </a:solidFill>
              </a:rPr>
              <a:t>2016. 3</a:t>
            </a:r>
            <a:endParaRPr lang="en-US" sz="1800" dirty="0"/>
          </a:p>
        </p:txBody>
      </p:sp>
      <p:sp>
        <p:nvSpPr>
          <p:cNvPr id="8" name="milestone game 1"/>
          <p:cNvSpPr txBox="1"/>
          <p:nvPr/>
        </p:nvSpPr>
        <p:spPr>
          <a:xfrm>
            <a:off x="640080" y="2423160"/>
            <a:ext cx="2194560" cy="320040"/>
          </a:xfrm>
          <a:prstGeom prst="rect">
            <a:avLst/>
          </a:prstGeom>
          <a:noFill/>
          <a:ln/>
        </p:spPr>
        <p:txBody>
          <a:bodyPr wrap="square" lIns="0" tIns="0" rIns="0" bIns="0" rtlCol="0" anchor="ctr"/>
          <a:lstStyle/>
          <a:p>
            <a:pPr indent="0" marL="0">
              <a:buNone/>
            </a:pPr>
            <a:r>
              <a:rPr lang="en-US" sz="1400" b="1" dirty="0">
                <a:solidFill>
                  <a:schemeClr val="bg1"/>
                </a:solidFill>
              </a:rPr>
              <a:t>바둑 · 알파고</a:t>
            </a:r>
            <a:endParaRPr lang="en-US" sz="1400" dirty="0"/>
          </a:p>
        </p:txBody>
      </p:sp>
      <p:sp>
        <p:nvSpPr>
          <p:cNvPr id="9" name="milestone desc 1"/>
          <p:cNvSpPr txBox="1"/>
          <p:nvPr/>
        </p:nvSpPr>
        <p:spPr>
          <a:xfrm>
            <a:off x="640080" y="2788920"/>
            <a:ext cx="2194560" cy="1005840"/>
          </a:xfrm>
          <a:prstGeom prst="rect">
            <a:avLst/>
          </a:prstGeom>
          <a:noFill/>
          <a:ln/>
        </p:spPr>
        <p:txBody>
          <a:bodyPr wrap="square" lIns="0" tIns="0" rIns="0" bIns="0" rtlCol="0" anchor="t"/>
          <a:lstStyle/>
          <a:p>
            <a:pPr indent="0" marL="0">
              <a:buNone/>
            </a:pPr>
            <a:r>
              <a:rPr lang="en-US" sz="1300" dirty="0">
                <a:solidFill>
                  <a:schemeClr val="bg2"/>
                </a:solidFill>
              </a:rPr>
              <a:t>이세돌 9단에게</a:t>
            </a:r>
            <a:endParaRPr lang="en-US" sz="1300" dirty="0"/>
          </a:p>
          <a:p>
            <a:pPr indent="0" marL="0">
              <a:buNone/>
            </a:pPr>
            <a:r>
              <a:rPr lang="en-US" sz="1300" dirty="0">
                <a:solidFill>
                  <a:schemeClr val="bg2"/>
                </a:solidFill>
              </a:rPr>
              <a:t>4 : 1 승리</a:t>
            </a:r>
            <a:endParaRPr lang="en-US" sz="1300" dirty="0"/>
          </a:p>
        </p:txBody>
      </p:sp>
      <p:sp>
        <p:nvSpPr>
          <p:cNvPr id="10" name="milestone 2 circle"/>
          <p:cNvSpPr/>
          <p:nvPr/>
        </p:nvSpPr>
        <p:spPr>
          <a:xfrm>
            <a:off x="4251960" y="1188720"/>
            <a:ext cx="640080" cy="640080"/>
          </a:xfrm>
          <a:prstGeom prst="ellipse">
            <a:avLst/>
          </a:prstGeom>
          <a:solidFill>
            <a:schemeClr val="accent1"/>
          </a:solidFill>
          <a:ln/>
        </p:spPr>
      </p:sp>
      <p:pic>
        <p:nvPicPr>
          <p:cNvPr id="11" name="milestone 2 icon" descr="milestone 2">    </p:cNvPr>
          <p:cNvPicPr>
            <a:picLocks noChangeAspect="1"/>
          </p:cNvPicPr>
          <p:nvPr/>
        </p:nvPicPr>
        <p:blipFill>
          <a:blip r:embed="rId2"/>
          <a:stretch>
            <a:fillRect/>
          </a:stretch>
        </p:blipFill>
        <p:spPr>
          <a:xfrm>
            <a:off x="4411980" y="1348740"/>
            <a:ext cx="320040" cy="320040"/>
          </a:xfrm>
          <a:prstGeom prst="rect">
            <a:avLst/>
          </a:prstGeom>
        </p:spPr>
      </p:pic>
      <p:sp>
        <p:nvSpPr>
          <p:cNvPr id="12" name="milestone card 2"/>
          <p:cNvSpPr/>
          <p:nvPr/>
        </p:nvSpPr>
        <p:spPr>
          <a:xfrm>
            <a:off x="3291840" y="2011680"/>
            <a:ext cx="2560320" cy="1874520"/>
          </a:xfrm>
          <a:prstGeom prst="roundRect">
            <a:avLst>
              <a:gd name="adj" fmla="val 5854"/>
            </a:avLst>
          </a:prstGeom>
          <a:solidFill>
            <a:schemeClr val="tx2"/>
          </a:solidFill>
          <a:ln w="12700">
            <a:solidFill>
              <a:schemeClr val="accent6"/>
            </a:solidFill>
            <a:prstDash val="solid"/>
          </a:ln>
        </p:spPr>
      </p:sp>
      <p:sp>
        <p:nvSpPr>
          <p:cNvPr id="13" name="milestone year 2"/>
          <p:cNvSpPr txBox="1"/>
          <p:nvPr/>
        </p:nvSpPr>
        <p:spPr>
          <a:xfrm>
            <a:off x="3474720" y="2103120"/>
            <a:ext cx="2194560" cy="320040"/>
          </a:xfrm>
          <a:prstGeom prst="rect">
            <a:avLst/>
          </a:prstGeom>
          <a:noFill/>
          <a:ln/>
        </p:spPr>
        <p:txBody>
          <a:bodyPr wrap="square" lIns="0" tIns="0" rIns="0" bIns="0" rtlCol="0" anchor="ctr"/>
          <a:lstStyle/>
          <a:p>
            <a:pPr indent="0" marL="0">
              <a:buNone/>
            </a:pPr>
            <a:r>
              <a:rPr lang="en-US" sz="1800" b="1" dirty="0">
                <a:solidFill>
                  <a:schemeClr val="accent1"/>
                </a:solidFill>
              </a:rPr>
              <a:t>2019. 4</a:t>
            </a:r>
            <a:endParaRPr lang="en-US" sz="1800" dirty="0"/>
          </a:p>
        </p:txBody>
      </p:sp>
      <p:sp>
        <p:nvSpPr>
          <p:cNvPr id="14" name="milestone game 2"/>
          <p:cNvSpPr txBox="1"/>
          <p:nvPr/>
        </p:nvSpPr>
        <p:spPr>
          <a:xfrm>
            <a:off x="3474720" y="2423160"/>
            <a:ext cx="2194560" cy="320040"/>
          </a:xfrm>
          <a:prstGeom prst="rect">
            <a:avLst/>
          </a:prstGeom>
          <a:noFill/>
          <a:ln/>
        </p:spPr>
        <p:txBody>
          <a:bodyPr wrap="square" lIns="0" tIns="0" rIns="0" bIns="0" rtlCol="0" anchor="ctr"/>
          <a:lstStyle/>
          <a:p>
            <a:pPr indent="0" marL="0">
              <a:buNone/>
            </a:pPr>
            <a:r>
              <a:rPr lang="en-US" sz="1400" b="1" dirty="0">
                <a:solidFill>
                  <a:schemeClr val="bg1"/>
                </a:solidFill>
              </a:rPr>
              <a:t>도타 2 · OpenAI Five</a:t>
            </a:r>
            <a:endParaRPr lang="en-US" sz="1400" dirty="0"/>
          </a:p>
        </p:txBody>
      </p:sp>
      <p:sp>
        <p:nvSpPr>
          <p:cNvPr id="15" name="milestone desc 2"/>
          <p:cNvSpPr txBox="1"/>
          <p:nvPr/>
        </p:nvSpPr>
        <p:spPr>
          <a:xfrm>
            <a:off x="3474720" y="2788920"/>
            <a:ext cx="2194560" cy="1005840"/>
          </a:xfrm>
          <a:prstGeom prst="rect">
            <a:avLst/>
          </a:prstGeom>
          <a:noFill/>
          <a:ln/>
        </p:spPr>
        <p:txBody>
          <a:bodyPr wrap="square" lIns="0" tIns="0" rIns="0" bIns="0" rtlCol="0" anchor="t"/>
          <a:lstStyle/>
          <a:p>
            <a:pPr indent="0" marL="0">
              <a:buNone/>
            </a:pPr>
            <a:r>
              <a:rPr lang="en-US" sz="1300" dirty="0">
                <a:solidFill>
                  <a:schemeClr val="bg2"/>
                </a:solidFill>
              </a:rPr>
              <a:t>세계 챔피언 팀 OG에게</a:t>
            </a:r>
            <a:endParaRPr lang="en-US" sz="1300" dirty="0"/>
          </a:p>
          <a:p>
            <a:pPr indent="0" marL="0">
              <a:buNone/>
            </a:pPr>
            <a:r>
              <a:rPr lang="en-US" sz="1300" dirty="0">
                <a:solidFill>
                  <a:schemeClr val="bg2"/>
                </a:solidFill>
              </a:rPr>
              <a:t>2 : 0 승리</a:t>
            </a:r>
            <a:endParaRPr lang="en-US" sz="1300" dirty="0"/>
          </a:p>
          <a:p>
            <a:pPr indent="0" marL="0">
              <a:buNone/>
            </a:pPr>
            <a:r>
              <a:rPr lang="en-US" sz="1300" dirty="0">
                <a:solidFill>
                  <a:schemeClr val="bg2"/>
                </a:solidFill>
              </a:rPr>
              <a:t>공개 대전 승률 99.4%</a:t>
            </a:r>
            <a:endParaRPr lang="en-US" sz="1300" dirty="0"/>
          </a:p>
        </p:txBody>
      </p:sp>
      <p:sp>
        <p:nvSpPr>
          <p:cNvPr id="16" name="milestone 3 circle"/>
          <p:cNvSpPr/>
          <p:nvPr/>
        </p:nvSpPr>
        <p:spPr>
          <a:xfrm>
            <a:off x="7086600" y="1188720"/>
            <a:ext cx="640080" cy="640080"/>
          </a:xfrm>
          <a:prstGeom prst="ellipse">
            <a:avLst/>
          </a:prstGeom>
          <a:solidFill>
            <a:schemeClr val="accent2"/>
          </a:solidFill>
          <a:ln/>
        </p:spPr>
      </p:sp>
      <p:pic>
        <p:nvPicPr>
          <p:cNvPr id="17" name="milestone 3 icon" descr="milestone 3">    </p:cNvPr>
          <p:cNvPicPr>
            <a:picLocks noChangeAspect="1"/>
          </p:cNvPicPr>
          <p:nvPr/>
        </p:nvPicPr>
        <p:blipFill>
          <a:blip r:embed="rId3"/>
          <a:stretch>
            <a:fillRect/>
          </a:stretch>
        </p:blipFill>
        <p:spPr>
          <a:xfrm>
            <a:off x="7246620" y="1348740"/>
            <a:ext cx="320040" cy="320040"/>
          </a:xfrm>
          <a:prstGeom prst="rect">
            <a:avLst/>
          </a:prstGeom>
        </p:spPr>
      </p:pic>
      <p:sp>
        <p:nvSpPr>
          <p:cNvPr id="18" name="milestone card 3"/>
          <p:cNvSpPr/>
          <p:nvPr/>
        </p:nvSpPr>
        <p:spPr>
          <a:xfrm>
            <a:off x="6126480" y="2011680"/>
            <a:ext cx="2560320" cy="1874520"/>
          </a:xfrm>
          <a:prstGeom prst="roundRect">
            <a:avLst>
              <a:gd name="adj" fmla="val 5854"/>
            </a:avLst>
          </a:prstGeom>
          <a:solidFill>
            <a:schemeClr val="tx2"/>
          </a:solidFill>
          <a:ln w="12700">
            <a:solidFill>
              <a:schemeClr val="accent6"/>
            </a:solidFill>
            <a:prstDash val="solid"/>
          </a:ln>
        </p:spPr>
      </p:sp>
      <p:sp>
        <p:nvSpPr>
          <p:cNvPr id="19" name="milestone year 3"/>
          <p:cNvSpPr txBox="1"/>
          <p:nvPr/>
        </p:nvSpPr>
        <p:spPr>
          <a:xfrm>
            <a:off x="6309360" y="2103120"/>
            <a:ext cx="2194560" cy="320040"/>
          </a:xfrm>
          <a:prstGeom prst="rect">
            <a:avLst/>
          </a:prstGeom>
          <a:noFill/>
          <a:ln/>
        </p:spPr>
        <p:txBody>
          <a:bodyPr wrap="square" lIns="0" tIns="0" rIns="0" bIns="0" rtlCol="0" anchor="ctr"/>
          <a:lstStyle/>
          <a:p>
            <a:pPr indent="0" marL="0">
              <a:buNone/>
            </a:pPr>
            <a:r>
              <a:rPr lang="en-US" sz="1800" b="1" dirty="0">
                <a:solidFill>
                  <a:schemeClr val="accent2"/>
                </a:solidFill>
              </a:rPr>
              <a:t>2019. 10</a:t>
            </a:r>
            <a:endParaRPr lang="en-US" sz="1800" dirty="0"/>
          </a:p>
        </p:txBody>
      </p:sp>
      <p:sp>
        <p:nvSpPr>
          <p:cNvPr id="20" name="milestone game 3"/>
          <p:cNvSpPr txBox="1"/>
          <p:nvPr/>
        </p:nvSpPr>
        <p:spPr>
          <a:xfrm>
            <a:off x="6309360" y="2423160"/>
            <a:ext cx="2194560" cy="320040"/>
          </a:xfrm>
          <a:prstGeom prst="rect">
            <a:avLst/>
          </a:prstGeom>
          <a:noFill/>
          <a:ln/>
        </p:spPr>
        <p:txBody>
          <a:bodyPr wrap="square" lIns="0" tIns="0" rIns="0" bIns="0" rtlCol="0" anchor="ctr"/>
          <a:lstStyle/>
          <a:p>
            <a:pPr indent="0" marL="0">
              <a:buNone/>
            </a:pPr>
            <a:r>
              <a:rPr lang="en-US" sz="1400" b="1" dirty="0">
                <a:solidFill>
                  <a:schemeClr val="bg1"/>
                </a:solidFill>
              </a:rPr>
              <a:t>스타크래프트 2 · 알파스타</a:t>
            </a:r>
            <a:endParaRPr lang="en-US" sz="1400" dirty="0"/>
          </a:p>
        </p:txBody>
      </p:sp>
      <p:sp>
        <p:nvSpPr>
          <p:cNvPr id="21" name="milestone desc 3"/>
          <p:cNvSpPr txBox="1"/>
          <p:nvPr/>
        </p:nvSpPr>
        <p:spPr>
          <a:xfrm>
            <a:off x="6309360" y="2788920"/>
            <a:ext cx="2194560" cy="1005840"/>
          </a:xfrm>
          <a:prstGeom prst="rect">
            <a:avLst/>
          </a:prstGeom>
          <a:noFill/>
          <a:ln/>
        </p:spPr>
        <p:txBody>
          <a:bodyPr wrap="square" lIns="0" tIns="0" rIns="0" bIns="0" rtlCol="0" anchor="t"/>
          <a:lstStyle/>
          <a:p>
            <a:pPr indent="0" marL="0">
              <a:buNone/>
            </a:pPr>
            <a:r>
              <a:rPr lang="en-US" sz="1300" dirty="0">
                <a:solidFill>
                  <a:schemeClr val="bg2"/>
                </a:solidFill>
              </a:rPr>
              <a:t>그랜드마스터 달성</a:t>
            </a:r>
            <a:endParaRPr lang="en-US" sz="1300" dirty="0"/>
          </a:p>
          <a:p>
            <a:pPr indent="0" marL="0">
              <a:buNone/>
            </a:pPr>
            <a:r>
              <a:rPr lang="en-US" sz="1300" dirty="0">
                <a:solidFill>
                  <a:schemeClr val="bg2"/>
                </a:solidFill>
              </a:rPr>
              <a:t>(상위 0.2%)</a:t>
            </a:r>
            <a:endParaRPr lang="en-US" sz="1300" dirty="0"/>
          </a:p>
          <a:p>
            <a:pPr indent="0" marL="0">
              <a:buNone/>
            </a:pPr>
            <a:r>
              <a:rPr lang="en-US" sz="1300" dirty="0">
                <a:solidFill>
                  <a:schemeClr val="bg2"/>
                </a:solidFill>
              </a:rPr>
              <a:t>과학 학술지 「네이처」 게재</a:t>
            </a:r>
            <a:endParaRPr lang="en-US" sz="1300" dirty="0"/>
          </a:p>
        </p:txBody>
      </p:sp>
      <p:sp>
        <p:nvSpPr>
          <p:cNvPr id="22" name="timeline takeaway"/>
          <p:cNvSpPr txBox="1"/>
          <p:nvPr/>
        </p:nvSpPr>
        <p:spPr>
          <a:xfrm>
            <a:off x="457200" y="4114800"/>
            <a:ext cx="8229600" cy="411480"/>
          </a:xfrm>
          <a:prstGeom prst="rect">
            <a:avLst/>
          </a:prstGeom>
          <a:noFill/>
          <a:ln/>
        </p:spPr>
        <p:txBody>
          <a:bodyPr wrap="square" lIns="0" tIns="0" rIns="0" bIns="0" rtlCol="0" anchor="ctr"/>
          <a:lstStyle/>
          <a:p>
            <a:pPr indent="0" marL="0">
              <a:buNone/>
            </a:pPr>
            <a:r>
              <a:rPr lang="en-US" sz="1500" b="1" dirty="0">
                <a:solidFill>
                  <a:schemeClr val="accent4"/>
                </a:solidFill>
              </a:rPr>
              <a:t>핵심  </a:t>
            </a:r>
            <a:pPr indent="0" marL="0">
              <a:buNone/>
            </a:pPr>
            <a:r>
              <a:rPr lang="en-US" sz="1500" dirty="0">
                <a:solidFill>
                  <a:schemeClr val="bg1"/>
                </a:solidFill>
              </a:rPr>
              <a:t>AI가 사람이 생각하지 못한 새 전략을 보여 줌 → 선수들이 AI에게 배우기 시작</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활용 ① 전술 · 데이터 분석</a:t>
            </a:r>
            <a:endParaRPr lang="en-US" sz="3000" dirty="0"/>
          </a:p>
        </p:txBody>
      </p:sp>
      <p:sp>
        <p:nvSpPr>
          <p:cNvPr id="3" name="analysis intro"/>
          <p:cNvSpPr txBox="1"/>
          <p:nvPr/>
        </p:nvSpPr>
        <p:spPr>
          <a:xfrm>
            <a:off x="457200" y="1143000"/>
            <a:ext cx="3291840" cy="1463040"/>
          </a:xfrm>
          <a:prstGeom prst="rect">
            <a:avLst/>
          </a:prstGeom>
          <a:noFill/>
          <a:ln/>
        </p:spPr>
        <p:txBody>
          <a:bodyPr wrap="square" lIns="0" tIns="0" rIns="0" bIns="0" rtlCol="0" anchor="t"/>
          <a:lstStyle/>
          <a:p>
            <a:pPr indent="0" marL="0">
              <a:spcAft>
                <a:spcPts val="800"/>
              </a:spcAft>
              <a:buNone/>
            </a:pPr>
            <a:r>
              <a:rPr lang="en-US" sz="2000" b="1" dirty="0">
                <a:solidFill>
                  <a:schemeClr val="accent1"/>
                </a:solidFill>
              </a:rPr>
              <a:t>AI = 지치지 않는</a:t>
            </a:r>
            <a:endParaRPr lang="en-US" sz="2000" dirty="0"/>
          </a:p>
          <a:p>
            <a:pPr indent="0" marL="0">
              <a:spcAft>
                <a:spcPts val="800"/>
              </a:spcAft>
              <a:buNone/>
            </a:pPr>
            <a:r>
              <a:rPr lang="en-US" sz="2000" b="1" dirty="0">
                <a:solidFill>
                  <a:schemeClr val="accent1"/>
                </a:solidFill>
              </a:rPr>
              <a:t>전력 분석관</a:t>
            </a:r>
            <a:endParaRPr lang="en-US" sz="2000" dirty="0"/>
          </a:p>
          <a:p>
            <a:pPr indent="0" marL="0">
              <a:spcAft>
                <a:spcPts val="800"/>
              </a:spcAft>
              <a:buNone/>
            </a:pPr>
            <a:r>
              <a:rPr lang="en-US" sz="1500" dirty="0">
                <a:solidFill>
                  <a:schemeClr val="bg1"/>
                </a:solidFill>
              </a:rPr>
              <a:t>사람이 며칠 걸려 보던 경기 영상을 AI는 몇 분 만에 분석합니다.</a:t>
            </a:r>
            <a:endParaRPr lang="en-US" sz="2000" dirty="0"/>
          </a:p>
        </p:txBody>
      </p:sp>
      <p:sp>
        <p:nvSpPr>
          <p:cNvPr id="4" name="analysis hero circle"/>
          <p:cNvSpPr/>
          <p:nvPr/>
        </p:nvSpPr>
        <p:spPr>
          <a:xfrm>
            <a:off x="457200" y="2834640"/>
            <a:ext cx="1188720" cy="1188720"/>
          </a:xfrm>
          <a:prstGeom prst="ellipse">
            <a:avLst/>
          </a:prstGeom>
          <a:solidFill>
            <a:schemeClr val="accent1"/>
          </a:solidFill>
          <a:ln/>
        </p:spPr>
      </p:sp>
      <p:pic>
        <p:nvPicPr>
          <p:cNvPr id="5" name="analysis hero icon" descr="analysis hero">    </p:cNvPr>
          <p:cNvPicPr>
            <a:picLocks noChangeAspect="1"/>
          </p:cNvPicPr>
          <p:nvPr/>
        </p:nvPicPr>
        <p:blipFill>
          <a:blip r:embed="rId1"/>
          <a:stretch>
            <a:fillRect/>
          </a:stretch>
        </p:blipFill>
        <p:spPr>
          <a:xfrm>
            <a:off x="754380" y="3131820"/>
            <a:ext cx="594360" cy="594360"/>
          </a:xfrm>
          <a:prstGeom prst="rect">
            <a:avLst/>
          </a:prstGeom>
        </p:spPr>
      </p:pic>
      <p:sp>
        <p:nvSpPr>
          <p:cNvPr id="6" name="analysis card 1"/>
          <p:cNvSpPr/>
          <p:nvPr/>
        </p:nvSpPr>
        <p:spPr>
          <a:xfrm>
            <a:off x="4023360" y="1143000"/>
            <a:ext cx="2194560" cy="1508760"/>
          </a:xfrm>
          <a:prstGeom prst="roundRect">
            <a:avLst>
              <a:gd name="adj" fmla="val 7273"/>
            </a:avLst>
          </a:prstGeom>
          <a:solidFill>
            <a:schemeClr val="tx2"/>
          </a:solidFill>
          <a:ln w="12700">
            <a:solidFill>
              <a:schemeClr val="accent6"/>
            </a:solidFill>
            <a:prstDash val="solid"/>
          </a:ln>
        </p:spPr>
      </p:sp>
      <p:sp>
        <p:nvSpPr>
          <p:cNvPr id="7" name="analysis 1 circle"/>
          <p:cNvSpPr/>
          <p:nvPr/>
        </p:nvSpPr>
        <p:spPr>
          <a:xfrm>
            <a:off x="4206240" y="1325880"/>
            <a:ext cx="457200" cy="457200"/>
          </a:xfrm>
          <a:prstGeom prst="ellipse">
            <a:avLst/>
          </a:prstGeom>
          <a:solidFill>
            <a:schemeClr val="accent1"/>
          </a:solidFill>
          <a:ln/>
        </p:spPr>
      </p:sp>
      <p:pic>
        <p:nvPicPr>
          <p:cNvPr id="8" name="analysis 1 icon" descr="analysis 1">    </p:cNvPr>
          <p:cNvPicPr>
            <a:picLocks noChangeAspect="1"/>
          </p:cNvPicPr>
          <p:nvPr/>
        </p:nvPicPr>
        <p:blipFill>
          <a:blip r:embed="rId2"/>
          <a:stretch>
            <a:fillRect/>
          </a:stretch>
        </p:blipFill>
        <p:spPr>
          <a:xfrm>
            <a:off x="4320540" y="1440180"/>
            <a:ext cx="228600" cy="228600"/>
          </a:xfrm>
          <a:prstGeom prst="rect">
            <a:avLst/>
          </a:prstGeom>
        </p:spPr>
      </p:pic>
      <p:sp>
        <p:nvSpPr>
          <p:cNvPr id="9" name="analysis head 1"/>
          <p:cNvSpPr txBox="1"/>
          <p:nvPr/>
        </p:nvSpPr>
        <p:spPr>
          <a:xfrm>
            <a:off x="4206240" y="1874520"/>
            <a:ext cx="1874520" cy="274320"/>
          </a:xfrm>
          <a:prstGeom prst="rect">
            <a:avLst/>
          </a:prstGeom>
          <a:noFill/>
          <a:ln/>
        </p:spPr>
        <p:txBody>
          <a:bodyPr wrap="square" lIns="0" tIns="0" rIns="0" bIns="0" rtlCol="0" anchor="ctr"/>
          <a:lstStyle/>
          <a:p>
            <a:pPr indent="0" marL="0">
              <a:buNone/>
            </a:pPr>
            <a:r>
              <a:rPr lang="en-US" sz="1400" b="1" dirty="0">
                <a:solidFill>
                  <a:schemeClr val="bg1"/>
                </a:solidFill>
              </a:rPr>
              <a:t>리플레이 자동 분석</a:t>
            </a:r>
            <a:endParaRPr lang="en-US" sz="1400" dirty="0"/>
          </a:p>
        </p:txBody>
      </p:sp>
      <p:sp>
        <p:nvSpPr>
          <p:cNvPr id="10" name="analysis desc 1"/>
          <p:cNvSpPr txBox="1"/>
          <p:nvPr/>
        </p:nvSpPr>
        <p:spPr>
          <a:xfrm>
            <a:off x="4206240" y="2148840"/>
            <a:ext cx="1874520" cy="457200"/>
          </a:xfrm>
          <a:prstGeom prst="rect">
            <a:avLst/>
          </a:prstGeom>
          <a:noFill/>
          <a:ln/>
        </p:spPr>
        <p:txBody>
          <a:bodyPr wrap="square" lIns="0" tIns="0" rIns="0" bIns="0" rtlCol="0" anchor="t"/>
          <a:lstStyle/>
          <a:p>
            <a:pPr indent="0" marL="0">
              <a:buNone/>
            </a:pPr>
            <a:r>
              <a:rPr lang="en-US" sz="1100" dirty="0">
                <a:solidFill>
                  <a:schemeClr val="bg2"/>
                </a:solidFill>
              </a:rPr>
              <a:t>수백 판의 경기 기록을 한 번에 정리</a:t>
            </a:r>
            <a:endParaRPr lang="en-US" sz="1100" dirty="0"/>
          </a:p>
        </p:txBody>
      </p:sp>
      <p:sp>
        <p:nvSpPr>
          <p:cNvPr id="11" name="analysis card 2"/>
          <p:cNvSpPr/>
          <p:nvPr/>
        </p:nvSpPr>
        <p:spPr>
          <a:xfrm>
            <a:off x="6400800" y="1143000"/>
            <a:ext cx="2194560" cy="1508760"/>
          </a:xfrm>
          <a:prstGeom prst="roundRect">
            <a:avLst>
              <a:gd name="adj" fmla="val 7273"/>
            </a:avLst>
          </a:prstGeom>
          <a:solidFill>
            <a:schemeClr val="tx2"/>
          </a:solidFill>
          <a:ln w="12700">
            <a:solidFill>
              <a:schemeClr val="accent6"/>
            </a:solidFill>
            <a:prstDash val="solid"/>
          </a:ln>
        </p:spPr>
      </p:sp>
      <p:sp>
        <p:nvSpPr>
          <p:cNvPr id="12" name="analysis 2 circle"/>
          <p:cNvSpPr/>
          <p:nvPr/>
        </p:nvSpPr>
        <p:spPr>
          <a:xfrm>
            <a:off x="6583680" y="1325880"/>
            <a:ext cx="457200" cy="457200"/>
          </a:xfrm>
          <a:prstGeom prst="ellipse">
            <a:avLst/>
          </a:prstGeom>
          <a:solidFill>
            <a:schemeClr val="accent1"/>
          </a:solidFill>
          <a:ln/>
        </p:spPr>
      </p:sp>
      <p:pic>
        <p:nvPicPr>
          <p:cNvPr id="13" name="analysis 2 icon" descr="analysis 2">    </p:cNvPr>
          <p:cNvPicPr>
            <a:picLocks noChangeAspect="1"/>
          </p:cNvPicPr>
          <p:nvPr/>
        </p:nvPicPr>
        <p:blipFill>
          <a:blip r:embed="rId3"/>
          <a:stretch>
            <a:fillRect/>
          </a:stretch>
        </p:blipFill>
        <p:spPr>
          <a:xfrm>
            <a:off x="6697980" y="1440180"/>
            <a:ext cx="228600" cy="228600"/>
          </a:xfrm>
          <a:prstGeom prst="rect">
            <a:avLst/>
          </a:prstGeom>
        </p:spPr>
      </p:pic>
      <p:sp>
        <p:nvSpPr>
          <p:cNvPr id="14" name="analysis head 2"/>
          <p:cNvSpPr txBox="1"/>
          <p:nvPr/>
        </p:nvSpPr>
        <p:spPr>
          <a:xfrm>
            <a:off x="6583680" y="1874520"/>
            <a:ext cx="1874520" cy="274320"/>
          </a:xfrm>
          <a:prstGeom prst="rect">
            <a:avLst/>
          </a:prstGeom>
          <a:noFill/>
          <a:ln/>
        </p:spPr>
        <p:txBody>
          <a:bodyPr wrap="square" lIns="0" tIns="0" rIns="0" bIns="0" rtlCol="0" anchor="ctr"/>
          <a:lstStyle/>
          <a:p>
            <a:pPr indent="0" marL="0">
              <a:buNone/>
            </a:pPr>
            <a:r>
              <a:rPr lang="en-US" sz="1400" b="1" dirty="0">
                <a:solidFill>
                  <a:schemeClr val="bg1"/>
                </a:solidFill>
              </a:rPr>
              <a:t>상대 팀 성향 파악</a:t>
            </a:r>
            <a:endParaRPr lang="en-US" sz="1400" dirty="0"/>
          </a:p>
        </p:txBody>
      </p:sp>
      <p:sp>
        <p:nvSpPr>
          <p:cNvPr id="15" name="analysis desc 2"/>
          <p:cNvSpPr txBox="1"/>
          <p:nvPr/>
        </p:nvSpPr>
        <p:spPr>
          <a:xfrm>
            <a:off x="6583680" y="2148840"/>
            <a:ext cx="1874520" cy="457200"/>
          </a:xfrm>
          <a:prstGeom prst="rect">
            <a:avLst/>
          </a:prstGeom>
          <a:noFill/>
          <a:ln/>
        </p:spPr>
        <p:txBody>
          <a:bodyPr wrap="square" lIns="0" tIns="0" rIns="0" bIns="0" rtlCol="0" anchor="t"/>
          <a:lstStyle/>
          <a:p>
            <a:pPr indent="0" marL="0">
              <a:buNone/>
            </a:pPr>
            <a:r>
              <a:rPr lang="en-US" sz="1100" dirty="0">
                <a:solidFill>
                  <a:schemeClr val="bg2"/>
                </a:solidFill>
              </a:rPr>
              <a:t>자주 쓰는 전략 · 캐릭터를 찾아냄</a:t>
            </a:r>
            <a:endParaRPr lang="en-US" sz="1100" dirty="0"/>
          </a:p>
        </p:txBody>
      </p:sp>
      <p:sp>
        <p:nvSpPr>
          <p:cNvPr id="16" name="analysis card 3"/>
          <p:cNvSpPr/>
          <p:nvPr/>
        </p:nvSpPr>
        <p:spPr>
          <a:xfrm>
            <a:off x="4023360" y="2834640"/>
            <a:ext cx="2194560" cy="1508760"/>
          </a:xfrm>
          <a:prstGeom prst="roundRect">
            <a:avLst>
              <a:gd name="adj" fmla="val 7273"/>
            </a:avLst>
          </a:prstGeom>
          <a:solidFill>
            <a:schemeClr val="tx2"/>
          </a:solidFill>
          <a:ln w="12700">
            <a:solidFill>
              <a:schemeClr val="accent6"/>
            </a:solidFill>
            <a:prstDash val="solid"/>
          </a:ln>
        </p:spPr>
      </p:sp>
      <p:sp>
        <p:nvSpPr>
          <p:cNvPr id="17" name="analysis 3 circle"/>
          <p:cNvSpPr/>
          <p:nvPr/>
        </p:nvSpPr>
        <p:spPr>
          <a:xfrm>
            <a:off x="4206240" y="3017520"/>
            <a:ext cx="457200" cy="457200"/>
          </a:xfrm>
          <a:prstGeom prst="ellipse">
            <a:avLst/>
          </a:prstGeom>
          <a:solidFill>
            <a:schemeClr val="accent1"/>
          </a:solidFill>
          <a:ln/>
        </p:spPr>
      </p:sp>
      <p:pic>
        <p:nvPicPr>
          <p:cNvPr id="18" name="analysis 3 icon" descr="analysis 3">    </p:cNvPr>
          <p:cNvPicPr>
            <a:picLocks noChangeAspect="1"/>
          </p:cNvPicPr>
          <p:nvPr/>
        </p:nvPicPr>
        <p:blipFill>
          <a:blip r:embed="rId4"/>
          <a:stretch>
            <a:fillRect/>
          </a:stretch>
        </p:blipFill>
        <p:spPr>
          <a:xfrm>
            <a:off x="4320540" y="3131820"/>
            <a:ext cx="228600" cy="228600"/>
          </a:xfrm>
          <a:prstGeom prst="rect">
            <a:avLst/>
          </a:prstGeom>
        </p:spPr>
      </p:pic>
      <p:sp>
        <p:nvSpPr>
          <p:cNvPr id="19" name="analysis head 3"/>
          <p:cNvSpPr txBox="1"/>
          <p:nvPr/>
        </p:nvSpPr>
        <p:spPr>
          <a:xfrm>
            <a:off x="4206240" y="3566160"/>
            <a:ext cx="1874520" cy="274320"/>
          </a:xfrm>
          <a:prstGeom prst="rect">
            <a:avLst/>
          </a:prstGeom>
          <a:noFill/>
          <a:ln/>
        </p:spPr>
        <p:txBody>
          <a:bodyPr wrap="square" lIns="0" tIns="0" rIns="0" bIns="0" rtlCol="0" anchor="ctr"/>
          <a:lstStyle/>
          <a:p>
            <a:pPr indent="0" marL="0">
              <a:buNone/>
            </a:pPr>
            <a:r>
              <a:rPr lang="en-US" sz="1400" b="1" dirty="0">
                <a:solidFill>
                  <a:schemeClr val="bg1"/>
                </a:solidFill>
              </a:rPr>
              <a:t>밴픽 추천</a:t>
            </a:r>
            <a:endParaRPr lang="en-US" sz="1400" dirty="0"/>
          </a:p>
        </p:txBody>
      </p:sp>
      <p:sp>
        <p:nvSpPr>
          <p:cNvPr id="20" name="analysis desc 3"/>
          <p:cNvSpPr txBox="1"/>
          <p:nvPr/>
        </p:nvSpPr>
        <p:spPr>
          <a:xfrm>
            <a:off x="4206240" y="3840480"/>
            <a:ext cx="1874520" cy="457200"/>
          </a:xfrm>
          <a:prstGeom prst="rect">
            <a:avLst/>
          </a:prstGeom>
          <a:noFill/>
          <a:ln/>
        </p:spPr>
        <p:txBody>
          <a:bodyPr wrap="square" lIns="0" tIns="0" rIns="0" bIns="0" rtlCol="0" anchor="t"/>
          <a:lstStyle/>
          <a:p>
            <a:pPr indent="0" marL="0">
              <a:buNone/>
            </a:pPr>
            <a:r>
              <a:rPr lang="en-US" sz="1100" dirty="0">
                <a:solidFill>
                  <a:schemeClr val="bg2"/>
                </a:solidFill>
              </a:rPr>
              <a:t>캐릭터 선택 단계에서 유리한 조합 제안</a:t>
            </a:r>
            <a:endParaRPr lang="en-US" sz="1100" dirty="0"/>
          </a:p>
        </p:txBody>
      </p:sp>
      <p:sp>
        <p:nvSpPr>
          <p:cNvPr id="21" name="analysis card 4"/>
          <p:cNvSpPr/>
          <p:nvPr/>
        </p:nvSpPr>
        <p:spPr>
          <a:xfrm>
            <a:off x="6400800" y="2834640"/>
            <a:ext cx="2194560" cy="1508760"/>
          </a:xfrm>
          <a:prstGeom prst="roundRect">
            <a:avLst>
              <a:gd name="adj" fmla="val 7273"/>
            </a:avLst>
          </a:prstGeom>
          <a:solidFill>
            <a:schemeClr val="tx2"/>
          </a:solidFill>
          <a:ln w="12700">
            <a:solidFill>
              <a:schemeClr val="accent6"/>
            </a:solidFill>
            <a:prstDash val="solid"/>
          </a:ln>
        </p:spPr>
      </p:sp>
      <p:sp>
        <p:nvSpPr>
          <p:cNvPr id="22" name="analysis 4 circle"/>
          <p:cNvSpPr/>
          <p:nvPr/>
        </p:nvSpPr>
        <p:spPr>
          <a:xfrm>
            <a:off x="6583680" y="3017520"/>
            <a:ext cx="457200" cy="457200"/>
          </a:xfrm>
          <a:prstGeom prst="ellipse">
            <a:avLst/>
          </a:prstGeom>
          <a:solidFill>
            <a:schemeClr val="accent1"/>
          </a:solidFill>
          <a:ln/>
        </p:spPr>
      </p:sp>
      <p:pic>
        <p:nvPicPr>
          <p:cNvPr id="23" name="analysis 4 icon" descr="analysis 4">    </p:cNvPr>
          <p:cNvPicPr>
            <a:picLocks noChangeAspect="1"/>
          </p:cNvPicPr>
          <p:nvPr/>
        </p:nvPicPr>
        <p:blipFill>
          <a:blip r:embed="rId5"/>
          <a:stretch>
            <a:fillRect/>
          </a:stretch>
        </p:blipFill>
        <p:spPr>
          <a:xfrm>
            <a:off x="6697980" y="3131820"/>
            <a:ext cx="228600" cy="228600"/>
          </a:xfrm>
          <a:prstGeom prst="rect">
            <a:avLst/>
          </a:prstGeom>
        </p:spPr>
      </p:pic>
      <p:sp>
        <p:nvSpPr>
          <p:cNvPr id="24" name="analysis head 4"/>
          <p:cNvSpPr txBox="1"/>
          <p:nvPr/>
        </p:nvSpPr>
        <p:spPr>
          <a:xfrm>
            <a:off x="6583680" y="3566160"/>
            <a:ext cx="1874520" cy="274320"/>
          </a:xfrm>
          <a:prstGeom prst="rect">
            <a:avLst/>
          </a:prstGeom>
          <a:noFill/>
          <a:ln/>
        </p:spPr>
        <p:txBody>
          <a:bodyPr wrap="square" lIns="0" tIns="0" rIns="0" bIns="0" rtlCol="0" anchor="ctr"/>
          <a:lstStyle/>
          <a:p>
            <a:pPr indent="0" marL="0">
              <a:buNone/>
            </a:pPr>
            <a:r>
              <a:rPr lang="en-US" sz="1400" b="1" dirty="0">
                <a:solidFill>
                  <a:schemeClr val="bg1"/>
                </a:solidFill>
              </a:rPr>
              <a:t>동선 · 시야 지도</a:t>
            </a:r>
            <a:endParaRPr lang="en-US" sz="1400" dirty="0"/>
          </a:p>
        </p:txBody>
      </p:sp>
      <p:sp>
        <p:nvSpPr>
          <p:cNvPr id="25" name="analysis desc 4"/>
          <p:cNvSpPr txBox="1"/>
          <p:nvPr/>
        </p:nvSpPr>
        <p:spPr>
          <a:xfrm>
            <a:off x="6583680" y="3840480"/>
            <a:ext cx="1874520" cy="457200"/>
          </a:xfrm>
          <a:prstGeom prst="rect">
            <a:avLst/>
          </a:prstGeom>
          <a:noFill/>
          <a:ln/>
        </p:spPr>
        <p:txBody>
          <a:bodyPr wrap="square" lIns="0" tIns="0" rIns="0" bIns="0" rtlCol="0" anchor="t"/>
          <a:lstStyle/>
          <a:p>
            <a:pPr indent="0" marL="0">
              <a:buNone/>
            </a:pPr>
            <a:r>
              <a:rPr lang="en-US" sz="1100" dirty="0">
                <a:solidFill>
                  <a:schemeClr val="bg2"/>
                </a:solidFill>
              </a:rPr>
              <a:t>선수가 언제 어디로 움직이는지 시각화</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활용 ② 훈련 · 컨디션 관리</a:t>
            </a:r>
            <a:endParaRPr lang="en-US" sz="3000" dirty="0"/>
          </a:p>
        </p:txBody>
      </p:sp>
      <p:sp>
        <p:nvSpPr>
          <p:cNvPr id="3" name="training card 1"/>
          <p:cNvSpPr/>
          <p:nvPr/>
        </p:nvSpPr>
        <p:spPr>
          <a:xfrm>
            <a:off x="457200" y="1143000"/>
            <a:ext cx="2560320" cy="2286000"/>
          </a:xfrm>
          <a:prstGeom prst="roundRect">
            <a:avLst>
              <a:gd name="adj" fmla="val 4800"/>
            </a:avLst>
          </a:prstGeom>
          <a:solidFill>
            <a:schemeClr val="tx2"/>
          </a:solidFill>
          <a:ln w="12700">
            <a:solidFill>
              <a:schemeClr val="accent6"/>
            </a:solidFill>
            <a:prstDash val="solid"/>
          </a:ln>
        </p:spPr>
      </p:sp>
      <p:sp>
        <p:nvSpPr>
          <p:cNvPr id="4" name="training 1 circle"/>
          <p:cNvSpPr/>
          <p:nvPr/>
        </p:nvSpPr>
        <p:spPr>
          <a:xfrm>
            <a:off x="731520" y="1371600"/>
            <a:ext cx="685800" cy="685800"/>
          </a:xfrm>
          <a:prstGeom prst="ellipse">
            <a:avLst/>
          </a:prstGeom>
          <a:solidFill>
            <a:schemeClr val="accent5"/>
          </a:solidFill>
          <a:ln/>
        </p:spPr>
      </p:sp>
      <p:pic>
        <p:nvPicPr>
          <p:cNvPr id="5" name="training 1 icon" descr="training 1">    </p:cNvPr>
          <p:cNvPicPr>
            <a:picLocks noChangeAspect="1"/>
          </p:cNvPicPr>
          <p:nvPr/>
        </p:nvPicPr>
        <p:blipFill>
          <a:blip r:embed="rId1"/>
          <a:stretch>
            <a:fillRect/>
          </a:stretch>
        </p:blipFill>
        <p:spPr>
          <a:xfrm>
            <a:off x="902970" y="1543050"/>
            <a:ext cx="342900" cy="342900"/>
          </a:xfrm>
          <a:prstGeom prst="rect">
            <a:avLst/>
          </a:prstGeom>
        </p:spPr>
      </p:pic>
      <p:sp>
        <p:nvSpPr>
          <p:cNvPr id="6" name="training head 1"/>
          <p:cNvSpPr txBox="1"/>
          <p:nvPr/>
        </p:nvSpPr>
        <p:spPr>
          <a:xfrm>
            <a:off x="731520" y="2194560"/>
            <a:ext cx="2103120" cy="365760"/>
          </a:xfrm>
          <a:prstGeom prst="rect">
            <a:avLst/>
          </a:prstGeom>
          <a:noFill/>
          <a:ln/>
        </p:spPr>
        <p:txBody>
          <a:bodyPr wrap="square" lIns="0" tIns="0" rIns="0" bIns="0" rtlCol="0" anchor="ctr"/>
          <a:lstStyle/>
          <a:p>
            <a:pPr indent="0" marL="0">
              <a:buNone/>
            </a:pPr>
            <a:r>
              <a:rPr lang="en-US" sz="1600" b="1" dirty="0">
                <a:solidFill>
                  <a:schemeClr val="bg1"/>
                </a:solidFill>
              </a:rPr>
              <a:t>AI 연습 상대</a:t>
            </a:r>
            <a:endParaRPr lang="en-US" sz="1600" dirty="0"/>
          </a:p>
        </p:txBody>
      </p:sp>
      <p:sp>
        <p:nvSpPr>
          <p:cNvPr id="7" name="training desc 1"/>
          <p:cNvSpPr txBox="1"/>
          <p:nvPr/>
        </p:nvSpPr>
        <p:spPr>
          <a:xfrm>
            <a:off x="731520" y="2606040"/>
            <a:ext cx="2103120" cy="731520"/>
          </a:xfrm>
          <a:prstGeom prst="rect">
            <a:avLst/>
          </a:prstGeom>
          <a:noFill/>
          <a:ln/>
        </p:spPr>
        <p:txBody>
          <a:bodyPr wrap="square" lIns="0" tIns="0" rIns="0" bIns="0" rtlCol="0" anchor="t"/>
          <a:lstStyle/>
          <a:p>
            <a:pPr indent="0" marL="0">
              <a:buNone/>
            </a:pPr>
            <a:r>
              <a:rPr lang="en-US" sz="1300" dirty="0">
                <a:solidFill>
                  <a:schemeClr val="bg2"/>
                </a:solidFill>
              </a:rPr>
              <a:t>AI 봇과 어려운 상황을 원하는 만큼 반복 연습</a:t>
            </a:r>
            <a:endParaRPr lang="en-US" sz="1300" dirty="0"/>
          </a:p>
        </p:txBody>
      </p:sp>
      <p:sp>
        <p:nvSpPr>
          <p:cNvPr id="8" name="training card 2"/>
          <p:cNvSpPr/>
          <p:nvPr/>
        </p:nvSpPr>
        <p:spPr>
          <a:xfrm>
            <a:off x="3291840" y="1143000"/>
            <a:ext cx="2560320" cy="2286000"/>
          </a:xfrm>
          <a:prstGeom prst="roundRect">
            <a:avLst>
              <a:gd name="adj" fmla="val 4800"/>
            </a:avLst>
          </a:prstGeom>
          <a:solidFill>
            <a:schemeClr val="tx2"/>
          </a:solidFill>
          <a:ln w="12700">
            <a:solidFill>
              <a:schemeClr val="accent6"/>
            </a:solidFill>
            <a:prstDash val="solid"/>
          </a:ln>
        </p:spPr>
      </p:sp>
      <p:sp>
        <p:nvSpPr>
          <p:cNvPr id="9" name="training 2 circle"/>
          <p:cNvSpPr/>
          <p:nvPr/>
        </p:nvSpPr>
        <p:spPr>
          <a:xfrm>
            <a:off x="3566160" y="1371600"/>
            <a:ext cx="685800" cy="685800"/>
          </a:xfrm>
          <a:prstGeom prst="ellipse">
            <a:avLst/>
          </a:prstGeom>
          <a:solidFill>
            <a:schemeClr val="accent4"/>
          </a:solidFill>
          <a:ln/>
        </p:spPr>
      </p:sp>
      <p:pic>
        <p:nvPicPr>
          <p:cNvPr id="10" name="training 2 icon" descr="training 2">    </p:cNvPr>
          <p:cNvPicPr>
            <a:picLocks noChangeAspect="1"/>
          </p:cNvPicPr>
          <p:nvPr/>
        </p:nvPicPr>
        <p:blipFill>
          <a:blip r:embed="rId2"/>
          <a:stretch>
            <a:fillRect/>
          </a:stretch>
        </p:blipFill>
        <p:spPr>
          <a:xfrm>
            <a:off x="3737610" y="1543050"/>
            <a:ext cx="342900" cy="342900"/>
          </a:xfrm>
          <a:prstGeom prst="rect">
            <a:avLst/>
          </a:prstGeom>
        </p:spPr>
      </p:pic>
      <p:sp>
        <p:nvSpPr>
          <p:cNvPr id="11" name="training head 2"/>
          <p:cNvSpPr txBox="1"/>
          <p:nvPr/>
        </p:nvSpPr>
        <p:spPr>
          <a:xfrm>
            <a:off x="3566160" y="2194560"/>
            <a:ext cx="2103120" cy="365760"/>
          </a:xfrm>
          <a:prstGeom prst="rect">
            <a:avLst/>
          </a:prstGeom>
          <a:noFill/>
          <a:ln/>
        </p:spPr>
        <p:txBody>
          <a:bodyPr wrap="square" lIns="0" tIns="0" rIns="0" bIns="0" rtlCol="0" anchor="ctr"/>
          <a:lstStyle/>
          <a:p>
            <a:pPr indent="0" marL="0">
              <a:buNone/>
            </a:pPr>
            <a:r>
              <a:rPr lang="en-US" sz="1600" b="1" dirty="0">
                <a:solidFill>
                  <a:schemeClr val="bg1"/>
                </a:solidFill>
              </a:rPr>
              <a:t>반응 속도 · APM 측정</a:t>
            </a:r>
            <a:endParaRPr lang="en-US" sz="1600" dirty="0"/>
          </a:p>
        </p:txBody>
      </p:sp>
      <p:sp>
        <p:nvSpPr>
          <p:cNvPr id="12" name="training desc 2"/>
          <p:cNvSpPr txBox="1"/>
          <p:nvPr/>
        </p:nvSpPr>
        <p:spPr>
          <a:xfrm>
            <a:off x="3566160" y="2606040"/>
            <a:ext cx="2103120" cy="731520"/>
          </a:xfrm>
          <a:prstGeom prst="rect">
            <a:avLst/>
          </a:prstGeom>
          <a:noFill/>
          <a:ln/>
        </p:spPr>
        <p:txBody>
          <a:bodyPr wrap="square" lIns="0" tIns="0" rIns="0" bIns="0" rtlCol="0" anchor="t"/>
          <a:lstStyle/>
          <a:p>
            <a:pPr indent="0" marL="0">
              <a:buNone/>
            </a:pPr>
            <a:r>
              <a:rPr lang="en-US" sz="1300" dirty="0">
                <a:solidFill>
                  <a:schemeClr val="bg2"/>
                </a:solidFill>
              </a:rPr>
              <a:t>1분당 행동 수(APM)와 반응 속도로 실력 변화 확인</a:t>
            </a:r>
            <a:endParaRPr lang="en-US" sz="1300" dirty="0"/>
          </a:p>
        </p:txBody>
      </p:sp>
      <p:sp>
        <p:nvSpPr>
          <p:cNvPr id="13" name="training card 3"/>
          <p:cNvSpPr/>
          <p:nvPr/>
        </p:nvSpPr>
        <p:spPr>
          <a:xfrm>
            <a:off x="6126480" y="1143000"/>
            <a:ext cx="2560320" cy="2286000"/>
          </a:xfrm>
          <a:prstGeom prst="roundRect">
            <a:avLst>
              <a:gd name="adj" fmla="val 4800"/>
            </a:avLst>
          </a:prstGeom>
          <a:solidFill>
            <a:schemeClr val="tx2"/>
          </a:solidFill>
          <a:ln w="12700">
            <a:solidFill>
              <a:schemeClr val="accent6"/>
            </a:solidFill>
            <a:prstDash val="solid"/>
          </a:ln>
        </p:spPr>
      </p:sp>
      <p:sp>
        <p:nvSpPr>
          <p:cNvPr id="14" name="training 3 circle"/>
          <p:cNvSpPr/>
          <p:nvPr/>
        </p:nvSpPr>
        <p:spPr>
          <a:xfrm>
            <a:off x="6400800" y="1371600"/>
            <a:ext cx="685800" cy="685800"/>
          </a:xfrm>
          <a:prstGeom prst="ellipse">
            <a:avLst/>
          </a:prstGeom>
          <a:solidFill>
            <a:schemeClr val="accent2"/>
          </a:solidFill>
          <a:ln/>
        </p:spPr>
      </p:sp>
      <p:pic>
        <p:nvPicPr>
          <p:cNvPr id="15" name="training 3 icon" descr="training 3">    </p:cNvPr>
          <p:cNvPicPr>
            <a:picLocks noChangeAspect="1"/>
          </p:cNvPicPr>
          <p:nvPr/>
        </p:nvPicPr>
        <p:blipFill>
          <a:blip r:embed="rId3"/>
          <a:stretch>
            <a:fillRect/>
          </a:stretch>
        </p:blipFill>
        <p:spPr>
          <a:xfrm>
            <a:off x="6572250" y="1543050"/>
            <a:ext cx="342900" cy="342900"/>
          </a:xfrm>
          <a:prstGeom prst="rect">
            <a:avLst/>
          </a:prstGeom>
        </p:spPr>
      </p:pic>
      <p:sp>
        <p:nvSpPr>
          <p:cNvPr id="16" name="training head 3"/>
          <p:cNvSpPr txBox="1"/>
          <p:nvPr/>
        </p:nvSpPr>
        <p:spPr>
          <a:xfrm>
            <a:off x="6400800" y="2194560"/>
            <a:ext cx="2103120" cy="365760"/>
          </a:xfrm>
          <a:prstGeom prst="rect">
            <a:avLst/>
          </a:prstGeom>
          <a:noFill/>
          <a:ln/>
        </p:spPr>
        <p:txBody>
          <a:bodyPr wrap="square" lIns="0" tIns="0" rIns="0" bIns="0" rtlCol="0" anchor="ctr"/>
          <a:lstStyle/>
          <a:p>
            <a:pPr indent="0" marL="0">
              <a:buNone/>
            </a:pPr>
            <a:r>
              <a:rPr lang="en-US" sz="1600" b="1" dirty="0">
                <a:solidFill>
                  <a:schemeClr val="bg1"/>
                </a:solidFill>
              </a:rPr>
              <a:t>자세 · 피로 관리</a:t>
            </a:r>
            <a:endParaRPr lang="en-US" sz="1600" dirty="0"/>
          </a:p>
        </p:txBody>
      </p:sp>
      <p:sp>
        <p:nvSpPr>
          <p:cNvPr id="17" name="training desc 3"/>
          <p:cNvSpPr txBox="1"/>
          <p:nvPr/>
        </p:nvSpPr>
        <p:spPr>
          <a:xfrm>
            <a:off x="6400800" y="2606040"/>
            <a:ext cx="2103120" cy="731520"/>
          </a:xfrm>
          <a:prstGeom prst="rect">
            <a:avLst/>
          </a:prstGeom>
          <a:noFill/>
          <a:ln/>
        </p:spPr>
        <p:txBody>
          <a:bodyPr wrap="square" lIns="0" tIns="0" rIns="0" bIns="0" rtlCol="0" anchor="t"/>
          <a:lstStyle/>
          <a:p>
            <a:pPr indent="0" marL="0">
              <a:buNone/>
            </a:pPr>
            <a:r>
              <a:rPr lang="en-US" sz="1300" dirty="0">
                <a:solidFill>
                  <a:schemeClr val="bg2"/>
                </a:solidFill>
              </a:rPr>
              <a:t>오래 앉아 있는 선수의 자세와 피로를 분석해 부상 예방</a:t>
            </a:r>
            <a:endParaRPr lang="en-US" sz="1300" dirty="0"/>
          </a:p>
        </p:txBody>
      </p:sp>
      <p:sp>
        <p:nvSpPr>
          <p:cNvPr id="18" name="pe link card"/>
          <p:cNvSpPr/>
          <p:nvPr/>
        </p:nvSpPr>
        <p:spPr>
          <a:xfrm>
            <a:off x="457200" y="3657600"/>
            <a:ext cx="8229600" cy="777240"/>
          </a:xfrm>
          <a:prstGeom prst="roundRect">
            <a:avLst>
              <a:gd name="adj" fmla="val 14118"/>
            </a:avLst>
          </a:prstGeom>
          <a:solidFill>
            <a:schemeClr val="tx2"/>
          </a:solidFill>
          <a:ln w="12700">
            <a:solidFill>
              <a:schemeClr val="accent6"/>
            </a:solidFill>
            <a:prstDash val="solid"/>
          </a:ln>
        </p:spPr>
      </p:sp>
      <p:sp>
        <p:nvSpPr>
          <p:cNvPr id="19" name="pe link circle"/>
          <p:cNvSpPr/>
          <p:nvPr/>
        </p:nvSpPr>
        <p:spPr>
          <a:xfrm>
            <a:off x="640080" y="3749040"/>
            <a:ext cx="594360" cy="594360"/>
          </a:xfrm>
          <a:prstGeom prst="ellipse">
            <a:avLst/>
          </a:prstGeom>
          <a:solidFill>
            <a:schemeClr val="accent5"/>
          </a:solidFill>
          <a:ln/>
        </p:spPr>
      </p:sp>
      <p:pic>
        <p:nvPicPr>
          <p:cNvPr id="20" name="pe link icon" descr="pe link">    </p:cNvPr>
          <p:cNvPicPr>
            <a:picLocks noChangeAspect="1"/>
          </p:cNvPicPr>
          <p:nvPr/>
        </p:nvPicPr>
        <p:blipFill>
          <a:blip r:embed="rId4"/>
          <a:stretch>
            <a:fillRect/>
          </a:stretch>
        </p:blipFill>
        <p:spPr>
          <a:xfrm>
            <a:off x="788670" y="3897630"/>
            <a:ext cx="297180" cy="297180"/>
          </a:xfrm>
          <a:prstGeom prst="rect">
            <a:avLst/>
          </a:prstGeom>
        </p:spPr>
      </p:pic>
      <p:sp>
        <p:nvSpPr>
          <p:cNvPr id="21" name="pe link text"/>
          <p:cNvSpPr txBox="1"/>
          <p:nvPr/>
        </p:nvSpPr>
        <p:spPr>
          <a:xfrm>
            <a:off x="1417320" y="3657600"/>
            <a:ext cx="7132320" cy="777240"/>
          </a:xfrm>
          <a:prstGeom prst="rect">
            <a:avLst/>
          </a:prstGeom>
          <a:noFill/>
          <a:ln/>
        </p:spPr>
        <p:txBody>
          <a:bodyPr wrap="square" lIns="0" tIns="0" rIns="0" bIns="0" rtlCol="0" anchor="ctr"/>
          <a:lstStyle/>
          <a:p>
            <a:pPr indent="0" marL="0">
              <a:buNone/>
            </a:pPr>
            <a:r>
              <a:rPr lang="en-US" sz="1400" b="1" dirty="0">
                <a:solidFill>
                  <a:schemeClr val="accent5"/>
                </a:solidFill>
              </a:rPr>
              <a:t>체육과 연결  </a:t>
            </a:r>
            <a:pPr indent="0" marL="0">
              <a:buNone/>
            </a:pPr>
            <a:r>
              <a:rPr lang="en-US" sz="1400" dirty="0">
                <a:solidFill>
                  <a:schemeClr val="bg1"/>
                </a:solidFill>
              </a:rPr>
              <a:t>체육 시간에 배우는 '스포츠 과학'과 같다 — e스포츠도 몸과 마음을 관리하는 스포츠</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활용 ③ 공정한 경기 지키기</a:t>
            </a:r>
            <a:endParaRPr lang="en-US" sz="3000" dirty="0"/>
          </a:p>
        </p:txBody>
      </p:sp>
      <p:sp>
        <p:nvSpPr>
          <p:cNvPr id="3" name="fairness hero card"/>
          <p:cNvSpPr/>
          <p:nvPr/>
        </p:nvSpPr>
        <p:spPr>
          <a:xfrm>
            <a:off x="457200" y="1143000"/>
            <a:ext cx="3017520" cy="3291840"/>
          </a:xfrm>
          <a:prstGeom prst="roundRect">
            <a:avLst>
              <a:gd name="adj" fmla="val 3636"/>
            </a:avLst>
          </a:prstGeom>
          <a:solidFill>
            <a:schemeClr val="tx2"/>
          </a:solidFill>
          <a:ln w="12700">
            <a:solidFill>
              <a:schemeClr val="accent6"/>
            </a:solidFill>
            <a:prstDash val="solid"/>
          </a:ln>
        </p:spPr>
      </p:sp>
      <p:sp>
        <p:nvSpPr>
          <p:cNvPr id="4" name="fairness hero circle"/>
          <p:cNvSpPr/>
          <p:nvPr/>
        </p:nvSpPr>
        <p:spPr>
          <a:xfrm>
            <a:off x="1234440" y="1417320"/>
            <a:ext cx="1463040" cy="1463040"/>
          </a:xfrm>
          <a:prstGeom prst="ellipse">
            <a:avLst/>
          </a:prstGeom>
          <a:solidFill>
            <a:schemeClr val="accent3"/>
          </a:solidFill>
          <a:ln/>
        </p:spPr>
      </p:sp>
      <p:pic>
        <p:nvPicPr>
          <p:cNvPr id="5" name="fairness hero icon" descr="fairness hero">    </p:cNvPr>
          <p:cNvPicPr>
            <a:picLocks noChangeAspect="1"/>
          </p:cNvPicPr>
          <p:nvPr/>
        </p:nvPicPr>
        <p:blipFill>
          <a:blip r:embed="rId1"/>
          <a:stretch>
            <a:fillRect/>
          </a:stretch>
        </p:blipFill>
        <p:spPr>
          <a:xfrm>
            <a:off x="1600200" y="1783080"/>
            <a:ext cx="731520" cy="731520"/>
          </a:xfrm>
          <a:prstGeom prst="rect">
            <a:avLst/>
          </a:prstGeom>
        </p:spPr>
      </p:pic>
      <p:sp>
        <p:nvSpPr>
          <p:cNvPr id="6" name="fairness hero title"/>
          <p:cNvSpPr txBox="1"/>
          <p:nvPr/>
        </p:nvSpPr>
        <p:spPr>
          <a:xfrm>
            <a:off x="640080" y="3063240"/>
            <a:ext cx="2651760" cy="411480"/>
          </a:xfrm>
          <a:prstGeom prst="rect">
            <a:avLst/>
          </a:prstGeom>
          <a:noFill/>
          <a:ln/>
        </p:spPr>
        <p:txBody>
          <a:bodyPr wrap="square" lIns="0" tIns="0" rIns="0" bIns="0" rtlCol="0" anchor="ctr"/>
          <a:lstStyle/>
          <a:p>
            <a:pPr algn="ctr" indent="0" marL="0">
              <a:buNone/>
            </a:pPr>
            <a:r>
              <a:rPr lang="en-US" sz="2000" b="1" dirty="0">
                <a:solidFill>
                  <a:schemeClr val="bg1"/>
                </a:solidFill>
              </a:rPr>
              <a:t>AI = 디지털 심판</a:t>
            </a:r>
            <a:endParaRPr lang="en-US" sz="2000" dirty="0"/>
          </a:p>
        </p:txBody>
      </p:sp>
      <p:sp>
        <p:nvSpPr>
          <p:cNvPr id="7" name="fairness hero desc"/>
          <p:cNvSpPr txBox="1"/>
          <p:nvPr/>
        </p:nvSpPr>
        <p:spPr>
          <a:xfrm>
            <a:off x="640080" y="3520440"/>
            <a:ext cx="2651760" cy="731520"/>
          </a:xfrm>
          <a:prstGeom prst="rect">
            <a:avLst/>
          </a:prstGeom>
          <a:noFill/>
          <a:ln/>
        </p:spPr>
        <p:txBody>
          <a:bodyPr wrap="square" lIns="0" tIns="0" rIns="0" bIns="0" rtlCol="0" anchor="ctr"/>
          <a:lstStyle/>
          <a:p>
            <a:pPr algn="ctr" indent="0" marL="0">
              <a:buNone/>
            </a:pPr>
            <a:r>
              <a:rPr lang="en-US" sz="1400" dirty="0">
                <a:solidFill>
                  <a:schemeClr val="bg2"/>
                </a:solidFill>
              </a:rPr>
              <a:t>스포츠의 핵심 가치인</a:t>
            </a:r>
            <a:endParaRPr lang="en-US" sz="1400" dirty="0"/>
          </a:p>
          <a:p>
            <a:pPr algn="ctr" indent="0" marL="0">
              <a:buNone/>
            </a:pPr>
            <a:r>
              <a:rPr lang="en-US" sz="1400" dirty="0">
                <a:solidFill>
                  <a:schemeClr val="bg2"/>
                </a:solidFill>
              </a:rPr>
              <a:t>공정성을 AI가 지킨다</a:t>
            </a:r>
            <a:endParaRPr lang="en-US" sz="1400" dirty="0"/>
          </a:p>
        </p:txBody>
      </p:sp>
      <p:sp>
        <p:nvSpPr>
          <p:cNvPr id="8" name="fairness row 1"/>
          <p:cNvSpPr/>
          <p:nvPr/>
        </p:nvSpPr>
        <p:spPr>
          <a:xfrm>
            <a:off x="3749040" y="1143000"/>
            <a:ext cx="4937760" cy="1005840"/>
          </a:xfrm>
          <a:prstGeom prst="roundRect">
            <a:avLst>
              <a:gd name="adj" fmla="val 10909"/>
            </a:avLst>
          </a:prstGeom>
          <a:solidFill>
            <a:schemeClr val="tx2"/>
          </a:solidFill>
          <a:ln w="12700">
            <a:solidFill>
              <a:schemeClr val="accent6"/>
            </a:solidFill>
            <a:prstDash val="solid"/>
          </a:ln>
        </p:spPr>
      </p:sp>
      <p:sp>
        <p:nvSpPr>
          <p:cNvPr id="9" name="fairness 1 circle"/>
          <p:cNvSpPr/>
          <p:nvPr/>
        </p:nvSpPr>
        <p:spPr>
          <a:xfrm>
            <a:off x="3931920" y="1371600"/>
            <a:ext cx="548640" cy="548640"/>
          </a:xfrm>
          <a:prstGeom prst="ellipse">
            <a:avLst/>
          </a:prstGeom>
          <a:solidFill>
            <a:schemeClr val="accent3"/>
          </a:solidFill>
          <a:ln/>
        </p:spPr>
      </p:sp>
      <p:pic>
        <p:nvPicPr>
          <p:cNvPr id="10" name="fairness 1 icon" descr="fairness 1">    </p:cNvPr>
          <p:cNvPicPr>
            <a:picLocks noChangeAspect="1"/>
          </p:cNvPicPr>
          <p:nvPr/>
        </p:nvPicPr>
        <p:blipFill>
          <a:blip r:embed="rId2"/>
          <a:stretch>
            <a:fillRect/>
          </a:stretch>
        </p:blipFill>
        <p:spPr>
          <a:xfrm>
            <a:off x="4069080" y="1508760"/>
            <a:ext cx="274320" cy="274320"/>
          </a:xfrm>
          <a:prstGeom prst="rect">
            <a:avLst/>
          </a:prstGeom>
        </p:spPr>
      </p:pic>
      <p:sp>
        <p:nvSpPr>
          <p:cNvPr id="11" name="fairness head 1"/>
          <p:cNvSpPr txBox="1"/>
          <p:nvPr/>
        </p:nvSpPr>
        <p:spPr>
          <a:xfrm>
            <a:off x="4663440" y="1252728"/>
            <a:ext cx="3886200" cy="320040"/>
          </a:xfrm>
          <a:prstGeom prst="rect">
            <a:avLst/>
          </a:prstGeom>
          <a:noFill/>
          <a:ln/>
        </p:spPr>
        <p:txBody>
          <a:bodyPr wrap="square" lIns="0" tIns="0" rIns="0" bIns="0" rtlCol="0" anchor="ctr"/>
          <a:lstStyle/>
          <a:p>
            <a:pPr indent="0" marL="0">
              <a:buNone/>
            </a:pPr>
            <a:r>
              <a:rPr lang="en-US" sz="1500" b="1" dirty="0">
                <a:solidFill>
                  <a:schemeClr val="bg1"/>
                </a:solidFill>
              </a:rPr>
              <a:t>불법 프로그램(핵) 탐지</a:t>
            </a:r>
            <a:endParaRPr lang="en-US" sz="1500" dirty="0"/>
          </a:p>
        </p:txBody>
      </p:sp>
      <p:sp>
        <p:nvSpPr>
          <p:cNvPr id="12" name="fairness desc 1"/>
          <p:cNvSpPr txBox="1"/>
          <p:nvPr/>
        </p:nvSpPr>
        <p:spPr>
          <a:xfrm>
            <a:off x="4663440" y="1572768"/>
            <a:ext cx="3886200" cy="502920"/>
          </a:xfrm>
          <a:prstGeom prst="rect">
            <a:avLst/>
          </a:prstGeom>
          <a:noFill/>
          <a:ln/>
        </p:spPr>
        <p:txBody>
          <a:bodyPr wrap="square" lIns="0" tIns="0" rIns="0" bIns="0" rtlCol="0" anchor="t"/>
          <a:lstStyle/>
          <a:p>
            <a:pPr indent="0" marL="0">
              <a:buNone/>
            </a:pPr>
            <a:r>
              <a:rPr lang="en-US" sz="1200" dirty="0">
                <a:solidFill>
                  <a:schemeClr val="bg2"/>
                </a:solidFill>
              </a:rPr>
              <a:t>밸브의 딥러닝 시스템 VACnet이 카운터 스트라이크에서 핵 의심 플레이를 찾아냄</a:t>
            </a:r>
            <a:endParaRPr lang="en-US" sz="1200" dirty="0"/>
          </a:p>
        </p:txBody>
      </p:sp>
      <p:sp>
        <p:nvSpPr>
          <p:cNvPr id="13" name="fairness row 2"/>
          <p:cNvSpPr/>
          <p:nvPr/>
        </p:nvSpPr>
        <p:spPr>
          <a:xfrm>
            <a:off x="3749040" y="2286000"/>
            <a:ext cx="4937760" cy="1005840"/>
          </a:xfrm>
          <a:prstGeom prst="roundRect">
            <a:avLst>
              <a:gd name="adj" fmla="val 10909"/>
            </a:avLst>
          </a:prstGeom>
          <a:solidFill>
            <a:schemeClr val="tx2"/>
          </a:solidFill>
          <a:ln w="12700">
            <a:solidFill>
              <a:schemeClr val="accent6"/>
            </a:solidFill>
            <a:prstDash val="solid"/>
          </a:ln>
        </p:spPr>
      </p:sp>
      <p:sp>
        <p:nvSpPr>
          <p:cNvPr id="14" name="fairness 2 circle"/>
          <p:cNvSpPr/>
          <p:nvPr/>
        </p:nvSpPr>
        <p:spPr>
          <a:xfrm>
            <a:off x="3931920" y="2514600"/>
            <a:ext cx="548640" cy="548640"/>
          </a:xfrm>
          <a:prstGeom prst="ellipse">
            <a:avLst/>
          </a:prstGeom>
          <a:solidFill>
            <a:schemeClr val="accent3"/>
          </a:solidFill>
          <a:ln/>
        </p:spPr>
      </p:sp>
      <p:pic>
        <p:nvPicPr>
          <p:cNvPr id="15" name="fairness 2 icon" descr="fairness 2">    </p:cNvPr>
          <p:cNvPicPr>
            <a:picLocks noChangeAspect="1"/>
          </p:cNvPicPr>
          <p:nvPr/>
        </p:nvPicPr>
        <p:blipFill>
          <a:blip r:embed="rId3"/>
          <a:stretch>
            <a:fillRect/>
          </a:stretch>
        </p:blipFill>
        <p:spPr>
          <a:xfrm>
            <a:off x="4069080" y="2651760"/>
            <a:ext cx="274320" cy="274320"/>
          </a:xfrm>
          <a:prstGeom prst="rect">
            <a:avLst/>
          </a:prstGeom>
        </p:spPr>
      </p:pic>
      <p:sp>
        <p:nvSpPr>
          <p:cNvPr id="16" name="fairness head 2"/>
          <p:cNvSpPr txBox="1"/>
          <p:nvPr/>
        </p:nvSpPr>
        <p:spPr>
          <a:xfrm>
            <a:off x="4663440" y="2395728"/>
            <a:ext cx="3886200" cy="320040"/>
          </a:xfrm>
          <a:prstGeom prst="rect">
            <a:avLst/>
          </a:prstGeom>
          <a:noFill/>
          <a:ln/>
        </p:spPr>
        <p:txBody>
          <a:bodyPr wrap="square" lIns="0" tIns="0" rIns="0" bIns="0" rtlCol="0" anchor="ctr"/>
          <a:lstStyle/>
          <a:p>
            <a:pPr indent="0" marL="0">
              <a:buNone/>
            </a:pPr>
            <a:r>
              <a:rPr lang="en-US" sz="1500" b="1" dirty="0">
                <a:solidFill>
                  <a:schemeClr val="bg1"/>
                </a:solidFill>
              </a:rPr>
              <a:t>비매너 채팅 걸러 내기</a:t>
            </a:r>
            <a:endParaRPr lang="en-US" sz="1500" dirty="0"/>
          </a:p>
        </p:txBody>
      </p:sp>
      <p:sp>
        <p:nvSpPr>
          <p:cNvPr id="17" name="fairness desc 2"/>
          <p:cNvSpPr txBox="1"/>
          <p:nvPr/>
        </p:nvSpPr>
        <p:spPr>
          <a:xfrm>
            <a:off x="4663440" y="2715768"/>
            <a:ext cx="3886200" cy="502920"/>
          </a:xfrm>
          <a:prstGeom prst="rect">
            <a:avLst/>
          </a:prstGeom>
          <a:noFill/>
          <a:ln/>
        </p:spPr>
        <p:txBody>
          <a:bodyPr wrap="square" lIns="0" tIns="0" rIns="0" bIns="0" rtlCol="0" anchor="t"/>
          <a:lstStyle/>
          <a:p>
            <a:pPr indent="0" marL="0">
              <a:buNone/>
            </a:pPr>
            <a:r>
              <a:rPr lang="en-US" sz="1200" dirty="0">
                <a:solidFill>
                  <a:schemeClr val="bg2"/>
                </a:solidFill>
              </a:rPr>
              <a:t>욕설 · 괴롭힘 채팅을 AI가 자동으로 찾아 제재</a:t>
            </a:r>
            <a:endParaRPr lang="en-US" sz="1200" dirty="0"/>
          </a:p>
        </p:txBody>
      </p:sp>
      <p:sp>
        <p:nvSpPr>
          <p:cNvPr id="18" name="fairness row 3"/>
          <p:cNvSpPr/>
          <p:nvPr/>
        </p:nvSpPr>
        <p:spPr>
          <a:xfrm>
            <a:off x="3749040" y="3429000"/>
            <a:ext cx="4937760" cy="1005840"/>
          </a:xfrm>
          <a:prstGeom prst="roundRect">
            <a:avLst>
              <a:gd name="adj" fmla="val 10909"/>
            </a:avLst>
          </a:prstGeom>
          <a:solidFill>
            <a:schemeClr val="tx2"/>
          </a:solidFill>
          <a:ln w="12700">
            <a:solidFill>
              <a:schemeClr val="accent6"/>
            </a:solidFill>
            <a:prstDash val="solid"/>
          </a:ln>
        </p:spPr>
      </p:sp>
      <p:sp>
        <p:nvSpPr>
          <p:cNvPr id="19" name="fairness 3 circle"/>
          <p:cNvSpPr/>
          <p:nvPr/>
        </p:nvSpPr>
        <p:spPr>
          <a:xfrm>
            <a:off x="3931920" y="3657600"/>
            <a:ext cx="548640" cy="548640"/>
          </a:xfrm>
          <a:prstGeom prst="ellipse">
            <a:avLst/>
          </a:prstGeom>
          <a:solidFill>
            <a:schemeClr val="accent3"/>
          </a:solidFill>
          <a:ln/>
        </p:spPr>
      </p:sp>
      <p:pic>
        <p:nvPicPr>
          <p:cNvPr id="20" name="fairness 3 icon" descr="fairness 3">    </p:cNvPr>
          <p:cNvPicPr>
            <a:picLocks noChangeAspect="1"/>
          </p:cNvPicPr>
          <p:nvPr/>
        </p:nvPicPr>
        <p:blipFill>
          <a:blip r:embed="rId4"/>
          <a:stretch>
            <a:fillRect/>
          </a:stretch>
        </p:blipFill>
        <p:spPr>
          <a:xfrm>
            <a:off x="4069080" y="3794760"/>
            <a:ext cx="274320" cy="274320"/>
          </a:xfrm>
          <a:prstGeom prst="rect">
            <a:avLst/>
          </a:prstGeom>
        </p:spPr>
      </p:pic>
      <p:sp>
        <p:nvSpPr>
          <p:cNvPr id="21" name="fairness head 3"/>
          <p:cNvSpPr txBox="1"/>
          <p:nvPr/>
        </p:nvSpPr>
        <p:spPr>
          <a:xfrm>
            <a:off x="4663440" y="3538728"/>
            <a:ext cx="3886200" cy="320040"/>
          </a:xfrm>
          <a:prstGeom prst="rect">
            <a:avLst/>
          </a:prstGeom>
          <a:noFill/>
          <a:ln/>
        </p:spPr>
        <p:txBody>
          <a:bodyPr wrap="square" lIns="0" tIns="0" rIns="0" bIns="0" rtlCol="0" anchor="ctr"/>
          <a:lstStyle/>
          <a:p>
            <a:pPr indent="0" marL="0">
              <a:buNone/>
            </a:pPr>
            <a:r>
              <a:rPr lang="en-US" sz="1500" b="1" dirty="0">
                <a:solidFill>
                  <a:schemeClr val="bg1"/>
                </a:solidFill>
              </a:rPr>
              <a:t>승부 조작 감시</a:t>
            </a:r>
            <a:endParaRPr lang="en-US" sz="1500" dirty="0"/>
          </a:p>
        </p:txBody>
      </p:sp>
      <p:sp>
        <p:nvSpPr>
          <p:cNvPr id="22" name="fairness desc 3"/>
          <p:cNvSpPr txBox="1"/>
          <p:nvPr/>
        </p:nvSpPr>
        <p:spPr>
          <a:xfrm>
            <a:off x="4663440" y="3858768"/>
            <a:ext cx="3886200" cy="502920"/>
          </a:xfrm>
          <a:prstGeom prst="rect">
            <a:avLst/>
          </a:prstGeom>
          <a:noFill/>
          <a:ln/>
        </p:spPr>
        <p:txBody>
          <a:bodyPr wrap="square" lIns="0" tIns="0" rIns="0" bIns="0" rtlCol="0" anchor="t"/>
          <a:lstStyle/>
          <a:p>
            <a:pPr indent="0" marL="0">
              <a:buNone/>
            </a:pPr>
            <a:r>
              <a:rPr lang="en-US" sz="1200" dirty="0">
                <a:solidFill>
                  <a:schemeClr val="bg2"/>
                </a:solidFill>
              </a:rPr>
              <a:t>평소와 다른 이상한 경기 패턴을 찾아 경고</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활용 ④ 관전 · 미디어</a:t>
            </a:r>
            <a:endParaRPr lang="en-US" sz="3000" dirty="0"/>
          </a:p>
        </p:txBody>
      </p:sp>
      <p:sp>
        <p:nvSpPr>
          <p:cNvPr id="3" name="chart card"/>
          <p:cNvSpPr/>
          <p:nvPr/>
        </p:nvSpPr>
        <p:spPr>
          <a:xfrm>
            <a:off x="457200" y="1143000"/>
            <a:ext cx="4846320" cy="3291840"/>
          </a:xfrm>
          <a:prstGeom prst="roundRect">
            <a:avLst>
              <a:gd name="adj" fmla="val 3333"/>
            </a:avLst>
          </a:prstGeom>
          <a:solidFill>
            <a:schemeClr val="tx2"/>
          </a:solidFill>
          <a:ln w="12700">
            <a:solidFill>
              <a:schemeClr val="accent6"/>
            </a:solidFill>
            <a:prstDash val="solid"/>
          </a:ln>
        </p:spPr>
      </p:sp>
      <p:graphicFrame>
        <p:nvGraphicFramePr>
          <p:cNvPr id="4" name="win probability chart" descr=""/>
          <p:cNvGraphicFramePr/>
          <p:nvPr/>
        </p:nvGraphicFramePr>
        <p:xfrm>
          <a:off x="594360" y="1234440"/>
          <a:ext cx="4572000" cy="2788920"/>
        </p:xfrm>
        <a:graphic xmlns:a="http://schemas.openxmlformats.org/drawingml/2006/main">
          <a:graphicData uri="http://schemas.openxmlformats.org/drawingml/2006/chart">
            <c:chart xmlns:c="http://schemas.openxmlformats.org/drawingml/2006/chart" r:id="rId1"/>
          </a:graphicData>
        </a:graphic>
      </p:graphicFrame>
      <p:sp>
        <p:nvSpPr>
          <p:cNvPr id="5" name="chart caption"/>
          <p:cNvSpPr txBox="1"/>
          <p:nvPr/>
        </p:nvSpPr>
        <p:spPr>
          <a:xfrm>
            <a:off x="685800" y="4069080"/>
            <a:ext cx="4389120" cy="274320"/>
          </a:xfrm>
          <a:prstGeom prst="rect">
            <a:avLst/>
          </a:prstGeom>
          <a:noFill/>
          <a:ln/>
        </p:spPr>
        <p:txBody>
          <a:bodyPr wrap="square" lIns="0" tIns="0" rIns="0" bIns="0" rtlCol="0" anchor="ctr"/>
          <a:lstStyle/>
          <a:p>
            <a:pPr indent="0" marL="0">
              <a:buNone/>
            </a:pPr>
            <a:r>
              <a:rPr lang="en-US" sz="1000" dirty="0">
                <a:solidFill>
                  <a:schemeClr val="bg2"/>
                </a:solidFill>
              </a:rPr>
              <a:t>※ 이해를 돕기 위해 만든 예시 데이터</a:t>
            </a:r>
            <a:endParaRPr lang="en-US" sz="1000" dirty="0"/>
          </a:p>
        </p:txBody>
      </p:sp>
      <p:sp>
        <p:nvSpPr>
          <p:cNvPr id="6" name="media 1 circle"/>
          <p:cNvSpPr/>
          <p:nvPr/>
        </p:nvSpPr>
        <p:spPr>
          <a:xfrm>
            <a:off x="5577840" y="1280160"/>
            <a:ext cx="548640" cy="548640"/>
          </a:xfrm>
          <a:prstGeom prst="ellipse">
            <a:avLst/>
          </a:prstGeom>
          <a:solidFill>
            <a:schemeClr val="accent2"/>
          </a:solidFill>
          <a:ln/>
        </p:spPr>
      </p:sp>
      <p:pic>
        <p:nvPicPr>
          <p:cNvPr id="7" name="media 1 icon" descr="media 1">    </p:cNvPr>
          <p:cNvPicPr>
            <a:picLocks noChangeAspect="1"/>
          </p:cNvPicPr>
          <p:nvPr/>
        </p:nvPicPr>
        <p:blipFill>
          <a:blip r:embed="rId2"/>
          <a:stretch>
            <a:fillRect/>
          </a:stretch>
        </p:blipFill>
        <p:spPr>
          <a:xfrm>
            <a:off x="5715000" y="1417320"/>
            <a:ext cx="274320" cy="274320"/>
          </a:xfrm>
          <a:prstGeom prst="rect">
            <a:avLst/>
          </a:prstGeom>
        </p:spPr>
      </p:pic>
      <p:sp>
        <p:nvSpPr>
          <p:cNvPr id="8" name="media head 1"/>
          <p:cNvSpPr txBox="1"/>
          <p:nvPr/>
        </p:nvSpPr>
        <p:spPr>
          <a:xfrm>
            <a:off x="6263640" y="1216152"/>
            <a:ext cx="2423160" cy="320040"/>
          </a:xfrm>
          <a:prstGeom prst="rect">
            <a:avLst/>
          </a:prstGeom>
          <a:noFill/>
          <a:ln/>
        </p:spPr>
        <p:txBody>
          <a:bodyPr wrap="square" lIns="0" tIns="0" rIns="0" bIns="0" rtlCol="0" anchor="ctr"/>
          <a:lstStyle/>
          <a:p>
            <a:pPr indent="0" marL="0">
              <a:buNone/>
            </a:pPr>
            <a:r>
              <a:rPr lang="en-US" sz="1500" b="1" dirty="0">
                <a:solidFill>
                  <a:schemeClr val="bg1"/>
                </a:solidFill>
              </a:rPr>
              <a:t>실시간 승률 예측</a:t>
            </a:r>
            <a:endParaRPr lang="en-US" sz="1500" dirty="0"/>
          </a:p>
        </p:txBody>
      </p:sp>
      <p:sp>
        <p:nvSpPr>
          <p:cNvPr id="9" name="media desc 1"/>
          <p:cNvSpPr txBox="1"/>
          <p:nvPr/>
        </p:nvSpPr>
        <p:spPr>
          <a:xfrm>
            <a:off x="6263640" y="1554480"/>
            <a:ext cx="2423160" cy="502920"/>
          </a:xfrm>
          <a:prstGeom prst="rect">
            <a:avLst/>
          </a:prstGeom>
          <a:noFill/>
          <a:ln/>
        </p:spPr>
        <p:txBody>
          <a:bodyPr wrap="square" lIns="0" tIns="0" rIns="0" bIns="0" rtlCol="0" anchor="t"/>
          <a:lstStyle/>
          <a:p>
            <a:pPr indent="0" marL="0">
              <a:buNone/>
            </a:pPr>
            <a:r>
              <a:rPr lang="en-US" sz="1200" dirty="0">
                <a:solidFill>
                  <a:schemeClr val="bg2"/>
                </a:solidFill>
              </a:rPr>
              <a:t>처음 보는 사람도 경기 흐름을 바로 이해</a:t>
            </a:r>
            <a:endParaRPr lang="en-US" sz="1200" dirty="0"/>
          </a:p>
        </p:txBody>
      </p:sp>
      <p:sp>
        <p:nvSpPr>
          <p:cNvPr id="10" name="media 2 circle"/>
          <p:cNvSpPr/>
          <p:nvPr/>
        </p:nvSpPr>
        <p:spPr>
          <a:xfrm>
            <a:off x="5577840" y="2423160"/>
            <a:ext cx="548640" cy="548640"/>
          </a:xfrm>
          <a:prstGeom prst="ellipse">
            <a:avLst/>
          </a:prstGeom>
          <a:solidFill>
            <a:schemeClr val="accent2"/>
          </a:solidFill>
          <a:ln/>
        </p:spPr>
      </p:sp>
      <p:pic>
        <p:nvPicPr>
          <p:cNvPr id="11" name="media 2 icon" descr="media 2">    </p:cNvPr>
          <p:cNvPicPr>
            <a:picLocks noChangeAspect="1"/>
          </p:cNvPicPr>
          <p:nvPr/>
        </p:nvPicPr>
        <p:blipFill>
          <a:blip r:embed="rId3"/>
          <a:stretch>
            <a:fillRect/>
          </a:stretch>
        </p:blipFill>
        <p:spPr>
          <a:xfrm>
            <a:off x="5715000" y="2560320"/>
            <a:ext cx="274320" cy="274320"/>
          </a:xfrm>
          <a:prstGeom prst="rect">
            <a:avLst/>
          </a:prstGeom>
        </p:spPr>
      </p:pic>
      <p:sp>
        <p:nvSpPr>
          <p:cNvPr id="12" name="media head 2"/>
          <p:cNvSpPr txBox="1"/>
          <p:nvPr/>
        </p:nvSpPr>
        <p:spPr>
          <a:xfrm>
            <a:off x="6263640" y="2359152"/>
            <a:ext cx="2423160" cy="320040"/>
          </a:xfrm>
          <a:prstGeom prst="rect">
            <a:avLst/>
          </a:prstGeom>
          <a:noFill/>
          <a:ln/>
        </p:spPr>
        <p:txBody>
          <a:bodyPr wrap="square" lIns="0" tIns="0" rIns="0" bIns="0" rtlCol="0" anchor="ctr"/>
          <a:lstStyle/>
          <a:p>
            <a:pPr indent="0" marL="0">
              <a:buNone/>
            </a:pPr>
            <a:r>
              <a:rPr lang="en-US" sz="1500" b="1" dirty="0">
                <a:solidFill>
                  <a:schemeClr val="bg1"/>
                </a:solidFill>
              </a:rPr>
              <a:t>AI 하이라이트 편집</a:t>
            </a:r>
            <a:endParaRPr lang="en-US" sz="1500" dirty="0"/>
          </a:p>
        </p:txBody>
      </p:sp>
      <p:sp>
        <p:nvSpPr>
          <p:cNvPr id="13" name="media desc 2"/>
          <p:cNvSpPr txBox="1"/>
          <p:nvPr/>
        </p:nvSpPr>
        <p:spPr>
          <a:xfrm>
            <a:off x="6263640" y="2697480"/>
            <a:ext cx="2423160" cy="502920"/>
          </a:xfrm>
          <a:prstGeom prst="rect">
            <a:avLst/>
          </a:prstGeom>
          <a:noFill/>
          <a:ln/>
        </p:spPr>
        <p:txBody>
          <a:bodyPr wrap="square" lIns="0" tIns="0" rIns="0" bIns="0" rtlCol="0" anchor="t"/>
          <a:lstStyle/>
          <a:p>
            <a:pPr indent="0" marL="0">
              <a:buNone/>
            </a:pPr>
            <a:r>
              <a:rPr lang="en-US" sz="1200" dirty="0">
                <a:solidFill>
                  <a:schemeClr val="bg2"/>
                </a:solidFill>
              </a:rPr>
              <a:t>명장면을 골라 짧은 영상을 자동 제작</a:t>
            </a:r>
            <a:endParaRPr lang="en-US" sz="1200" dirty="0"/>
          </a:p>
        </p:txBody>
      </p:sp>
      <p:sp>
        <p:nvSpPr>
          <p:cNvPr id="14" name="media 3 circle"/>
          <p:cNvSpPr/>
          <p:nvPr/>
        </p:nvSpPr>
        <p:spPr>
          <a:xfrm>
            <a:off x="5577840" y="3566160"/>
            <a:ext cx="548640" cy="548640"/>
          </a:xfrm>
          <a:prstGeom prst="ellipse">
            <a:avLst/>
          </a:prstGeom>
          <a:solidFill>
            <a:schemeClr val="accent2"/>
          </a:solidFill>
          <a:ln/>
        </p:spPr>
      </p:sp>
      <p:pic>
        <p:nvPicPr>
          <p:cNvPr id="15" name="media 3 icon" descr="media 3">    </p:cNvPr>
          <p:cNvPicPr>
            <a:picLocks noChangeAspect="1"/>
          </p:cNvPicPr>
          <p:nvPr/>
        </p:nvPicPr>
        <p:blipFill>
          <a:blip r:embed="rId4"/>
          <a:stretch>
            <a:fillRect/>
          </a:stretch>
        </p:blipFill>
        <p:spPr>
          <a:xfrm>
            <a:off x="5715000" y="3703320"/>
            <a:ext cx="274320" cy="274320"/>
          </a:xfrm>
          <a:prstGeom prst="rect">
            <a:avLst/>
          </a:prstGeom>
        </p:spPr>
      </p:pic>
      <p:sp>
        <p:nvSpPr>
          <p:cNvPr id="16" name="media head 3"/>
          <p:cNvSpPr txBox="1"/>
          <p:nvPr/>
        </p:nvSpPr>
        <p:spPr>
          <a:xfrm>
            <a:off x="6263640" y="3502152"/>
            <a:ext cx="2423160" cy="320040"/>
          </a:xfrm>
          <a:prstGeom prst="rect">
            <a:avLst/>
          </a:prstGeom>
          <a:noFill/>
          <a:ln/>
        </p:spPr>
        <p:txBody>
          <a:bodyPr wrap="square" lIns="0" tIns="0" rIns="0" bIns="0" rtlCol="0" anchor="ctr"/>
          <a:lstStyle/>
          <a:p>
            <a:pPr indent="0" marL="0">
              <a:buNone/>
            </a:pPr>
            <a:r>
              <a:rPr lang="en-US" sz="1500" b="1" dirty="0">
                <a:solidFill>
                  <a:schemeClr val="bg1"/>
                </a:solidFill>
              </a:rPr>
              <a:t>실시간 번역 자막</a:t>
            </a:r>
            <a:endParaRPr lang="en-US" sz="1500" dirty="0"/>
          </a:p>
        </p:txBody>
      </p:sp>
      <p:sp>
        <p:nvSpPr>
          <p:cNvPr id="17" name="media desc 3"/>
          <p:cNvSpPr txBox="1"/>
          <p:nvPr/>
        </p:nvSpPr>
        <p:spPr>
          <a:xfrm>
            <a:off x="6263640" y="3840480"/>
            <a:ext cx="2423160" cy="502920"/>
          </a:xfrm>
          <a:prstGeom prst="rect">
            <a:avLst/>
          </a:prstGeom>
          <a:noFill/>
          <a:ln/>
        </p:spPr>
        <p:txBody>
          <a:bodyPr wrap="square" lIns="0" tIns="0" rIns="0" bIns="0" rtlCol="0" anchor="t"/>
          <a:lstStyle/>
          <a:p>
            <a:pPr indent="0" marL="0">
              <a:buNone/>
            </a:pPr>
            <a:r>
              <a:rPr lang="en-US" sz="1200" dirty="0">
                <a:solidFill>
                  <a:schemeClr val="bg2"/>
                </a:solidFill>
              </a:rPr>
              <a:t>세계 팬이 같은 경기를 함께 즐김</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전통 스포츠와 비교하면?</a:t>
            </a:r>
            <a:endParaRPr lang="en-US" sz="3000" dirty="0"/>
          </a:p>
        </p:txBody>
      </p:sp>
      <p:sp>
        <p:nvSpPr>
          <p:cNvPr id="3" name="header soccer"/>
          <p:cNvSpPr txBox="1"/>
          <p:nvPr/>
        </p:nvSpPr>
        <p:spPr>
          <a:xfrm>
            <a:off x="2286000" y="1097280"/>
            <a:ext cx="3063240" cy="411480"/>
          </a:xfrm>
          <a:prstGeom prst="rect">
            <a:avLst/>
          </a:prstGeom>
          <a:noFill/>
          <a:ln/>
        </p:spPr>
        <p:txBody>
          <a:bodyPr wrap="square" lIns="0" tIns="0" rIns="0" bIns="0" rtlCol="0" anchor="ctr"/>
          <a:lstStyle/>
          <a:p>
            <a:pPr algn="ctr" indent="0" marL="0">
              <a:buNone/>
            </a:pPr>
            <a:r>
              <a:rPr lang="en-US" sz="1500" b="1" dirty="0">
                <a:solidFill>
                  <a:schemeClr val="bg2"/>
                </a:solidFill>
              </a:rPr>
              <a:t>축구 (전통 스포츠)</a:t>
            </a:r>
            <a:endParaRPr lang="en-US" sz="1500" dirty="0"/>
          </a:p>
        </p:txBody>
      </p:sp>
      <p:sp>
        <p:nvSpPr>
          <p:cNvPr id="4" name="header esports bg"/>
          <p:cNvSpPr/>
          <p:nvPr/>
        </p:nvSpPr>
        <p:spPr>
          <a:xfrm>
            <a:off x="5532120" y="1097280"/>
            <a:ext cx="3154680" cy="411480"/>
          </a:xfrm>
          <a:prstGeom prst="roundRect">
            <a:avLst>
              <a:gd name="adj" fmla="val 26667"/>
            </a:avLst>
          </a:prstGeom>
          <a:solidFill>
            <a:schemeClr val="accent1"/>
          </a:solidFill>
          <a:ln w="12700">
            <a:solidFill>
              <a:schemeClr val="accent6"/>
            </a:solidFill>
            <a:prstDash val="solid"/>
          </a:ln>
        </p:spPr>
      </p:sp>
      <p:sp>
        <p:nvSpPr>
          <p:cNvPr id="5" name="header esports"/>
          <p:cNvSpPr txBox="1"/>
          <p:nvPr/>
        </p:nvSpPr>
        <p:spPr>
          <a:xfrm>
            <a:off x="5532120" y="1097280"/>
            <a:ext cx="3154680" cy="411480"/>
          </a:xfrm>
          <a:prstGeom prst="rect">
            <a:avLst/>
          </a:prstGeom>
          <a:noFill/>
          <a:ln/>
        </p:spPr>
        <p:txBody>
          <a:bodyPr wrap="square" lIns="0" tIns="0" rIns="0" bIns="0" rtlCol="0" anchor="ctr"/>
          <a:lstStyle/>
          <a:p>
            <a:pPr algn="ctr" indent="0" marL="0">
              <a:buNone/>
            </a:pPr>
            <a:r>
              <a:rPr lang="en-US" sz="1500" b="1" dirty="0">
                <a:solidFill>
                  <a:schemeClr val="tx1"/>
                </a:solidFill>
              </a:rPr>
              <a:t>e스포츠</a:t>
            </a:r>
            <a:endParaRPr lang="en-US" sz="1500" dirty="0"/>
          </a:p>
        </p:txBody>
      </p:sp>
      <p:sp>
        <p:nvSpPr>
          <p:cNvPr id="6" name="row label 1"/>
          <p:cNvSpPr txBox="1"/>
          <p:nvPr/>
        </p:nvSpPr>
        <p:spPr>
          <a:xfrm>
            <a:off x="457200" y="1645920"/>
            <a:ext cx="1691640" cy="512064"/>
          </a:xfrm>
          <a:prstGeom prst="rect">
            <a:avLst/>
          </a:prstGeom>
          <a:noFill/>
          <a:ln/>
        </p:spPr>
        <p:txBody>
          <a:bodyPr wrap="square" lIns="0" tIns="0" rIns="0" bIns="0" rtlCol="0" anchor="ctr"/>
          <a:lstStyle/>
          <a:p>
            <a:pPr indent="0" marL="0">
              <a:buNone/>
            </a:pPr>
            <a:r>
              <a:rPr lang="en-US" sz="1400" b="1" dirty="0">
                <a:solidFill>
                  <a:schemeClr val="accent1"/>
                </a:solidFill>
              </a:rPr>
              <a:t>데이터 수집</a:t>
            </a:r>
            <a:endParaRPr lang="en-US" sz="1400" dirty="0"/>
          </a:p>
        </p:txBody>
      </p:sp>
      <p:sp>
        <p:nvSpPr>
          <p:cNvPr id="7" name="soccer cell 1"/>
          <p:cNvSpPr/>
          <p:nvPr/>
        </p:nvSpPr>
        <p:spPr>
          <a:xfrm>
            <a:off x="2286000" y="1645920"/>
            <a:ext cx="3063240" cy="512064"/>
          </a:xfrm>
          <a:prstGeom prst="roundRect">
            <a:avLst>
              <a:gd name="adj" fmla="val 21429"/>
            </a:avLst>
          </a:prstGeom>
          <a:solidFill>
            <a:schemeClr val="tx2"/>
          </a:solidFill>
          <a:ln w="12700">
            <a:solidFill>
              <a:schemeClr val="accent6"/>
            </a:solidFill>
            <a:prstDash val="solid"/>
          </a:ln>
        </p:spPr>
      </p:sp>
      <p:sp>
        <p:nvSpPr>
          <p:cNvPr id="8" name="soccer text 1"/>
          <p:cNvSpPr txBox="1"/>
          <p:nvPr/>
        </p:nvSpPr>
        <p:spPr>
          <a:xfrm>
            <a:off x="2423160" y="1645920"/>
            <a:ext cx="2834640" cy="512064"/>
          </a:xfrm>
          <a:prstGeom prst="rect">
            <a:avLst/>
          </a:prstGeom>
          <a:noFill/>
          <a:ln/>
        </p:spPr>
        <p:txBody>
          <a:bodyPr wrap="square" lIns="0" tIns="0" rIns="0" bIns="0" rtlCol="0" anchor="ctr"/>
          <a:lstStyle/>
          <a:p>
            <a:pPr indent="0" marL="0">
              <a:buNone/>
            </a:pPr>
            <a:r>
              <a:rPr lang="en-US" sz="1300" dirty="0">
                <a:solidFill>
                  <a:schemeClr val="bg2"/>
                </a:solidFill>
              </a:rPr>
              <a:t>GPS 조끼 · 카메라 등 장비 필요</a:t>
            </a:r>
            <a:endParaRPr lang="en-US" sz="1300" dirty="0"/>
          </a:p>
        </p:txBody>
      </p:sp>
      <p:sp>
        <p:nvSpPr>
          <p:cNvPr id="9" name="esports cell 1"/>
          <p:cNvSpPr/>
          <p:nvPr/>
        </p:nvSpPr>
        <p:spPr>
          <a:xfrm>
            <a:off x="5532120" y="1645920"/>
            <a:ext cx="3154680" cy="512064"/>
          </a:xfrm>
          <a:prstGeom prst="roundRect">
            <a:avLst>
              <a:gd name="adj" fmla="val 21429"/>
            </a:avLst>
          </a:prstGeom>
          <a:solidFill>
            <a:schemeClr val="tx2"/>
          </a:solidFill>
          <a:ln w="12700">
            <a:solidFill>
              <a:schemeClr val="accent6"/>
            </a:solidFill>
            <a:prstDash val="solid"/>
          </a:ln>
        </p:spPr>
      </p:sp>
      <p:sp>
        <p:nvSpPr>
          <p:cNvPr id="10" name="esports text 1"/>
          <p:cNvSpPr txBox="1"/>
          <p:nvPr/>
        </p:nvSpPr>
        <p:spPr>
          <a:xfrm>
            <a:off x="5669280" y="1645920"/>
            <a:ext cx="2926080" cy="512064"/>
          </a:xfrm>
          <a:prstGeom prst="rect">
            <a:avLst/>
          </a:prstGeom>
          <a:noFill/>
          <a:ln/>
        </p:spPr>
        <p:txBody>
          <a:bodyPr wrap="square" lIns="0" tIns="0" rIns="0" bIns="0" rtlCol="0" anchor="ctr"/>
          <a:lstStyle/>
          <a:p>
            <a:pPr indent="0" marL="0">
              <a:buNone/>
            </a:pPr>
            <a:r>
              <a:rPr lang="en-US" sz="1300" b="1" dirty="0">
                <a:solidFill>
                  <a:schemeClr val="bg1"/>
                </a:solidFill>
              </a:rPr>
              <a:t>게임이 모든 플레이를 자동 기록</a:t>
            </a:r>
            <a:endParaRPr lang="en-US" sz="1300" dirty="0"/>
          </a:p>
        </p:txBody>
      </p:sp>
      <p:sp>
        <p:nvSpPr>
          <p:cNvPr id="11" name="row label 2"/>
          <p:cNvSpPr txBox="1"/>
          <p:nvPr/>
        </p:nvSpPr>
        <p:spPr>
          <a:xfrm>
            <a:off x="457200" y="2267712"/>
            <a:ext cx="1691640" cy="512064"/>
          </a:xfrm>
          <a:prstGeom prst="rect">
            <a:avLst/>
          </a:prstGeom>
          <a:noFill/>
          <a:ln/>
        </p:spPr>
        <p:txBody>
          <a:bodyPr wrap="square" lIns="0" tIns="0" rIns="0" bIns="0" rtlCol="0" anchor="ctr"/>
          <a:lstStyle/>
          <a:p>
            <a:pPr indent="0" marL="0">
              <a:buNone/>
            </a:pPr>
            <a:r>
              <a:rPr lang="en-US" sz="1400" b="1" dirty="0">
                <a:solidFill>
                  <a:schemeClr val="accent1"/>
                </a:solidFill>
              </a:rPr>
              <a:t>경기 분석</a:t>
            </a:r>
            <a:endParaRPr lang="en-US" sz="1400" dirty="0"/>
          </a:p>
        </p:txBody>
      </p:sp>
      <p:sp>
        <p:nvSpPr>
          <p:cNvPr id="12" name="soccer cell 2"/>
          <p:cNvSpPr/>
          <p:nvPr/>
        </p:nvSpPr>
        <p:spPr>
          <a:xfrm>
            <a:off x="2286000" y="2267712"/>
            <a:ext cx="3063240" cy="512064"/>
          </a:xfrm>
          <a:prstGeom prst="roundRect">
            <a:avLst>
              <a:gd name="adj" fmla="val 21429"/>
            </a:avLst>
          </a:prstGeom>
          <a:solidFill>
            <a:schemeClr val="tx2"/>
          </a:solidFill>
          <a:ln w="12700">
            <a:solidFill>
              <a:schemeClr val="accent6"/>
            </a:solidFill>
            <a:prstDash val="solid"/>
          </a:ln>
        </p:spPr>
      </p:sp>
      <p:sp>
        <p:nvSpPr>
          <p:cNvPr id="13" name="soccer text 2"/>
          <p:cNvSpPr txBox="1"/>
          <p:nvPr/>
        </p:nvSpPr>
        <p:spPr>
          <a:xfrm>
            <a:off x="2423160" y="2267712"/>
            <a:ext cx="2834640" cy="512064"/>
          </a:xfrm>
          <a:prstGeom prst="rect">
            <a:avLst/>
          </a:prstGeom>
          <a:noFill/>
          <a:ln/>
        </p:spPr>
        <p:txBody>
          <a:bodyPr wrap="square" lIns="0" tIns="0" rIns="0" bIns="0" rtlCol="0" anchor="ctr"/>
          <a:lstStyle/>
          <a:p>
            <a:pPr indent="0" marL="0">
              <a:buNone/>
            </a:pPr>
            <a:r>
              <a:rPr lang="en-US" sz="1300" dirty="0">
                <a:solidFill>
                  <a:schemeClr val="bg2"/>
                </a:solidFill>
              </a:rPr>
              <a:t>전력 분석관이 영상을 직접 분석</a:t>
            </a:r>
            <a:endParaRPr lang="en-US" sz="1300" dirty="0"/>
          </a:p>
        </p:txBody>
      </p:sp>
      <p:sp>
        <p:nvSpPr>
          <p:cNvPr id="14" name="esports cell 2"/>
          <p:cNvSpPr/>
          <p:nvPr/>
        </p:nvSpPr>
        <p:spPr>
          <a:xfrm>
            <a:off x="5532120" y="2267712"/>
            <a:ext cx="3154680" cy="512064"/>
          </a:xfrm>
          <a:prstGeom prst="roundRect">
            <a:avLst>
              <a:gd name="adj" fmla="val 21429"/>
            </a:avLst>
          </a:prstGeom>
          <a:solidFill>
            <a:schemeClr val="tx2"/>
          </a:solidFill>
          <a:ln w="12700">
            <a:solidFill>
              <a:schemeClr val="accent6"/>
            </a:solidFill>
            <a:prstDash val="solid"/>
          </a:ln>
        </p:spPr>
      </p:sp>
      <p:sp>
        <p:nvSpPr>
          <p:cNvPr id="15" name="esports text 2"/>
          <p:cNvSpPr txBox="1"/>
          <p:nvPr/>
        </p:nvSpPr>
        <p:spPr>
          <a:xfrm>
            <a:off x="5669280" y="2267712"/>
            <a:ext cx="2926080" cy="512064"/>
          </a:xfrm>
          <a:prstGeom prst="rect">
            <a:avLst/>
          </a:prstGeom>
          <a:noFill/>
          <a:ln/>
        </p:spPr>
        <p:txBody>
          <a:bodyPr wrap="square" lIns="0" tIns="0" rIns="0" bIns="0" rtlCol="0" anchor="ctr"/>
          <a:lstStyle/>
          <a:p>
            <a:pPr indent="0" marL="0">
              <a:buNone/>
            </a:pPr>
            <a:r>
              <a:rPr lang="en-US" sz="1300" b="1" dirty="0">
                <a:solidFill>
                  <a:schemeClr val="bg1"/>
                </a:solidFill>
              </a:rPr>
              <a:t>AI가 리플레이를 바로 분석</a:t>
            </a:r>
            <a:endParaRPr lang="en-US" sz="1300" dirty="0"/>
          </a:p>
        </p:txBody>
      </p:sp>
      <p:sp>
        <p:nvSpPr>
          <p:cNvPr id="16" name="row label 3"/>
          <p:cNvSpPr txBox="1"/>
          <p:nvPr/>
        </p:nvSpPr>
        <p:spPr>
          <a:xfrm>
            <a:off x="457200" y="2889504"/>
            <a:ext cx="1691640" cy="512064"/>
          </a:xfrm>
          <a:prstGeom prst="rect">
            <a:avLst/>
          </a:prstGeom>
          <a:noFill/>
          <a:ln/>
        </p:spPr>
        <p:txBody>
          <a:bodyPr wrap="square" lIns="0" tIns="0" rIns="0" bIns="0" rtlCol="0" anchor="ctr"/>
          <a:lstStyle/>
          <a:p>
            <a:pPr indent="0" marL="0">
              <a:buNone/>
            </a:pPr>
            <a:r>
              <a:rPr lang="en-US" sz="1400" b="1" dirty="0">
                <a:solidFill>
                  <a:schemeClr val="accent1"/>
                </a:solidFill>
              </a:rPr>
              <a:t>훈련 상대</a:t>
            </a:r>
            <a:endParaRPr lang="en-US" sz="1400" dirty="0"/>
          </a:p>
        </p:txBody>
      </p:sp>
      <p:sp>
        <p:nvSpPr>
          <p:cNvPr id="17" name="soccer cell 3"/>
          <p:cNvSpPr/>
          <p:nvPr/>
        </p:nvSpPr>
        <p:spPr>
          <a:xfrm>
            <a:off x="2286000" y="2889504"/>
            <a:ext cx="3063240" cy="512064"/>
          </a:xfrm>
          <a:prstGeom prst="roundRect">
            <a:avLst>
              <a:gd name="adj" fmla="val 21429"/>
            </a:avLst>
          </a:prstGeom>
          <a:solidFill>
            <a:schemeClr val="tx2"/>
          </a:solidFill>
          <a:ln w="12700">
            <a:solidFill>
              <a:schemeClr val="accent6"/>
            </a:solidFill>
            <a:prstDash val="solid"/>
          </a:ln>
        </p:spPr>
      </p:sp>
      <p:sp>
        <p:nvSpPr>
          <p:cNvPr id="18" name="soccer text 3"/>
          <p:cNvSpPr txBox="1"/>
          <p:nvPr/>
        </p:nvSpPr>
        <p:spPr>
          <a:xfrm>
            <a:off x="2423160" y="2889504"/>
            <a:ext cx="2834640" cy="512064"/>
          </a:xfrm>
          <a:prstGeom prst="rect">
            <a:avLst/>
          </a:prstGeom>
          <a:noFill/>
          <a:ln/>
        </p:spPr>
        <p:txBody>
          <a:bodyPr wrap="square" lIns="0" tIns="0" rIns="0" bIns="0" rtlCol="0" anchor="ctr"/>
          <a:lstStyle/>
          <a:p>
            <a:pPr indent="0" marL="0">
              <a:buNone/>
            </a:pPr>
            <a:r>
              <a:rPr lang="en-US" sz="1300" dirty="0">
                <a:solidFill>
                  <a:schemeClr val="bg2"/>
                </a:solidFill>
              </a:rPr>
              <a:t>사람 상대 · 연습 경기</a:t>
            </a:r>
            <a:endParaRPr lang="en-US" sz="1300" dirty="0"/>
          </a:p>
        </p:txBody>
      </p:sp>
      <p:sp>
        <p:nvSpPr>
          <p:cNvPr id="19" name="esports cell 3"/>
          <p:cNvSpPr/>
          <p:nvPr/>
        </p:nvSpPr>
        <p:spPr>
          <a:xfrm>
            <a:off x="5532120" y="2889504"/>
            <a:ext cx="3154680" cy="512064"/>
          </a:xfrm>
          <a:prstGeom prst="roundRect">
            <a:avLst>
              <a:gd name="adj" fmla="val 21429"/>
            </a:avLst>
          </a:prstGeom>
          <a:solidFill>
            <a:schemeClr val="tx2"/>
          </a:solidFill>
          <a:ln w="12700">
            <a:solidFill>
              <a:schemeClr val="accent6"/>
            </a:solidFill>
            <a:prstDash val="solid"/>
          </a:ln>
        </p:spPr>
      </p:sp>
      <p:sp>
        <p:nvSpPr>
          <p:cNvPr id="20" name="esports text 3"/>
          <p:cNvSpPr txBox="1"/>
          <p:nvPr/>
        </p:nvSpPr>
        <p:spPr>
          <a:xfrm>
            <a:off x="5669280" y="2889504"/>
            <a:ext cx="2926080" cy="512064"/>
          </a:xfrm>
          <a:prstGeom prst="rect">
            <a:avLst/>
          </a:prstGeom>
          <a:noFill/>
          <a:ln/>
        </p:spPr>
        <p:txBody>
          <a:bodyPr wrap="square" lIns="0" tIns="0" rIns="0" bIns="0" rtlCol="0" anchor="ctr"/>
          <a:lstStyle/>
          <a:p>
            <a:pPr indent="0" marL="0">
              <a:buNone/>
            </a:pPr>
            <a:r>
              <a:rPr lang="en-US" sz="1300" b="1" dirty="0">
                <a:solidFill>
                  <a:schemeClr val="bg1"/>
                </a:solidFill>
              </a:rPr>
              <a:t>AI 봇과 언제든 반복 연습</a:t>
            </a:r>
            <a:endParaRPr lang="en-US" sz="1300" dirty="0"/>
          </a:p>
        </p:txBody>
      </p:sp>
      <p:sp>
        <p:nvSpPr>
          <p:cNvPr id="21" name="row label 4"/>
          <p:cNvSpPr txBox="1"/>
          <p:nvPr/>
        </p:nvSpPr>
        <p:spPr>
          <a:xfrm>
            <a:off x="457200" y="3511296"/>
            <a:ext cx="1691640" cy="512064"/>
          </a:xfrm>
          <a:prstGeom prst="rect">
            <a:avLst/>
          </a:prstGeom>
          <a:noFill/>
          <a:ln/>
        </p:spPr>
        <p:txBody>
          <a:bodyPr wrap="square" lIns="0" tIns="0" rIns="0" bIns="0" rtlCol="0" anchor="ctr"/>
          <a:lstStyle/>
          <a:p>
            <a:pPr indent="0" marL="0">
              <a:buNone/>
            </a:pPr>
            <a:r>
              <a:rPr lang="en-US" sz="1400" b="1" dirty="0">
                <a:solidFill>
                  <a:schemeClr val="accent1"/>
                </a:solidFill>
              </a:rPr>
              <a:t>판정</a:t>
            </a:r>
            <a:endParaRPr lang="en-US" sz="1400" dirty="0"/>
          </a:p>
        </p:txBody>
      </p:sp>
      <p:sp>
        <p:nvSpPr>
          <p:cNvPr id="22" name="soccer cell 4"/>
          <p:cNvSpPr/>
          <p:nvPr/>
        </p:nvSpPr>
        <p:spPr>
          <a:xfrm>
            <a:off x="2286000" y="3511296"/>
            <a:ext cx="3063240" cy="512064"/>
          </a:xfrm>
          <a:prstGeom prst="roundRect">
            <a:avLst>
              <a:gd name="adj" fmla="val 21429"/>
            </a:avLst>
          </a:prstGeom>
          <a:solidFill>
            <a:schemeClr val="tx2"/>
          </a:solidFill>
          <a:ln w="12700">
            <a:solidFill>
              <a:schemeClr val="accent6"/>
            </a:solidFill>
            <a:prstDash val="solid"/>
          </a:ln>
        </p:spPr>
      </p:sp>
      <p:sp>
        <p:nvSpPr>
          <p:cNvPr id="23" name="soccer text 4"/>
          <p:cNvSpPr txBox="1"/>
          <p:nvPr/>
        </p:nvSpPr>
        <p:spPr>
          <a:xfrm>
            <a:off x="2423160" y="3511296"/>
            <a:ext cx="2834640" cy="512064"/>
          </a:xfrm>
          <a:prstGeom prst="rect">
            <a:avLst/>
          </a:prstGeom>
          <a:noFill/>
          <a:ln/>
        </p:spPr>
        <p:txBody>
          <a:bodyPr wrap="square" lIns="0" tIns="0" rIns="0" bIns="0" rtlCol="0" anchor="ctr"/>
          <a:lstStyle/>
          <a:p>
            <a:pPr indent="0" marL="0">
              <a:buNone/>
            </a:pPr>
            <a:r>
              <a:rPr lang="en-US" sz="1300" dirty="0">
                <a:solidFill>
                  <a:schemeClr val="bg2"/>
                </a:solidFill>
              </a:rPr>
              <a:t>심판 + VAR(비디오 판독)</a:t>
            </a:r>
            <a:endParaRPr lang="en-US" sz="1300" dirty="0"/>
          </a:p>
        </p:txBody>
      </p:sp>
      <p:sp>
        <p:nvSpPr>
          <p:cNvPr id="24" name="esports cell 4"/>
          <p:cNvSpPr/>
          <p:nvPr/>
        </p:nvSpPr>
        <p:spPr>
          <a:xfrm>
            <a:off x="5532120" y="3511296"/>
            <a:ext cx="3154680" cy="512064"/>
          </a:xfrm>
          <a:prstGeom prst="roundRect">
            <a:avLst>
              <a:gd name="adj" fmla="val 21429"/>
            </a:avLst>
          </a:prstGeom>
          <a:solidFill>
            <a:schemeClr val="tx2"/>
          </a:solidFill>
          <a:ln w="12700">
            <a:solidFill>
              <a:schemeClr val="accent6"/>
            </a:solidFill>
            <a:prstDash val="solid"/>
          </a:ln>
        </p:spPr>
      </p:sp>
      <p:sp>
        <p:nvSpPr>
          <p:cNvPr id="25" name="esports text 4"/>
          <p:cNvSpPr txBox="1"/>
          <p:nvPr/>
        </p:nvSpPr>
        <p:spPr>
          <a:xfrm>
            <a:off x="5669280" y="3511296"/>
            <a:ext cx="2926080" cy="512064"/>
          </a:xfrm>
          <a:prstGeom prst="rect">
            <a:avLst/>
          </a:prstGeom>
          <a:noFill/>
          <a:ln/>
        </p:spPr>
        <p:txBody>
          <a:bodyPr wrap="square" lIns="0" tIns="0" rIns="0" bIns="0" rtlCol="0" anchor="ctr"/>
          <a:lstStyle/>
          <a:p>
            <a:pPr indent="0" marL="0">
              <a:buNone/>
            </a:pPr>
            <a:r>
              <a:rPr lang="en-US" sz="1300" b="1" dirty="0">
                <a:solidFill>
                  <a:schemeClr val="bg1"/>
                </a:solidFill>
              </a:rPr>
              <a:t>AI가 핵 · 비매너 자동 탐지</a:t>
            </a:r>
            <a:endParaRPr lang="en-US" sz="1300" dirty="0"/>
          </a:p>
        </p:txBody>
      </p:sp>
      <p:sp>
        <p:nvSpPr>
          <p:cNvPr id="26" name="compare takeaway"/>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600" b="1" dirty="0">
                <a:solidFill>
                  <a:schemeClr val="accent4"/>
                </a:solidFill>
              </a:rPr>
              <a:t>결론  </a:t>
            </a:r>
            <a:pPr indent="0" marL="0">
              <a:buNone/>
            </a:pPr>
            <a:r>
              <a:rPr lang="en-US" sz="1600" b="1" dirty="0">
                <a:solidFill>
                  <a:schemeClr val="bg1"/>
                </a:solidFill>
              </a:rPr>
              <a:t>e스포츠는 AI가 가장 빨리, 가장 깊이 들어오는 스포츠</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생각해 볼 문제</a:t>
            </a:r>
            <a:endParaRPr lang="en-US" sz="3000" dirty="0"/>
          </a:p>
        </p:txBody>
      </p:sp>
      <p:sp>
        <p:nvSpPr>
          <p:cNvPr id="3" name="issue card 1"/>
          <p:cNvSpPr/>
          <p:nvPr/>
        </p:nvSpPr>
        <p:spPr>
          <a:xfrm>
            <a:off x="457200" y="1143000"/>
            <a:ext cx="4023360" cy="1508760"/>
          </a:xfrm>
          <a:prstGeom prst="roundRect">
            <a:avLst>
              <a:gd name="adj" fmla="val 7273"/>
            </a:avLst>
          </a:prstGeom>
          <a:solidFill>
            <a:schemeClr val="tx2"/>
          </a:solidFill>
          <a:ln w="12700">
            <a:solidFill>
              <a:schemeClr val="accent6"/>
            </a:solidFill>
            <a:prstDash val="solid"/>
          </a:ln>
        </p:spPr>
      </p:sp>
      <p:sp>
        <p:nvSpPr>
          <p:cNvPr id="4" name="issue 1 circle"/>
          <p:cNvSpPr/>
          <p:nvPr/>
        </p:nvSpPr>
        <p:spPr>
          <a:xfrm>
            <a:off x="685800" y="1417320"/>
            <a:ext cx="685800" cy="685800"/>
          </a:xfrm>
          <a:prstGeom prst="ellipse">
            <a:avLst/>
          </a:prstGeom>
          <a:solidFill>
            <a:schemeClr val="accent4"/>
          </a:solidFill>
          <a:ln/>
        </p:spPr>
      </p:sp>
      <p:pic>
        <p:nvPicPr>
          <p:cNvPr id="5" name="issue 1 icon" descr="issue 1">    </p:cNvPr>
          <p:cNvPicPr>
            <a:picLocks noChangeAspect="1"/>
          </p:cNvPicPr>
          <p:nvPr/>
        </p:nvPicPr>
        <p:blipFill>
          <a:blip r:embed="rId1"/>
          <a:stretch>
            <a:fillRect/>
          </a:stretch>
        </p:blipFill>
        <p:spPr>
          <a:xfrm>
            <a:off x="857250" y="1588770"/>
            <a:ext cx="342900" cy="342900"/>
          </a:xfrm>
          <a:prstGeom prst="rect">
            <a:avLst/>
          </a:prstGeom>
        </p:spPr>
      </p:pic>
      <p:sp>
        <p:nvSpPr>
          <p:cNvPr id="6" name="issue head 1"/>
          <p:cNvSpPr txBox="1"/>
          <p:nvPr/>
        </p:nvSpPr>
        <p:spPr>
          <a:xfrm>
            <a:off x="1600200" y="1371600"/>
            <a:ext cx="2697480" cy="365760"/>
          </a:xfrm>
          <a:prstGeom prst="rect">
            <a:avLst/>
          </a:prstGeom>
          <a:noFill/>
          <a:ln/>
        </p:spPr>
        <p:txBody>
          <a:bodyPr wrap="square" lIns="0" tIns="0" rIns="0" bIns="0" rtlCol="0" anchor="ctr"/>
          <a:lstStyle/>
          <a:p>
            <a:pPr indent="0" marL="0">
              <a:buNone/>
            </a:pPr>
            <a:r>
              <a:rPr lang="en-US" sz="1700" b="1" dirty="0">
                <a:solidFill>
                  <a:schemeClr val="bg1"/>
                </a:solidFill>
              </a:rPr>
              <a:t>창의성 감소</a:t>
            </a:r>
            <a:endParaRPr lang="en-US" sz="1700" dirty="0"/>
          </a:p>
        </p:txBody>
      </p:sp>
      <p:sp>
        <p:nvSpPr>
          <p:cNvPr id="7" name="issue desc 1"/>
          <p:cNvSpPr txBox="1"/>
          <p:nvPr/>
        </p:nvSpPr>
        <p:spPr>
          <a:xfrm>
            <a:off x="1600200" y="1783080"/>
            <a:ext cx="2697480" cy="731520"/>
          </a:xfrm>
          <a:prstGeom prst="rect">
            <a:avLst/>
          </a:prstGeom>
          <a:noFill/>
          <a:ln/>
        </p:spPr>
        <p:txBody>
          <a:bodyPr wrap="square" lIns="0" tIns="0" rIns="0" bIns="0" rtlCol="0" anchor="t"/>
          <a:lstStyle/>
          <a:p>
            <a:pPr indent="0" marL="0">
              <a:buNone/>
            </a:pPr>
            <a:r>
              <a:rPr lang="en-US" sz="1300" dirty="0">
                <a:solidFill>
                  <a:schemeClr val="bg2"/>
                </a:solidFill>
              </a:rPr>
              <a:t>모든 팀이 AI가 추천한 같은 전략만 쓰면 경기가 비슷해진다</a:t>
            </a:r>
            <a:endParaRPr lang="en-US" sz="1300" dirty="0"/>
          </a:p>
        </p:txBody>
      </p:sp>
      <p:sp>
        <p:nvSpPr>
          <p:cNvPr id="8" name="issue card 2"/>
          <p:cNvSpPr/>
          <p:nvPr/>
        </p:nvSpPr>
        <p:spPr>
          <a:xfrm>
            <a:off x="4663440" y="1143000"/>
            <a:ext cx="4023360" cy="1508760"/>
          </a:xfrm>
          <a:prstGeom prst="roundRect">
            <a:avLst>
              <a:gd name="adj" fmla="val 7273"/>
            </a:avLst>
          </a:prstGeom>
          <a:solidFill>
            <a:schemeClr val="tx2"/>
          </a:solidFill>
          <a:ln w="12700">
            <a:solidFill>
              <a:schemeClr val="accent6"/>
            </a:solidFill>
            <a:prstDash val="solid"/>
          </a:ln>
        </p:spPr>
      </p:sp>
      <p:sp>
        <p:nvSpPr>
          <p:cNvPr id="9" name="issue 2 circle"/>
          <p:cNvSpPr/>
          <p:nvPr/>
        </p:nvSpPr>
        <p:spPr>
          <a:xfrm>
            <a:off x="4892040" y="1417320"/>
            <a:ext cx="685800" cy="685800"/>
          </a:xfrm>
          <a:prstGeom prst="ellipse">
            <a:avLst/>
          </a:prstGeom>
          <a:solidFill>
            <a:schemeClr val="accent4"/>
          </a:solidFill>
          <a:ln/>
        </p:spPr>
      </p:sp>
      <p:pic>
        <p:nvPicPr>
          <p:cNvPr id="10" name="issue 2 icon" descr="issue 2">    </p:cNvPr>
          <p:cNvPicPr>
            <a:picLocks noChangeAspect="1"/>
          </p:cNvPicPr>
          <p:nvPr/>
        </p:nvPicPr>
        <p:blipFill>
          <a:blip r:embed="rId2"/>
          <a:stretch>
            <a:fillRect/>
          </a:stretch>
        </p:blipFill>
        <p:spPr>
          <a:xfrm>
            <a:off x="5063490" y="1588770"/>
            <a:ext cx="342900" cy="342900"/>
          </a:xfrm>
          <a:prstGeom prst="rect">
            <a:avLst/>
          </a:prstGeom>
        </p:spPr>
      </p:pic>
      <p:sp>
        <p:nvSpPr>
          <p:cNvPr id="11" name="issue head 2"/>
          <p:cNvSpPr txBox="1"/>
          <p:nvPr/>
        </p:nvSpPr>
        <p:spPr>
          <a:xfrm>
            <a:off x="5806440" y="1371600"/>
            <a:ext cx="2697480" cy="365760"/>
          </a:xfrm>
          <a:prstGeom prst="rect">
            <a:avLst/>
          </a:prstGeom>
          <a:noFill/>
          <a:ln/>
        </p:spPr>
        <p:txBody>
          <a:bodyPr wrap="square" lIns="0" tIns="0" rIns="0" bIns="0" rtlCol="0" anchor="ctr"/>
          <a:lstStyle/>
          <a:p>
            <a:pPr indent="0" marL="0">
              <a:buNone/>
            </a:pPr>
            <a:r>
              <a:rPr lang="en-US" sz="1700" b="1" dirty="0">
                <a:solidFill>
                  <a:schemeClr val="bg1"/>
                </a:solidFill>
              </a:rPr>
              <a:t>새로운 부정행위</a:t>
            </a:r>
            <a:endParaRPr lang="en-US" sz="1700" dirty="0"/>
          </a:p>
        </p:txBody>
      </p:sp>
      <p:sp>
        <p:nvSpPr>
          <p:cNvPr id="12" name="issue desc 2"/>
          <p:cNvSpPr txBox="1"/>
          <p:nvPr/>
        </p:nvSpPr>
        <p:spPr>
          <a:xfrm>
            <a:off x="5806440" y="1783080"/>
            <a:ext cx="2697480" cy="731520"/>
          </a:xfrm>
          <a:prstGeom prst="rect">
            <a:avLst/>
          </a:prstGeom>
          <a:noFill/>
          <a:ln/>
        </p:spPr>
        <p:txBody>
          <a:bodyPr wrap="square" lIns="0" tIns="0" rIns="0" bIns="0" rtlCol="0" anchor="t"/>
          <a:lstStyle/>
          <a:p>
            <a:pPr indent="0" marL="0">
              <a:buNone/>
            </a:pPr>
            <a:r>
              <a:rPr lang="en-US" sz="1300" dirty="0">
                <a:solidFill>
                  <a:schemeClr val="bg2"/>
                </a:solidFill>
              </a:rPr>
              <a:t>경기 중 몰래 AI의 도움을 받는 것도 반칙이다</a:t>
            </a:r>
            <a:endParaRPr lang="en-US" sz="1300" dirty="0"/>
          </a:p>
        </p:txBody>
      </p:sp>
      <p:sp>
        <p:nvSpPr>
          <p:cNvPr id="13" name="issue card 3"/>
          <p:cNvSpPr/>
          <p:nvPr/>
        </p:nvSpPr>
        <p:spPr>
          <a:xfrm>
            <a:off x="457200" y="2834640"/>
            <a:ext cx="4023360" cy="1508760"/>
          </a:xfrm>
          <a:prstGeom prst="roundRect">
            <a:avLst>
              <a:gd name="adj" fmla="val 7273"/>
            </a:avLst>
          </a:prstGeom>
          <a:solidFill>
            <a:schemeClr val="tx2"/>
          </a:solidFill>
          <a:ln w="12700">
            <a:solidFill>
              <a:schemeClr val="accent6"/>
            </a:solidFill>
            <a:prstDash val="solid"/>
          </a:ln>
        </p:spPr>
      </p:sp>
      <p:sp>
        <p:nvSpPr>
          <p:cNvPr id="14" name="issue 3 circle"/>
          <p:cNvSpPr/>
          <p:nvPr/>
        </p:nvSpPr>
        <p:spPr>
          <a:xfrm>
            <a:off x="685800" y="3108960"/>
            <a:ext cx="685800" cy="685800"/>
          </a:xfrm>
          <a:prstGeom prst="ellipse">
            <a:avLst/>
          </a:prstGeom>
          <a:solidFill>
            <a:schemeClr val="accent4"/>
          </a:solidFill>
          <a:ln/>
        </p:spPr>
      </p:sp>
      <p:pic>
        <p:nvPicPr>
          <p:cNvPr id="15" name="issue 3 icon" descr="issue 3">    </p:cNvPr>
          <p:cNvPicPr>
            <a:picLocks noChangeAspect="1"/>
          </p:cNvPicPr>
          <p:nvPr/>
        </p:nvPicPr>
        <p:blipFill>
          <a:blip r:embed="rId3"/>
          <a:stretch>
            <a:fillRect/>
          </a:stretch>
        </p:blipFill>
        <p:spPr>
          <a:xfrm>
            <a:off x="857250" y="3280410"/>
            <a:ext cx="342900" cy="342900"/>
          </a:xfrm>
          <a:prstGeom prst="rect">
            <a:avLst/>
          </a:prstGeom>
        </p:spPr>
      </p:pic>
      <p:sp>
        <p:nvSpPr>
          <p:cNvPr id="16" name="issue head 3"/>
          <p:cNvSpPr txBox="1"/>
          <p:nvPr/>
        </p:nvSpPr>
        <p:spPr>
          <a:xfrm>
            <a:off x="1600200" y="3063240"/>
            <a:ext cx="2697480" cy="365760"/>
          </a:xfrm>
          <a:prstGeom prst="rect">
            <a:avLst/>
          </a:prstGeom>
          <a:noFill/>
          <a:ln/>
        </p:spPr>
        <p:txBody>
          <a:bodyPr wrap="square" lIns="0" tIns="0" rIns="0" bIns="0" rtlCol="0" anchor="ctr"/>
          <a:lstStyle/>
          <a:p>
            <a:pPr indent="0" marL="0">
              <a:buNone/>
            </a:pPr>
            <a:r>
              <a:rPr lang="en-US" sz="1700" b="1" dirty="0">
                <a:solidFill>
                  <a:schemeClr val="bg1"/>
                </a:solidFill>
              </a:rPr>
              <a:t>개인정보 보호</a:t>
            </a:r>
            <a:endParaRPr lang="en-US" sz="1700" dirty="0"/>
          </a:p>
        </p:txBody>
      </p:sp>
      <p:sp>
        <p:nvSpPr>
          <p:cNvPr id="17" name="issue desc 3"/>
          <p:cNvSpPr txBox="1"/>
          <p:nvPr/>
        </p:nvSpPr>
        <p:spPr>
          <a:xfrm>
            <a:off x="1600200" y="3474720"/>
            <a:ext cx="2697480" cy="731520"/>
          </a:xfrm>
          <a:prstGeom prst="rect">
            <a:avLst/>
          </a:prstGeom>
          <a:noFill/>
          <a:ln/>
        </p:spPr>
        <p:txBody>
          <a:bodyPr wrap="square" lIns="0" tIns="0" rIns="0" bIns="0" rtlCol="0" anchor="t"/>
          <a:lstStyle/>
          <a:p>
            <a:pPr indent="0" marL="0">
              <a:buNone/>
            </a:pPr>
            <a:r>
              <a:rPr lang="en-US" sz="1300" dirty="0">
                <a:solidFill>
                  <a:schemeClr val="bg2"/>
                </a:solidFill>
              </a:rPr>
              <a:t>반응 속도 · 건강 같은 선수 데이터는 보호해야 한다</a:t>
            </a:r>
            <a:endParaRPr lang="en-US" sz="1300" dirty="0"/>
          </a:p>
        </p:txBody>
      </p:sp>
      <p:sp>
        <p:nvSpPr>
          <p:cNvPr id="18" name="issue card 4"/>
          <p:cNvSpPr/>
          <p:nvPr/>
        </p:nvSpPr>
        <p:spPr>
          <a:xfrm>
            <a:off x="4663440" y="2834640"/>
            <a:ext cx="4023360" cy="1508760"/>
          </a:xfrm>
          <a:prstGeom prst="roundRect">
            <a:avLst>
              <a:gd name="adj" fmla="val 7273"/>
            </a:avLst>
          </a:prstGeom>
          <a:solidFill>
            <a:schemeClr val="tx2"/>
          </a:solidFill>
          <a:ln w="12700">
            <a:solidFill>
              <a:schemeClr val="accent6"/>
            </a:solidFill>
            <a:prstDash val="solid"/>
          </a:ln>
        </p:spPr>
      </p:sp>
      <p:sp>
        <p:nvSpPr>
          <p:cNvPr id="19" name="issue 4 circle"/>
          <p:cNvSpPr/>
          <p:nvPr/>
        </p:nvSpPr>
        <p:spPr>
          <a:xfrm>
            <a:off x="4892040" y="3108960"/>
            <a:ext cx="685800" cy="685800"/>
          </a:xfrm>
          <a:prstGeom prst="ellipse">
            <a:avLst/>
          </a:prstGeom>
          <a:solidFill>
            <a:schemeClr val="accent4"/>
          </a:solidFill>
          <a:ln/>
        </p:spPr>
      </p:sp>
      <p:pic>
        <p:nvPicPr>
          <p:cNvPr id="20" name="issue 4 icon" descr="issue 4">    </p:cNvPr>
          <p:cNvPicPr>
            <a:picLocks noChangeAspect="1"/>
          </p:cNvPicPr>
          <p:nvPr/>
        </p:nvPicPr>
        <p:blipFill>
          <a:blip r:embed="rId4"/>
          <a:stretch>
            <a:fillRect/>
          </a:stretch>
        </p:blipFill>
        <p:spPr>
          <a:xfrm>
            <a:off x="5063490" y="3280410"/>
            <a:ext cx="342900" cy="342900"/>
          </a:xfrm>
          <a:prstGeom prst="rect">
            <a:avLst/>
          </a:prstGeom>
        </p:spPr>
      </p:pic>
      <p:sp>
        <p:nvSpPr>
          <p:cNvPr id="21" name="issue head 4"/>
          <p:cNvSpPr txBox="1"/>
          <p:nvPr/>
        </p:nvSpPr>
        <p:spPr>
          <a:xfrm>
            <a:off x="5806440" y="3063240"/>
            <a:ext cx="2697480" cy="365760"/>
          </a:xfrm>
          <a:prstGeom prst="rect">
            <a:avLst/>
          </a:prstGeom>
          <a:noFill/>
          <a:ln/>
        </p:spPr>
        <p:txBody>
          <a:bodyPr wrap="square" lIns="0" tIns="0" rIns="0" bIns="0" rtlCol="0" anchor="ctr"/>
          <a:lstStyle/>
          <a:p>
            <a:pPr indent="0" marL="0">
              <a:buNone/>
            </a:pPr>
            <a:r>
              <a:rPr lang="en-US" sz="1700" b="1" dirty="0">
                <a:solidFill>
                  <a:schemeClr val="bg1"/>
                </a:solidFill>
              </a:rPr>
              <a:t>사람의 역할 변화</a:t>
            </a:r>
            <a:endParaRPr lang="en-US" sz="1700" dirty="0"/>
          </a:p>
        </p:txBody>
      </p:sp>
      <p:sp>
        <p:nvSpPr>
          <p:cNvPr id="22" name="issue desc 4"/>
          <p:cNvSpPr txBox="1"/>
          <p:nvPr/>
        </p:nvSpPr>
        <p:spPr>
          <a:xfrm>
            <a:off x="5806440" y="3474720"/>
            <a:ext cx="2697480" cy="731520"/>
          </a:xfrm>
          <a:prstGeom prst="rect">
            <a:avLst/>
          </a:prstGeom>
          <a:noFill/>
          <a:ln/>
        </p:spPr>
        <p:txBody>
          <a:bodyPr wrap="square" lIns="0" tIns="0" rIns="0" bIns="0" rtlCol="0" anchor="t"/>
          <a:lstStyle/>
          <a:p>
            <a:pPr indent="0" marL="0">
              <a:buNone/>
            </a:pPr>
            <a:r>
              <a:rPr lang="en-US" sz="1300" dirty="0">
                <a:solidFill>
                  <a:schemeClr val="bg2"/>
                </a:solidFill>
              </a:rPr>
              <a:t>코치 · 분석가의 일이 바뀐다 — AI를 다루는 능력이 필요</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결론: AI는 '코치'다</a:t>
            </a:r>
            <a:endParaRPr lang="en-US" sz="3000" dirty="0"/>
          </a:p>
        </p:txBody>
      </p:sp>
      <p:sp>
        <p:nvSpPr>
          <p:cNvPr id="3" name="quote card"/>
          <p:cNvSpPr/>
          <p:nvPr/>
        </p:nvSpPr>
        <p:spPr>
          <a:xfrm>
            <a:off x="457200" y="1143000"/>
            <a:ext cx="8229600" cy="1325880"/>
          </a:xfrm>
          <a:prstGeom prst="roundRect">
            <a:avLst>
              <a:gd name="adj" fmla="val 8276"/>
            </a:avLst>
          </a:prstGeom>
          <a:solidFill>
            <a:schemeClr val="tx2"/>
          </a:solidFill>
          <a:ln w="12700">
            <a:solidFill>
              <a:schemeClr val="accent6"/>
            </a:solidFill>
            <a:prstDash val="solid"/>
          </a:ln>
        </p:spPr>
      </p:sp>
      <p:sp>
        <p:nvSpPr>
          <p:cNvPr id="4" name="conclusion quote"/>
          <p:cNvSpPr txBox="1"/>
          <p:nvPr/>
        </p:nvSpPr>
        <p:spPr>
          <a:xfrm>
            <a:off x="731520" y="1188720"/>
            <a:ext cx="7680960" cy="1234440"/>
          </a:xfrm>
          <a:prstGeom prst="rect">
            <a:avLst/>
          </a:prstGeom>
          <a:noFill/>
          <a:ln/>
        </p:spPr>
        <p:txBody>
          <a:bodyPr wrap="square" lIns="0" tIns="0" rIns="0" bIns="0" rtlCol="0" anchor="ctr"/>
          <a:lstStyle/>
          <a:p>
            <a:pPr algn="ctr" indent="0" marL="0">
              <a:buNone/>
            </a:pPr>
            <a:r>
              <a:rPr lang="en-US" sz="2600" b="1" dirty="0">
                <a:solidFill>
                  <a:schemeClr val="bg1"/>
                </a:solidFill>
              </a:rPr>
              <a:t>AI는 선수를 대신하지 않는다.</a:t>
            </a:r>
            <a:endParaRPr lang="en-US" sz="2600" dirty="0"/>
          </a:p>
          <a:p>
            <a:pPr algn="ctr" indent="0" marL="0">
              <a:buNone/>
            </a:pPr>
            <a:r>
              <a:rPr lang="en-US" sz="2600" b="1" dirty="0">
                <a:solidFill>
                  <a:schemeClr val="accent1"/>
                </a:solidFill>
              </a:rPr>
              <a:t>선수를 더 잘하게 돕는 코치다.</a:t>
            </a:r>
            <a:endParaRPr lang="en-US" sz="2600" dirty="0"/>
          </a:p>
        </p:txBody>
      </p:sp>
      <p:sp>
        <p:nvSpPr>
          <p:cNvPr id="5" name="role 1 circle"/>
          <p:cNvSpPr/>
          <p:nvPr/>
        </p:nvSpPr>
        <p:spPr>
          <a:xfrm>
            <a:off x="640080" y="2743200"/>
            <a:ext cx="685800" cy="685800"/>
          </a:xfrm>
          <a:prstGeom prst="ellipse">
            <a:avLst/>
          </a:prstGeom>
          <a:solidFill>
            <a:schemeClr val="accent1"/>
          </a:solidFill>
          <a:ln/>
        </p:spPr>
      </p:sp>
      <p:pic>
        <p:nvPicPr>
          <p:cNvPr id="6" name="role 1 icon" descr="role 1">    </p:cNvPr>
          <p:cNvPicPr>
            <a:picLocks noChangeAspect="1"/>
          </p:cNvPicPr>
          <p:nvPr/>
        </p:nvPicPr>
        <p:blipFill>
          <a:blip r:embed="rId1"/>
          <a:stretch>
            <a:fillRect/>
          </a:stretch>
        </p:blipFill>
        <p:spPr>
          <a:xfrm>
            <a:off x="811530" y="2914650"/>
            <a:ext cx="342900" cy="342900"/>
          </a:xfrm>
          <a:prstGeom prst="rect">
            <a:avLst/>
          </a:prstGeom>
        </p:spPr>
      </p:pic>
      <p:sp>
        <p:nvSpPr>
          <p:cNvPr id="7" name="role label 1"/>
          <p:cNvSpPr txBox="1"/>
          <p:nvPr/>
        </p:nvSpPr>
        <p:spPr>
          <a:xfrm>
            <a:off x="457200" y="3520440"/>
            <a:ext cx="1051560" cy="320040"/>
          </a:xfrm>
          <a:prstGeom prst="rect">
            <a:avLst/>
          </a:prstGeom>
          <a:noFill/>
          <a:ln/>
        </p:spPr>
        <p:txBody>
          <a:bodyPr wrap="square" lIns="0" tIns="0" rIns="0" bIns="0" rtlCol="0" anchor="ctr"/>
          <a:lstStyle/>
          <a:p>
            <a:pPr algn="ctr" indent="0" marL="0">
              <a:buNone/>
            </a:pPr>
            <a:r>
              <a:rPr lang="en-US" sz="1400" b="1" dirty="0">
                <a:solidFill>
                  <a:schemeClr val="bg1"/>
                </a:solidFill>
              </a:rPr>
              <a:t>분석</a:t>
            </a:r>
            <a:endParaRPr lang="en-US" sz="1400" dirty="0"/>
          </a:p>
        </p:txBody>
      </p:sp>
      <p:sp>
        <p:nvSpPr>
          <p:cNvPr id="8" name="role 2 circle"/>
          <p:cNvSpPr/>
          <p:nvPr/>
        </p:nvSpPr>
        <p:spPr>
          <a:xfrm>
            <a:off x="1874520" y="2743200"/>
            <a:ext cx="685800" cy="685800"/>
          </a:xfrm>
          <a:prstGeom prst="ellipse">
            <a:avLst/>
          </a:prstGeom>
          <a:solidFill>
            <a:schemeClr val="accent5"/>
          </a:solidFill>
          <a:ln/>
        </p:spPr>
      </p:sp>
      <p:pic>
        <p:nvPicPr>
          <p:cNvPr id="9" name="role 2 icon" descr="role 2">    </p:cNvPr>
          <p:cNvPicPr>
            <a:picLocks noChangeAspect="1"/>
          </p:cNvPicPr>
          <p:nvPr/>
        </p:nvPicPr>
        <p:blipFill>
          <a:blip r:embed="rId2"/>
          <a:stretch>
            <a:fillRect/>
          </a:stretch>
        </p:blipFill>
        <p:spPr>
          <a:xfrm>
            <a:off x="2045970" y="2914650"/>
            <a:ext cx="342900" cy="342900"/>
          </a:xfrm>
          <a:prstGeom prst="rect">
            <a:avLst/>
          </a:prstGeom>
        </p:spPr>
      </p:pic>
      <p:sp>
        <p:nvSpPr>
          <p:cNvPr id="10" name="role label 2"/>
          <p:cNvSpPr txBox="1"/>
          <p:nvPr/>
        </p:nvSpPr>
        <p:spPr>
          <a:xfrm>
            <a:off x="1691640" y="3520440"/>
            <a:ext cx="1051560" cy="320040"/>
          </a:xfrm>
          <a:prstGeom prst="rect">
            <a:avLst/>
          </a:prstGeom>
          <a:noFill/>
          <a:ln/>
        </p:spPr>
        <p:txBody>
          <a:bodyPr wrap="square" lIns="0" tIns="0" rIns="0" bIns="0" rtlCol="0" anchor="ctr"/>
          <a:lstStyle/>
          <a:p>
            <a:pPr algn="ctr" indent="0" marL="0">
              <a:buNone/>
            </a:pPr>
            <a:r>
              <a:rPr lang="en-US" sz="1400" b="1" dirty="0">
                <a:solidFill>
                  <a:schemeClr val="bg1"/>
                </a:solidFill>
              </a:rPr>
              <a:t>훈련</a:t>
            </a:r>
            <a:endParaRPr lang="en-US" sz="1400" dirty="0"/>
          </a:p>
        </p:txBody>
      </p:sp>
      <p:sp>
        <p:nvSpPr>
          <p:cNvPr id="11" name="role 3 circle"/>
          <p:cNvSpPr/>
          <p:nvPr/>
        </p:nvSpPr>
        <p:spPr>
          <a:xfrm>
            <a:off x="3108960" y="2743200"/>
            <a:ext cx="685800" cy="685800"/>
          </a:xfrm>
          <a:prstGeom prst="ellipse">
            <a:avLst/>
          </a:prstGeom>
          <a:solidFill>
            <a:schemeClr val="accent3"/>
          </a:solidFill>
          <a:ln/>
        </p:spPr>
      </p:sp>
      <p:pic>
        <p:nvPicPr>
          <p:cNvPr id="12" name="role 3 icon" descr="role 3">    </p:cNvPr>
          <p:cNvPicPr>
            <a:picLocks noChangeAspect="1"/>
          </p:cNvPicPr>
          <p:nvPr/>
        </p:nvPicPr>
        <p:blipFill>
          <a:blip r:embed="rId3"/>
          <a:stretch>
            <a:fillRect/>
          </a:stretch>
        </p:blipFill>
        <p:spPr>
          <a:xfrm>
            <a:off x="3280410" y="2914650"/>
            <a:ext cx="342900" cy="342900"/>
          </a:xfrm>
          <a:prstGeom prst="rect">
            <a:avLst/>
          </a:prstGeom>
        </p:spPr>
      </p:pic>
      <p:sp>
        <p:nvSpPr>
          <p:cNvPr id="13" name="role label 3"/>
          <p:cNvSpPr txBox="1"/>
          <p:nvPr/>
        </p:nvSpPr>
        <p:spPr>
          <a:xfrm>
            <a:off x="2926080" y="3520440"/>
            <a:ext cx="1051560" cy="320040"/>
          </a:xfrm>
          <a:prstGeom prst="rect">
            <a:avLst/>
          </a:prstGeom>
          <a:noFill/>
          <a:ln/>
        </p:spPr>
        <p:txBody>
          <a:bodyPr wrap="square" lIns="0" tIns="0" rIns="0" bIns="0" rtlCol="0" anchor="ctr"/>
          <a:lstStyle/>
          <a:p>
            <a:pPr algn="ctr" indent="0" marL="0">
              <a:buNone/>
            </a:pPr>
            <a:r>
              <a:rPr lang="en-US" sz="1400" b="1" dirty="0">
                <a:solidFill>
                  <a:schemeClr val="bg1"/>
                </a:solidFill>
              </a:rPr>
              <a:t>공정</a:t>
            </a:r>
            <a:endParaRPr lang="en-US" sz="1400" dirty="0"/>
          </a:p>
        </p:txBody>
      </p:sp>
      <p:sp>
        <p:nvSpPr>
          <p:cNvPr id="14" name="role 4 circle"/>
          <p:cNvSpPr/>
          <p:nvPr/>
        </p:nvSpPr>
        <p:spPr>
          <a:xfrm>
            <a:off x="4343400" y="2743200"/>
            <a:ext cx="685800" cy="685800"/>
          </a:xfrm>
          <a:prstGeom prst="ellipse">
            <a:avLst/>
          </a:prstGeom>
          <a:solidFill>
            <a:schemeClr val="accent2"/>
          </a:solidFill>
          <a:ln/>
        </p:spPr>
      </p:sp>
      <p:pic>
        <p:nvPicPr>
          <p:cNvPr id="15" name="role 4 icon" descr="role 4">    </p:cNvPr>
          <p:cNvPicPr>
            <a:picLocks noChangeAspect="1"/>
          </p:cNvPicPr>
          <p:nvPr/>
        </p:nvPicPr>
        <p:blipFill>
          <a:blip r:embed="rId4"/>
          <a:stretch>
            <a:fillRect/>
          </a:stretch>
        </p:blipFill>
        <p:spPr>
          <a:xfrm>
            <a:off x="4514850" y="2914650"/>
            <a:ext cx="342900" cy="342900"/>
          </a:xfrm>
          <a:prstGeom prst="rect">
            <a:avLst/>
          </a:prstGeom>
        </p:spPr>
      </p:pic>
      <p:sp>
        <p:nvSpPr>
          <p:cNvPr id="16" name="role label 4"/>
          <p:cNvSpPr txBox="1"/>
          <p:nvPr/>
        </p:nvSpPr>
        <p:spPr>
          <a:xfrm>
            <a:off x="4160520" y="3520440"/>
            <a:ext cx="1051560" cy="320040"/>
          </a:xfrm>
          <a:prstGeom prst="rect">
            <a:avLst/>
          </a:prstGeom>
          <a:noFill/>
          <a:ln/>
        </p:spPr>
        <p:txBody>
          <a:bodyPr wrap="square" lIns="0" tIns="0" rIns="0" bIns="0" rtlCol="0" anchor="ctr"/>
          <a:lstStyle/>
          <a:p>
            <a:pPr algn="ctr" indent="0" marL="0">
              <a:buNone/>
            </a:pPr>
            <a:r>
              <a:rPr lang="en-US" sz="1400" b="1" dirty="0">
                <a:solidFill>
                  <a:schemeClr val="bg1"/>
                </a:solidFill>
              </a:rPr>
              <a:t>관전</a:t>
            </a:r>
            <a:endParaRPr lang="en-US" sz="1400" dirty="0"/>
          </a:p>
        </p:txBody>
      </p:sp>
      <p:sp>
        <p:nvSpPr>
          <p:cNvPr id="17" name="my opinion card"/>
          <p:cNvSpPr/>
          <p:nvPr/>
        </p:nvSpPr>
        <p:spPr>
          <a:xfrm>
            <a:off x="5486400" y="2697480"/>
            <a:ext cx="3200400" cy="1737360"/>
          </a:xfrm>
          <a:prstGeom prst="roundRect">
            <a:avLst>
              <a:gd name="adj" fmla="val 6316"/>
            </a:avLst>
          </a:prstGeom>
          <a:solidFill>
            <a:schemeClr val="tx2"/>
          </a:solidFill>
          <a:ln w="12700">
            <a:solidFill>
              <a:schemeClr val="accent6"/>
            </a:solidFill>
            <a:prstDash val="solid"/>
          </a:ln>
        </p:spPr>
      </p:sp>
      <p:sp>
        <p:nvSpPr>
          <p:cNvPr id="18" name="my opinion text"/>
          <p:cNvSpPr txBox="1"/>
          <p:nvPr/>
        </p:nvSpPr>
        <p:spPr>
          <a:xfrm>
            <a:off x="5669280" y="2834640"/>
            <a:ext cx="2880360" cy="1508760"/>
          </a:xfrm>
          <a:prstGeom prst="rect">
            <a:avLst/>
          </a:prstGeom>
          <a:noFill/>
          <a:ln/>
        </p:spPr>
        <p:txBody>
          <a:bodyPr wrap="square" lIns="0" tIns="0" rIns="0" bIns="0" rtlCol="0" anchor="t"/>
          <a:lstStyle/>
          <a:p>
            <a:pPr indent="0" marL="0">
              <a:spcAft>
                <a:spcPts val="600"/>
              </a:spcAft>
              <a:buNone/>
            </a:pPr>
            <a:r>
              <a:rPr lang="en-US" sz="1500" b="1" dirty="0">
                <a:solidFill>
                  <a:schemeClr val="accent4"/>
                </a:solidFill>
              </a:rPr>
              <a:t>나의 생각</a:t>
            </a:r>
            <a:endParaRPr lang="en-US" sz="1300" dirty="0"/>
          </a:p>
          <a:p>
            <a:pPr marL="342900" indent="-342900">
              <a:spcAft>
                <a:spcPts val="600"/>
              </a:spcAft>
              <a:buSzPct val="100000"/>
              <a:buChar char="•"/>
            </a:pPr>
            <a:r>
              <a:rPr lang="en-US" sz="1300" dirty="0">
                <a:solidFill>
                  <a:schemeClr val="bg1"/>
                </a:solidFill>
              </a:rPr>
              <a:t>최종 판단과 창의적인 플레이는 사람의 몫</a:t>
            </a:r>
            <a:endParaRPr lang="en-US" sz="1300" dirty="0"/>
          </a:p>
          <a:p>
            <a:pPr marL="342900" indent="-342900">
              <a:spcAft>
                <a:spcPts val="600"/>
              </a:spcAft>
              <a:buSzPct val="100000"/>
              <a:buChar char="•"/>
            </a:pPr>
            <a:r>
              <a:rPr lang="en-US" sz="1300" dirty="0">
                <a:solidFill>
                  <a:schemeClr val="bg1"/>
                </a:solidFill>
              </a:rPr>
              <a:t>AI 사용에 대한 공정한 규칙이 꼭 필요</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참고 자료</a:t>
            </a:r>
            <a:endParaRPr lang="en-US" sz="3000" dirty="0"/>
          </a:p>
        </p:txBody>
      </p:sp>
      <p:sp>
        <p:nvSpPr>
          <p:cNvPr id="3" name="reference list"/>
          <p:cNvSpPr txBox="1"/>
          <p:nvPr/>
        </p:nvSpPr>
        <p:spPr>
          <a:xfrm>
            <a:off x="457200" y="1143000"/>
            <a:ext cx="5120640" cy="329184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chemeClr val="bg2"/>
                </a:solidFill>
              </a:rPr>
              <a:t>Vinyals, O. 외 (2019). Grandmaster level in StarCraft II using multi-agent reinforcement learning. Nature, 575.</a:t>
            </a:r>
            <a:endParaRPr lang="en-US" sz="1100" dirty="0"/>
          </a:p>
          <a:p>
            <a:pPr marL="342900" indent="-342900">
              <a:spcAft>
                <a:spcPts val="800"/>
              </a:spcAft>
              <a:buSzPct val="100000"/>
              <a:buChar char="•"/>
            </a:pPr>
            <a:r>
              <a:rPr lang="en-US" sz="1100" dirty="0">
                <a:solidFill>
                  <a:schemeClr val="bg2"/>
                </a:solidFill>
              </a:rPr>
              <a:t>OpenAI (2019). OpenAI Five 및 OpenAI Five Arena 결과 발표 / Engadget 보도 (2019. 4. 23.)</a:t>
            </a:r>
            <a:endParaRPr lang="en-US" sz="1100" dirty="0"/>
          </a:p>
          <a:p>
            <a:pPr marL="342900" indent="-342900">
              <a:spcAft>
                <a:spcPts val="800"/>
              </a:spcAft>
              <a:buSzPct val="100000"/>
              <a:buChar char="•"/>
            </a:pPr>
            <a:r>
              <a:rPr lang="en-US" sz="1100" dirty="0">
                <a:solidFill>
                  <a:schemeClr val="bg2"/>
                </a:solidFill>
              </a:rPr>
              <a:t>Valve (2018). GDC 발표 "Robocalypse Now: Using Deep Learning to Combat Cheating in CS:GO"</a:t>
            </a:r>
            <a:endParaRPr lang="en-US" sz="1100" dirty="0"/>
          </a:p>
          <a:p>
            <a:pPr marL="342900" indent="-342900">
              <a:spcAft>
                <a:spcPts val="800"/>
              </a:spcAft>
              <a:buSzPct val="100000"/>
              <a:buChar char="•"/>
            </a:pPr>
            <a:r>
              <a:rPr lang="en-US" sz="1100" dirty="0">
                <a:solidFill>
                  <a:schemeClr val="bg2"/>
                </a:solidFill>
              </a:rPr>
              <a:t>2022 항저우 아시안게임 e스포츠 종목 관련 언론 보도 (2023)</a:t>
            </a:r>
            <a:endParaRPr lang="en-US" sz="1100" dirty="0"/>
          </a:p>
          <a:p>
            <a:pPr marL="342900" indent="-342900">
              <a:spcAft>
                <a:spcPts val="800"/>
              </a:spcAft>
              <a:buSzPct val="100000"/>
              <a:buChar char="•"/>
            </a:pPr>
            <a:r>
              <a:rPr lang="en-US" sz="1100" dirty="0">
                <a:solidFill>
                  <a:schemeClr val="bg2"/>
                </a:solidFill>
              </a:rPr>
              <a:t>Google DeepMind, AlphaGo 대국 기록 (2016)</a:t>
            </a:r>
            <a:endParaRPr lang="en-US" sz="1100" dirty="0"/>
          </a:p>
        </p:txBody>
      </p:sp>
      <p:sp>
        <p:nvSpPr>
          <p:cNvPr id="4" name="thanks card"/>
          <p:cNvSpPr/>
          <p:nvPr/>
        </p:nvSpPr>
        <p:spPr>
          <a:xfrm>
            <a:off x="5852160" y="1143000"/>
            <a:ext cx="2834640" cy="3291840"/>
          </a:xfrm>
          <a:prstGeom prst="roundRect">
            <a:avLst>
              <a:gd name="adj" fmla="val 3871"/>
            </a:avLst>
          </a:prstGeom>
          <a:solidFill>
            <a:schemeClr val="tx2"/>
          </a:solidFill>
          <a:ln w="12700">
            <a:solidFill>
              <a:schemeClr val="accent6"/>
            </a:solidFill>
            <a:prstDash val="solid"/>
          </a:ln>
        </p:spPr>
      </p:sp>
      <p:sp>
        <p:nvSpPr>
          <p:cNvPr id="5" name="thanks circle"/>
          <p:cNvSpPr/>
          <p:nvPr/>
        </p:nvSpPr>
        <p:spPr>
          <a:xfrm>
            <a:off x="6812280" y="1463040"/>
            <a:ext cx="914400" cy="914400"/>
          </a:xfrm>
          <a:prstGeom prst="ellipse">
            <a:avLst/>
          </a:prstGeom>
          <a:solidFill>
            <a:schemeClr val="accent1"/>
          </a:solidFill>
          <a:ln/>
        </p:spPr>
      </p:sp>
      <p:pic>
        <p:nvPicPr>
          <p:cNvPr id="6" name="thanks icon" descr="thanks">    </p:cNvPr>
          <p:cNvPicPr>
            <a:picLocks noChangeAspect="1"/>
          </p:cNvPicPr>
          <p:nvPr/>
        </p:nvPicPr>
        <p:blipFill>
          <a:blip r:embed="rId1"/>
          <a:stretch>
            <a:fillRect/>
          </a:stretch>
        </p:blipFill>
        <p:spPr>
          <a:xfrm>
            <a:off x="7040880" y="1691640"/>
            <a:ext cx="457200" cy="457200"/>
          </a:xfrm>
          <a:prstGeom prst="rect">
            <a:avLst/>
          </a:prstGeom>
        </p:spPr>
      </p:pic>
      <p:sp>
        <p:nvSpPr>
          <p:cNvPr id="7" name="thanks text"/>
          <p:cNvSpPr txBox="1"/>
          <p:nvPr/>
        </p:nvSpPr>
        <p:spPr>
          <a:xfrm>
            <a:off x="5943600" y="2560320"/>
            <a:ext cx="2651760" cy="548640"/>
          </a:xfrm>
          <a:prstGeom prst="rect">
            <a:avLst/>
          </a:prstGeom>
          <a:noFill/>
          <a:ln/>
        </p:spPr>
        <p:txBody>
          <a:bodyPr wrap="square" lIns="0" tIns="0" rIns="0" bIns="0" rtlCol="0" anchor="ctr"/>
          <a:lstStyle/>
          <a:p>
            <a:pPr algn="ctr" indent="0" marL="0">
              <a:buNone/>
            </a:pPr>
            <a:r>
              <a:rPr lang="en-US" sz="2600" b="1" dirty="0">
                <a:solidFill>
                  <a:schemeClr val="bg1"/>
                </a:solidFill>
              </a:rPr>
              <a:t>감사합니다</a:t>
            </a:r>
            <a:endParaRPr lang="en-US" sz="2600" dirty="0"/>
          </a:p>
        </p:txBody>
      </p:sp>
      <p:sp>
        <p:nvSpPr>
          <p:cNvPr id="8" name="qna text"/>
          <p:cNvSpPr txBox="1"/>
          <p:nvPr/>
        </p:nvSpPr>
        <p:spPr>
          <a:xfrm>
            <a:off x="5943600" y="3154680"/>
            <a:ext cx="2651760" cy="365760"/>
          </a:xfrm>
          <a:prstGeom prst="rect">
            <a:avLst/>
          </a:prstGeom>
          <a:noFill/>
          <a:ln/>
        </p:spPr>
        <p:txBody>
          <a:bodyPr wrap="square" lIns="0" tIns="0" rIns="0" bIns="0" rtlCol="0" anchor="ctr"/>
          <a:lstStyle/>
          <a:p>
            <a:pPr algn="ctr" indent="0" marL="0">
              <a:buNone/>
            </a:pPr>
            <a:r>
              <a:rPr lang="en-US" sz="1500" dirty="0">
                <a:solidFill>
                  <a:schemeClr val="accent1"/>
                </a:solidFill>
              </a:rPr>
              <a:t>질문을 받겠습니다</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Neon Arena">
  <a:themeElements>
    <a:clrScheme name="Neon Arena">
      <a:dk1>
        <a:srgbClr val="0C0A1D"/>
      </a:dk1>
      <a:lt1>
        <a:srgbClr val="FFFFFF"/>
      </a:lt1>
      <a:dk2>
        <a:srgbClr val="1C1938"/>
      </a:dk2>
      <a:lt2>
        <a:srgbClr val="A9A6CF"/>
      </a:lt2>
      <a:accent1>
        <a:srgbClr val="00E5FF"/>
      </a:accent1>
      <a:accent2>
        <a:srgbClr val="FF2E88"/>
      </a:accent2>
      <a:accent3>
        <a:srgbClr val="8B5CF6"/>
      </a:accent3>
      <a:accent4>
        <a:srgbClr val="FFC83D"/>
      </a:accent4>
      <a:accent5>
        <a:srgbClr val="2EE59D"/>
      </a:accent5>
      <a:accent6>
        <a:srgbClr val="34305E"/>
      </a:accent6>
      <a:hlink>
        <a:srgbClr val="00E5FF"/>
      </a:hlink>
      <a:folHlink>
        <a:srgbClr val="8B5CF6"/>
      </a:folHlink>
    </a:clrScheme>
    <a:fontScheme name="Neon Arena">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E스포츠 × AI</dc:title>
  <dc:subject>2학년 체육2 프로젝트 발표</dc:subject>
  <dc:creator>PptxGenJS</dc:creator>
  <cp:lastModifiedBy>PptxGenJS</cp:lastModifiedBy>
  <cp:revision>1</cp:revision>
  <dcterms:created xsi:type="dcterms:W3CDTF">2026-10-11T23:56:40Z</dcterms:created>
  <dcterms:modified xsi:type="dcterms:W3CDTF">2026-10-11T23:56:40Z</dcterms:modified>
</cp:coreProperties>
</file>